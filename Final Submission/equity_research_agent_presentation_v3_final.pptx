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09c9e767c9432a" /><Relationship Type="http://schemas.openxmlformats.org/officeDocument/2006/relationships/extended-properties" Target="/docProps/app.xml" Id="R5a547abaf85742a2" /><Relationship Type="http://schemas.openxmlformats.org/officeDocument/2006/relationships/officeDocument" Target="/ppt/presentation.xml" Id="Re42f537854ee4587" /></Relationships>
</file>

<file path=ppt/presentation.xml><?xml version="1.0" encoding="utf-8"?>
<p:presentation xmlns:p="http://schemas.openxmlformats.org/presentationml/2006/main">
  <p:sldMasterIdLst>
    <p:sldMasterId xmlns:r="http://schemas.openxmlformats.org/officeDocument/2006/relationships" id="2147483648" r:id="Re4f418df3573444d"/>
  </p:sldMasterIdLst>
  <p:notesMasterIdLst>
    <p:notesMasterId xmlns:r="http://schemas.openxmlformats.org/officeDocument/2006/relationships" r:id="Rca836519095d4a5c"/>
  </p:notesMasterIdLst>
  <p:sldIdLst>
    <p:sldId xmlns:r="http://schemas.openxmlformats.org/officeDocument/2006/relationships" id="256" r:id="R71a8a2602cd94df9"/>
    <p:sldId xmlns:r="http://schemas.openxmlformats.org/officeDocument/2006/relationships" id="257" r:id="Re963fcca8b714df4"/>
    <p:sldId xmlns:r="http://schemas.openxmlformats.org/officeDocument/2006/relationships" id="258" r:id="R17d2c7a2802d4bbf"/>
    <p:sldId xmlns:r="http://schemas.openxmlformats.org/officeDocument/2006/relationships" id="259" r:id="Rfd11189ebcec415d"/>
    <p:sldId xmlns:r="http://schemas.openxmlformats.org/officeDocument/2006/relationships" id="260" r:id="R2e3856e179eb4f2b"/>
    <p:sldId xmlns:r="http://schemas.openxmlformats.org/officeDocument/2006/relationships" id="261" r:id="R530291eb71c24ce2"/>
    <p:sldId xmlns:r="http://schemas.openxmlformats.org/officeDocument/2006/relationships" id="262" r:id="Rba11e20a059748f7"/>
    <p:sldId xmlns:r="http://schemas.openxmlformats.org/officeDocument/2006/relationships" id="263" r:id="R1a8c18f0a9c245b8"/>
    <p:sldId xmlns:r="http://schemas.openxmlformats.org/officeDocument/2006/relationships" id="264" r:id="R084b7196e57c4942"/>
    <p:sldId xmlns:r="http://schemas.openxmlformats.org/officeDocument/2006/relationships" id="265" r:id="R295c1f119512491e"/>
    <p:sldId xmlns:r="http://schemas.openxmlformats.org/officeDocument/2006/relationships" id="266" r:id="Rbbf15b04fc26434f"/>
    <p:sldId xmlns:r="http://schemas.openxmlformats.org/officeDocument/2006/relationships" id="267" r:id="R2c9e624dc122474f"/>
    <p:sldId xmlns:r="http://schemas.openxmlformats.org/officeDocument/2006/relationships" id="268" r:id="R181d166d20f848d5"/>
    <p:sldId xmlns:r="http://schemas.openxmlformats.org/officeDocument/2006/relationships" id="269" r:id="Rfcedc33aaae54555"/>
    <p:sldId xmlns:r="http://schemas.openxmlformats.org/officeDocument/2006/relationships" id="270" r:id="R44c1f84c641145e5"/>
    <p:sldId xmlns:r="http://schemas.openxmlformats.org/officeDocument/2006/relationships" id="271" r:id="R73108b98ee124d54"/>
    <p:sldId xmlns:r="http://schemas.openxmlformats.org/officeDocument/2006/relationships" id="272" r:id="Ra75981c183004666"/>
    <p:sldId xmlns:r="http://schemas.openxmlformats.org/officeDocument/2006/relationships" id="273" r:id="R137f504090194684"/>
    <p:sldId xmlns:r="http://schemas.openxmlformats.org/officeDocument/2006/relationships" id="274" r:id="Rff826e6b68fd4575"/>
    <p:sldId xmlns:r="http://schemas.openxmlformats.org/officeDocument/2006/relationships" id="275" r:id="R20c05646e0074c69"/>
    <p:sldId xmlns:r="http://schemas.openxmlformats.org/officeDocument/2006/relationships" id="276" r:id="Rc7c2e491a74048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98b5ed4527498a" /><Relationship Type="http://schemas.openxmlformats.org/officeDocument/2006/relationships/slideMaster" Target="/ppt/slideMasters/slideMaster1.xml" Id="Re4f418df3573444d" /><Relationship Type="http://schemas.openxmlformats.org/officeDocument/2006/relationships/notesMaster" Target="/ppt/notesMasters/notesMaster1.xml" Id="Rca836519095d4a5c" /><Relationship Type="http://schemas.openxmlformats.org/officeDocument/2006/relationships/presProps" Target="/ppt/presProps.xml" Id="R42266c60a6904863" /><Relationship Type="http://schemas.openxmlformats.org/officeDocument/2006/relationships/tableStyles" Target="/ppt/tableStyles.xml" Id="Rd26eca3bd1064319" /><Relationship Type="http://schemas.openxmlformats.org/officeDocument/2006/relationships/slide" Target="/ppt/slides/slide1.xml" Id="R71a8a2602cd94df9" /><Relationship Type="http://schemas.openxmlformats.org/officeDocument/2006/relationships/slide" Target="/ppt/slides/slide2.xml" Id="Re963fcca8b714df4" /><Relationship Type="http://schemas.openxmlformats.org/officeDocument/2006/relationships/slide" Target="/ppt/slides/slide3.xml" Id="R17d2c7a2802d4bbf" /><Relationship Type="http://schemas.openxmlformats.org/officeDocument/2006/relationships/slide" Target="/ppt/slides/slide4.xml" Id="Rfd11189ebcec415d" /><Relationship Type="http://schemas.openxmlformats.org/officeDocument/2006/relationships/slide" Target="/ppt/slides/slide5.xml" Id="R2e3856e179eb4f2b" /><Relationship Type="http://schemas.openxmlformats.org/officeDocument/2006/relationships/slide" Target="/ppt/slides/slide6.xml" Id="R530291eb71c24ce2" /><Relationship Type="http://schemas.openxmlformats.org/officeDocument/2006/relationships/slide" Target="/ppt/slides/slide7.xml" Id="Rba11e20a059748f7" /><Relationship Type="http://schemas.openxmlformats.org/officeDocument/2006/relationships/slide" Target="/ppt/slides/slide8.xml" Id="R1a8c18f0a9c245b8" /><Relationship Type="http://schemas.openxmlformats.org/officeDocument/2006/relationships/slide" Target="/ppt/slides/slide9.xml" Id="R084b7196e57c4942" /><Relationship Type="http://schemas.openxmlformats.org/officeDocument/2006/relationships/slide" Target="/ppt/slides/slide10.xml" Id="R295c1f119512491e" /><Relationship Type="http://schemas.openxmlformats.org/officeDocument/2006/relationships/slide" Target="/ppt/slides/slide11.xml" Id="Rbbf15b04fc26434f" /><Relationship Type="http://schemas.openxmlformats.org/officeDocument/2006/relationships/slide" Target="/ppt/slides/slide12.xml" Id="R2c9e624dc122474f" /><Relationship Type="http://schemas.openxmlformats.org/officeDocument/2006/relationships/slide" Target="/ppt/slides/slide13.xml" Id="R181d166d20f848d5" /><Relationship Type="http://schemas.openxmlformats.org/officeDocument/2006/relationships/slide" Target="/ppt/slides/slide14.xml" Id="Rfcedc33aaae54555" /><Relationship Type="http://schemas.openxmlformats.org/officeDocument/2006/relationships/slide" Target="/ppt/slides/slide15.xml" Id="R44c1f84c641145e5" /><Relationship Type="http://schemas.openxmlformats.org/officeDocument/2006/relationships/slide" Target="/ppt/slides/slide16.xml" Id="R73108b98ee124d54" /><Relationship Type="http://schemas.openxmlformats.org/officeDocument/2006/relationships/slide" Target="/ppt/slides/slide17.xml" Id="Ra75981c183004666" /><Relationship Type="http://schemas.openxmlformats.org/officeDocument/2006/relationships/slide" Target="/ppt/slides/slide18.xml" Id="R137f504090194684" /><Relationship Type="http://schemas.openxmlformats.org/officeDocument/2006/relationships/slide" Target="/ppt/slides/slide19.xml" Id="Rff826e6b68fd4575" /><Relationship Type="http://schemas.openxmlformats.org/officeDocument/2006/relationships/slide" Target="/ppt/slides/slide20.xml" Id="R20c05646e0074c69" /><Relationship Type="http://schemas.openxmlformats.org/officeDocument/2006/relationships/slide" Target="/ppt/slides/slide21.xml" Id="Rc7c2e491a74048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a248e6c0354e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afcc849d224b3f" /><Relationship Type="http://schemas.openxmlformats.org/officeDocument/2006/relationships/notesMaster" Target="/ppt/notesMasters/notesMaster1.xml" Id="Ra8d3c56f91cc4e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a4def3490e457c" /><Relationship Type="http://schemas.openxmlformats.org/officeDocument/2006/relationships/notesMaster" Target="/ppt/notesMasters/notesMaster1.xml" Id="R762e4edf5b5a48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6cec2a7a6e47e2" /><Relationship Type="http://schemas.openxmlformats.org/officeDocument/2006/relationships/notesMaster" Target="/ppt/notesMasters/notesMaster1.xml" Id="R887f7de3404f45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9ad8e048844827" /><Relationship Type="http://schemas.openxmlformats.org/officeDocument/2006/relationships/notesMaster" Target="/ppt/notesMasters/notesMaster1.xml" Id="Rdce74c2e28bc4b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e1ec6029fb4a3f" /><Relationship Type="http://schemas.openxmlformats.org/officeDocument/2006/relationships/notesMaster" Target="/ppt/notesMasters/notesMaster1.xml" Id="R8f72f4d186184b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54542843454f6d" /><Relationship Type="http://schemas.openxmlformats.org/officeDocument/2006/relationships/notesMaster" Target="/ppt/notesMasters/notesMaster1.xml" Id="R066d60f3b8f54a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9426867f184e43" /><Relationship Type="http://schemas.openxmlformats.org/officeDocument/2006/relationships/notesMaster" Target="/ppt/notesMasters/notesMaster1.xml" Id="R76a0361aecf04d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a66f11abbf4330" /><Relationship Type="http://schemas.openxmlformats.org/officeDocument/2006/relationships/notesMaster" Target="/ppt/notesMasters/notesMaster1.xml" Id="R28123ff7250e43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965d8bd9c24f4a" /><Relationship Type="http://schemas.openxmlformats.org/officeDocument/2006/relationships/notesMaster" Target="/ppt/notesMasters/notesMaster1.xml" Id="Rb0c10b99f82d4b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bcb809f9144da1" /><Relationship Type="http://schemas.openxmlformats.org/officeDocument/2006/relationships/notesMaster" Target="/ppt/notesMasters/notesMaster1.xml" Id="Rc6c48564cb0b42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720e896fe54ee5" /><Relationship Type="http://schemas.openxmlformats.org/officeDocument/2006/relationships/notesMaster" Target="/ppt/notesMasters/notesMaster1.xml" Id="Rcf7dbce09c5743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3762c90e694c71" /><Relationship Type="http://schemas.openxmlformats.org/officeDocument/2006/relationships/notesMaster" Target="/ppt/notesMasters/notesMaster1.xml" Id="Rf1f9615a17574a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7465c6d2c54021" /><Relationship Type="http://schemas.openxmlformats.org/officeDocument/2006/relationships/notesMaster" Target="/ppt/notesMasters/notesMaster1.xml" Id="R9c33d908b7ad41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4718efc4044c14" /><Relationship Type="http://schemas.openxmlformats.org/officeDocument/2006/relationships/notesMaster" Target="/ppt/notesMasters/notesMaster1.xml" Id="R4b5d3576edc147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45532a5dfb408d" /><Relationship Type="http://schemas.openxmlformats.org/officeDocument/2006/relationships/notesMaster" Target="/ppt/notesMasters/notesMaster1.xml" Id="Rdf3c3ac282d74f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5c0d7d34d84826" /><Relationship Type="http://schemas.openxmlformats.org/officeDocument/2006/relationships/notesMaster" Target="/ppt/notesMasters/notesMaster1.xml" Id="Raf2bcf39da3a41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228dd876904600" /><Relationship Type="http://schemas.openxmlformats.org/officeDocument/2006/relationships/notesMaster" Target="/ppt/notesMasters/notesMaster1.xml" Id="R4ca1b47504a04a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4075e715e474cc9" /><Relationship Type="http://schemas.openxmlformats.org/officeDocument/2006/relationships/notesMaster" Target="/ppt/notesMasters/notesMaster1.xml" Id="R7d014e4f6a6145b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d36e3972ec84747" /><Relationship Type="http://schemas.openxmlformats.org/officeDocument/2006/relationships/notesMaster" Target="/ppt/notesMasters/notesMaster1.xml" Id="R1dd9ecc960c34d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4eccd7a3844b5c" /><Relationship Type="http://schemas.openxmlformats.org/officeDocument/2006/relationships/notesMaster" Target="/ppt/notesMasters/notesMaster1.xml" Id="Red1a280608a24af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ed14eac2354070" /><Relationship Type="http://schemas.openxmlformats.org/officeDocument/2006/relationships/notesMaster" Target="/ppt/notesMasters/notesMaster1.xml" Id="R4b508e0467ec45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the current system. It covers the problem, architecture, evidence flow, evaluation, observability, and human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document access. The problem is producing a balanced explanation while preserving evidence, periods, and uncertainty.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is the final product, but the release route is also part of the result. The system may publish, repair a gap, pause for review, or withhold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LangChain supplies model bindings, messages, tools, structured outputs, embeddings, splitters, and the Chroma integration. LangSmith supplies optional tracing.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high-level flow has eight stages. The public LangGraph contains twelve nodes because source setup, tools, human review, and finalization remain explicit 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expensive model or provider work should proceed until the request passes the input guard and the analysis window is 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 2 owns document ingestion and Chroma writes. Node 5 owns tool execution, and only its gather_text function reads filing and transcript passages from Chroma. Node 4 selects the next planned task and requests the mapped function. The five functions are an allow-list, not a list of research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Analyst and Critic use model judgment. Citation gates, score thresholds, depth limits, ranking, and topic controls are deterministic.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boxes use one color so the numbered arrows carry the flow. Route 2 publishes through Node 12. Route 3 returns to the Researcher for a bounded repair and then rechecks Node 10. Route 4 pauses at Node 11. A human block withholds the report and finalization cannot override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Editor is primarily deterministic. It copies validated evidence, metrics, and surviving branches into the report schema. The optional model contribution is limited to citation-free confidence wording.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record reflects the local NVDA Chroma collection inspected for this presentation. RAG handles narrative evidence. Metadata filters prevent retrieval from the wrong company, document type, or period. Retrieved text remains untrusted evidence, never an instruction. Exact statement values follow the market-data and deterministic-calculation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vector database currently provides source-document reuse. It does not provide exact final-answer reuse. Keeping these caches separate gives each one a clear freshness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suspicion score of 25 came from one medium-severity narrow-support-gap signal. It does not mean the report is 25 percent wrong. The configured automatic review threshold was 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values demonstrate the application's charting and calculation path. They describe the captured provider response and do not update NVIDIA's current financial 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score belongs to a single thesis. Confidence belongs to the whole report. Suspicion belongs to the workflow and release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RAG triad contains faithfulness, answer relevance, and retrieval relevance. Retrieval relevance cannot be interpreted when the evaluation fixture does not include explicit retrieved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groundedness fixture scored 1.00, while the hallucinated fixture scored 0.00. These results validate direction and wiring only because the samples are small and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an explanatory LangSmith-style trace view. It shows the information the integration records when tracing is enabled, not a screenshot from a production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Routine reports that pass all release checks do not require review. The entry arrow shows the pause. The three numbered branch arrows show the reviewer's alternatives. Allow continues to finalization, revise returns to targeted research and then the quality gate, and block withholds the report. The review decision and note become part of the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priority order is report caching, larger evaluation, model latency, and reviewer navigation. Safety and source quality remain constraints on every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boundary. The system supports research decisions with evidence and controls. The user remains responsible for investment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a219e179244e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fb3b8fa8bd47a7" /><Relationship Type="http://schemas.openxmlformats.org/officeDocument/2006/relationships/slideLayout" Target="/ppt/slideLayouts/slideLayout1.xml" Id="Rd21d42ffc2d24b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1d42ffc2d24b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1080ca064b493f" /><Relationship Type="http://schemas.openxmlformats.org/officeDocument/2006/relationships/notesSlide" Target="/ppt/notesSlides/notesSlide1.xml" Id="R35a4ef14bc174a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a729e93b5243b1" /><Relationship Type="http://schemas.openxmlformats.org/officeDocument/2006/relationships/notesSlide" Target="/ppt/notesSlides/notesSlide2.xml" Id="R43e4ca187850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b136bc337a4723" /><Relationship Type="http://schemas.openxmlformats.org/officeDocument/2006/relationships/notesSlide" Target="/ppt/notesSlides/notesSlide3.xml" Id="Re6a32ffff9374f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47cc87a1214339" /><Relationship Type="http://schemas.openxmlformats.org/officeDocument/2006/relationships/notesSlide" Target="/ppt/notesSlides/notesSlide4.xml" Id="R48915f73b52f40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edf4618b7c44a3" /><Relationship Type="http://schemas.openxmlformats.org/officeDocument/2006/relationships/notesSlide" Target="/ppt/notesSlides/notesSlide5.xml" Id="R9fe5dd683ca047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9f0f3243b64457" /><Relationship Type="http://schemas.openxmlformats.org/officeDocument/2006/relationships/notesSlide" Target="/ppt/notesSlides/notesSlide6.xml" Id="R679eef50b9a845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299cb159c34a2d" /><Relationship Type="http://schemas.openxmlformats.org/officeDocument/2006/relationships/notesSlide" Target="/ppt/notesSlides/notesSlide7.xml" Id="Rc523f771671d4e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53375fc6a90453a" /><Relationship Type="http://schemas.openxmlformats.org/officeDocument/2006/relationships/notesSlide" Target="/ppt/notesSlides/notesSlide8.xml" Id="Rf6c1030933a948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d400a2f6314389" /><Relationship Type="http://schemas.openxmlformats.org/officeDocument/2006/relationships/notesSlide" Target="/ppt/notesSlides/notesSlide9.xml" Id="R6f2d6c55f4944c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452c436d26648c6" /><Relationship Type="http://schemas.openxmlformats.org/officeDocument/2006/relationships/notesSlide" Target="/ppt/notesSlides/notesSlide10.xml" Id="R41f59e31aacf42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cce24008384a8f" /><Relationship Type="http://schemas.openxmlformats.org/officeDocument/2006/relationships/notesSlide" Target="/ppt/notesSlides/notesSlide11.xml" Id="R2e47b902a0e142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94636c11a24771" /><Relationship Type="http://schemas.openxmlformats.org/officeDocument/2006/relationships/notesSlide" Target="/ppt/notesSlides/notesSlide12.xml" Id="R05cff555a151431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700c3dd35f4b52" /><Relationship Type="http://schemas.openxmlformats.org/officeDocument/2006/relationships/notesSlide" Target="/ppt/notesSlides/notesSlide13.xml" Id="Rf56b6c01818841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e95acf38b242b8" /><Relationship Type="http://schemas.openxmlformats.org/officeDocument/2006/relationships/chart" Target="/ppt/slides/charts/chart1.xml" Id="R1b637384fcaa4646" /><Relationship Type="http://schemas.openxmlformats.org/officeDocument/2006/relationships/chart" Target="/ppt/slides/charts/chart2.xml" Id="Rb5b2ffe6ca0445b2" /><Relationship Type="http://schemas.openxmlformats.org/officeDocument/2006/relationships/notesSlide" Target="/ppt/notesSlides/notesSlide14.xml" Id="R1283fa991d85496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774144ab794f02" /><Relationship Type="http://schemas.openxmlformats.org/officeDocument/2006/relationships/notesSlide" Target="/ppt/notesSlides/notesSlide15.xml" Id="R585861ec83ec46a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3645e997bd94d6f" /><Relationship Type="http://schemas.openxmlformats.org/officeDocument/2006/relationships/notesSlide" Target="/ppt/notesSlides/notesSlide16.xml" Id="Re9e8b69fd9884f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6900aebdaf24fc5" /><Relationship Type="http://schemas.openxmlformats.org/officeDocument/2006/relationships/chart" Target="/ppt/slides/charts/chart3.xml" Id="R7fc565a569d44a71" /><Relationship Type="http://schemas.openxmlformats.org/officeDocument/2006/relationships/notesSlide" Target="/ppt/notesSlides/notesSlide17.xml" Id="R3c12836ba50e48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e381b0e28954c0c" /><Relationship Type="http://schemas.openxmlformats.org/officeDocument/2006/relationships/notesSlide" Target="/ppt/notesSlides/notesSlide18.xml" Id="Rf3d33773c2f24ee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410d378fdd6463d" /><Relationship Type="http://schemas.openxmlformats.org/officeDocument/2006/relationships/notesSlide" Target="/ppt/notesSlides/notesSlide19.xml" Id="Rec1b9cfb48ef4a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c05297a5bc64a7d" /><Relationship Type="http://schemas.openxmlformats.org/officeDocument/2006/relationships/notesSlide" Target="/ppt/notesSlides/notesSlide20.xml" Id="R5c858552ab4d4dd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242c0a7c7db4c8d" /><Relationship Type="http://schemas.openxmlformats.org/officeDocument/2006/relationships/notesSlide" Target="/ppt/notesSlides/notesSlide21.xml" Id="R507063def8504c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Quarterly revenue in the captured run, billions of dollars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Revenue</c:v>
          </c:tx>
          <c:spPr>
            <a:solidFill xmlns:a="http://schemas.openxmlformats.org/drawingml/2006/main">
              <a:srgbClr val="3976B9"/>
            </a:solidFill>
          </c:spPr>
          <c:cat>
            <c:strRef>
              <c:f>'Chart Data'!$A$2:$A$5</c:f>
              <c:strCache>
                <c:ptCount val="4"/>
                <c:pt idx="0">
                  <c:v>Oct 2025</c:v>
                </c:pt>
                <c:pt idx="1">
                  <c:v>Jan 2026</c:v>
                </c:pt>
                <c:pt idx="2">
                  <c:v>Apr 2026</c:v>
                </c:pt>
                <c:pt idx="3">
                  <c:v>Jul 2026</c:v>
                </c:pt>
              </c:strCache>
            </c:strRef>
          </c:cat>
          <c:val>
            <c:numRef>
              <c:f>'Chart Data'!$B$2:$B$5</c:f>
              <c:numCache>
                <c:formatCode>$0"B"</c:formatCode>
                <c:ptCount val="4"/>
                <c:pt idx="0">
                  <c:v>57.006</c:v>
                </c:pt>
                <c:pt idx="1">
                  <c:v>68.127</c:v>
                </c:pt>
                <c:pt idx="2">
                  <c:v>81.615</c:v>
                </c:pt>
                <c:pt idx="3">
                  <c:v>96.221</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7324D"/>
                  </a:solidFill>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110"/>
          <c:min val="0"/>
        </c:scaling>
        <c:delete val="0"/>
        <c:axPos val="l"/>
        <c:majorGridlines>
          <c:spPr>
            <a:ln xmlns:a="http://schemas.openxmlformats.org/drawingml/2006/main" w="9525">
              <a:solidFill>
                <a:srgbClr val="D5E0EA"/>
              </a:solidFill>
              <a:prstDash val="solid"/>
            </a:ln>
          </c:spPr>
        </c:majorGridlines>
        <c:numFmt formatCode="$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9525">
      <a:solidFill>
        <a:srgbClr val="D5E0EA"/>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Margins across the same four-quarter window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lineChart>
        <c:grouping val="standard"/>
        <c:varyColors val="0"/>
        <c:ser>
          <c:idx val="0"/>
          <c:order val="0"/>
          <c:tx>
            <c:v>Gross margin</c:v>
          </c:tx>
          <c:spPr>
            <a:ln xmlns:a="http://schemas.openxmlformats.org/drawingml/2006/main" w="28575">
              <a:solidFill>
                <a:srgbClr val="009B96"/>
              </a:solidFill>
              <a:prstDash val="solid"/>
            </a:ln>
          </c:spPr>
          <c:marker>
            <c:symbol val="circle"/>
            <c:size val="6"/>
            <c:spPr>
              <a:solidFill xmlns:a="http://schemas.openxmlformats.org/drawingml/2006/main">
                <a:srgbClr val="009B96"/>
              </a:solidFill>
            </c:spPr>
          </c:marker>
          <c:cat>
            <c:strRef>
              <c:f>'Chart Data'!$A$2:$A$5</c:f>
              <c:strCache>
                <c:ptCount val="4"/>
                <c:pt idx="0">
                  <c:v>Oct 2025</c:v>
                </c:pt>
                <c:pt idx="1">
                  <c:v>Jan 2026</c:v>
                </c:pt>
                <c:pt idx="2">
                  <c:v>Apr 2026</c:v>
                </c:pt>
                <c:pt idx="3">
                  <c:v>Jul 2026</c:v>
                </c:pt>
              </c:strCache>
            </c:strRef>
          </c:cat>
          <c:val>
            <c:numRef>
              <c:f>'Chart Data'!$B$2:$B$5</c:f>
              <c:numCache>
                <c:formatCode>0%</c:formatCode>
                <c:ptCount val="4"/>
                <c:pt idx="0">
                  <c:v>0.734</c:v>
                </c:pt>
                <c:pt idx="1">
                  <c:v>0.75</c:v>
                </c:pt>
                <c:pt idx="2">
                  <c:v>0.749</c:v>
                </c:pt>
                <c:pt idx="3">
                  <c:v>0.75</c:v>
                </c:pt>
              </c:numCache>
            </c:numRef>
          </c:val>
        </c:ser>
        <c:ser>
          <c:idx val="1"/>
          <c:order val="1"/>
          <c:tx>
            <c:v>Operating margin</c:v>
          </c:tx>
          <c:spPr>
            <a:ln xmlns:a="http://schemas.openxmlformats.org/drawingml/2006/main" w="28575">
              <a:solidFill>
                <a:srgbClr val="3976B9"/>
              </a:solidFill>
              <a:prstDash val="solid"/>
            </a:ln>
          </c:spPr>
          <c:marker>
            <c:symbol val="circle"/>
            <c:size val="6"/>
            <c:spPr>
              <a:solidFill xmlns:a="http://schemas.openxmlformats.org/drawingml/2006/main">
                <a:srgbClr val="3976B9"/>
              </a:solidFill>
            </c:spPr>
          </c:marker>
          <c:cat>
            <c:strRef>
              <c:f>'Chart Data'!$C$2:$C$5</c:f>
              <c:strCache>
                <c:ptCount val="4"/>
                <c:pt idx="0">
                  <c:v>Oct 2025</c:v>
                </c:pt>
                <c:pt idx="1">
                  <c:v>Jan 2026</c:v>
                </c:pt>
                <c:pt idx="2">
                  <c:v>Apr 2026</c:v>
                </c:pt>
                <c:pt idx="3">
                  <c:v>Jul 2026</c:v>
                </c:pt>
              </c:strCache>
            </c:strRef>
          </c:cat>
          <c:val>
            <c:numRef>
              <c:f>'Chart Data'!$D$2:$D$5</c:f>
              <c:numCache>
                <c:formatCode>0%</c:formatCode>
                <c:ptCount val="4"/>
                <c:pt idx="0">
                  <c:v>0.632</c:v>
                </c:pt>
                <c:pt idx="1">
                  <c:v>0.65</c:v>
                </c:pt>
                <c:pt idx="2">
                  <c:v>0.656</c:v>
                </c:pt>
                <c:pt idx="3">
                  <c:v>0.662</c:v>
                </c:pt>
              </c:numCache>
            </c:numRef>
          </c:val>
        </c:ser>
        <c:ser>
          <c:idx val="2"/>
          <c:order val="2"/>
          <c:tx>
            <c:v>Net margin</c:v>
          </c:tx>
          <c:spPr>
            <a:ln xmlns:a="http://schemas.openxmlformats.org/drawingml/2006/main" w="28575">
              <a:solidFill>
                <a:srgbClr val="D28A1D"/>
              </a:solidFill>
              <a:prstDash val="solid"/>
            </a:ln>
          </c:spPr>
          <c:marker>
            <c:symbol val="circle"/>
            <c:size val="6"/>
            <c:spPr>
              <a:solidFill xmlns:a="http://schemas.openxmlformats.org/drawingml/2006/main">
                <a:srgbClr val="D28A1D"/>
              </a:solidFill>
            </c:spPr>
          </c:marker>
          <c:cat>
            <c:strRef>
              <c:f>'Chart Data'!$E$2:$E$5</c:f>
              <c:strCache>
                <c:ptCount val="4"/>
                <c:pt idx="0">
                  <c:v>Oct 2025</c:v>
                </c:pt>
                <c:pt idx="1">
                  <c:v>Jan 2026</c:v>
                </c:pt>
                <c:pt idx="2">
                  <c:v>Apr 2026</c:v>
                </c:pt>
                <c:pt idx="3">
                  <c:v>Jul 2026</c:v>
                </c:pt>
              </c:strCache>
            </c:strRef>
          </c:cat>
          <c:val>
            <c:numRef>
              <c:f>'Chart Data'!$F$2:$F$5</c:f>
              <c:numCache>
                <c:formatCode>0%</c:formatCode>
                <c:ptCount val="4"/>
                <c:pt idx="0">
                  <c:v>0.56</c:v>
                </c:pt>
                <c:pt idx="1">
                  <c:v>0.631</c:v>
                </c:pt>
                <c:pt idx="2">
                  <c:v>0.715</c:v>
                </c:pt>
                <c:pt idx="3">
                  <c:v>0.62</c:v>
                </c:pt>
              </c:numCache>
            </c:numRef>
          </c:val>
        </c:ser>
        <c:ser>
          <c:idx val="3"/>
          <c:order val="3"/>
          <c:tx>
            <c:v>Free cash flow margin</c:v>
          </c:tx>
          <c:spPr>
            <a:ln xmlns:a="http://schemas.openxmlformats.org/drawingml/2006/main" w="28575">
              <a:solidFill>
                <a:srgbClr val="C94A4A"/>
              </a:solidFill>
              <a:prstDash val="solid"/>
            </a:ln>
          </c:spPr>
          <c:marker>
            <c:symbol val="circle"/>
            <c:size val="6"/>
            <c:spPr>
              <a:solidFill xmlns:a="http://schemas.openxmlformats.org/drawingml/2006/main">
                <a:srgbClr val="C94A4A"/>
              </a:solidFill>
            </c:spPr>
          </c:marker>
          <c:cat>
            <c:strRef>
              <c:f>'Chart Data'!$G$2:$G$5</c:f>
              <c:strCache>
                <c:ptCount val="4"/>
                <c:pt idx="0">
                  <c:v>Oct 2025</c:v>
                </c:pt>
                <c:pt idx="1">
                  <c:v>Jan 2026</c:v>
                </c:pt>
                <c:pt idx="2">
                  <c:v>Apr 2026</c:v>
                </c:pt>
                <c:pt idx="3">
                  <c:v>Jul 2026</c:v>
                </c:pt>
              </c:strCache>
            </c:strRef>
          </c:cat>
          <c:val>
            <c:numRef>
              <c:f>'Chart Data'!$H$2:$H$5</c:f>
              <c:numCache>
                <c:formatCode>0%</c:formatCode>
                <c:ptCount val="4"/>
                <c:pt idx="0">
                  <c:v>0.388</c:v>
                </c:pt>
                <c:pt idx="1">
                  <c:v>0.512</c:v>
                </c:pt>
                <c:pt idx="2">
                  <c:v>0.595</c:v>
                </c:pt>
                <c:pt idx="3">
                  <c:v>0.222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0.8"/>
          <c:min val="0"/>
        </c:scaling>
        <c:delete val="0"/>
        <c:axPos val="l"/>
        <c:majorGridlines>
          <c:spPr>
            <a:ln xmlns:a="http://schemas.openxmlformats.org/drawingml/2006/main" w="9525">
              <a:solidFill>
                <a:srgbClr val="D5E0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32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5E0EA"/>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Arial"/>
                <a:ea typeface="Arial"/>
                <a:cs typeface="Arial"/>
              </a:rPr>
              <a:t>Miss rate by guardrail configuration, four synthetic cases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plotArea>
      <c:barChart>
        <c:barDir val="col"/>
        <c:grouping val="clustered"/>
        <c:varyColors val="0"/>
        <c:ser>
          <c:idx val="0"/>
          <c:order val="0"/>
          <c:tx>
            <c:v>Unsupported claim</c:v>
          </c:tx>
          <c:spPr>
            <a:solidFill xmlns:a="http://schemas.openxmlformats.org/drawingml/2006/main">
              <a:srgbClr val="C94A4A"/>
            </a:solidFill>
          </c:spPr>
          <c:cat>
            <c:strRef>
              <c:f>'Chart Data'!$A$2:$A$6</c:f>
              <c:strCache>
                <c:ptCount val="5"/>
                <c:pt idx="0">
                  <c:v>No controls</c:v>
                </c:pt>
                <c:pt idx="1">
                  <c:v>Input only</c:v>
                </c:pt>
                <c:pt idx="2">
                  <c:v>Generation only</c:v>
                </c:pt>
                <c:pt idx="3">
                  <c:v>Output only</c:v>
                </c:pt>
                <c:pt idx="4">
                  <c:v>Complete stack</c:v>
                </c:pt>
              </c:strCache>
            </c:strRef>
          </c:cat>
          <c:val>
            <c:numRef>
              <c:f>'Chart Data'!$B$2:$B$6</c:f>
              <c:numCache>
                <c:formatCode>0%</c:formatCode>
                <c:ptCount val="5"/>
                <c:pt idx="0">
                  <c:v>0.25</c:v>
                </c:pt>
                <c:pt idx="1">
                  <c:v>0.25</c:v>
                </c:pt>
                <c:pt idx="2">
                  <c:v>0.25</c:v>
                </c:pt>
                <c:pt idx="3">
                  <c:v>0</c:v>
                </c:pt>
                <c:pt idx="4">
                  <c:v>0</c:v>
                </c:pt>
              </c:numCache>
            </c:numRef>
          </c:val>
        </c:ser>
        <c:ser>
          <c:idx val="1"/>
          <c:order val="1"/>
          <c:tx>
            <c:v>Overconfidence</c:v>
          </c:tx>
          <c:spPr>
            <a:solidFill xmlns:a="http://schemas.openxmlformats.org/drawingml/2006/main">
              <a:srgbClr val="D28A1D"/>
            </a:solidFill>
          </c:spPr>
          <c:cat>
            <c:strRef>
              <c:f>'Chart Data'!$C$2:$C$6</c:f>
              <c:strCache>
                <c:ptCount val="5"/>
                <c:pt idx="0">
                  <c:v>No controls</c:v>
                </c:pt>
                <c:pt idx="1">
                  <c:v>Input only</c:v>
                </c:pt>
                <c:pt idx="2">
                  <c:v>Generation only</c:v>
                </c:pt>
                <c:pt idx="3">
                  <c:v>Output only</c:v>
                </c:pt>
                <c:pt idx="4">
                  <c:v>Complete stack</c:v>
                </c:pt>
              </c:strCache>
            </c:strRef>
          </c:cat>
          <c:val>
            <c:numRef>
              <c:f>'Chart Data'!$D$2:$D$6</c:f>
              <c:numCache>
                <c:formatCode>0%</c:formatCode>
                <c:ptCount val="5"/>
                <c:pt idx="0">
                  <c:v>0.25</c:v>
                </c:pt>
                <c:pt idx="1">
                  <c:v>0.25</c:v>
                </c:pt>
                <c:pt idx="2">
                  <c:v>0</c:v>
                </c:pt>
                <c:pt idx="3">
                  <c:v>0.25</c:v>
                </c:pt>
                <c:pt idx="4">
                  <c:v>0</c:v>
                </c:pt>
              </c:numCache>
            </c:numRef>
          </c:val>
        </c:ser>
        <c:ser>
          <c:idx val="2"/>
          <c:order val="2"/>
          <c:tx>
            <c:v>Advice</c:v>
          </c:tx>
          <c:spPr>
            <a:solidFill xmlns:a="http://schemas.openxmlformats.org/drawingml/2006/main">
              <a:srgbClr val="3976B9"/>
            </a:solidFill>
          </c:spPr>
          <c:cat>
            <c:strRef>
              <c:f>'Chart Data'!$E$2:$E$6</c:f>
              <c:strCache>
                <c:ptCount val="5"/>
                <c:pt idx="0">
                  <c:v>No controls</c:v>
                </c:pt>
                <c:pt idx="1">
                  <c:v>Input only</c:v>
                </c:pt>
                <c:pt idx="2">
                  <c:v>Generation only</c:v>
                </c:pt>
                <c:pt idx="3">
                  <c:v>Output only</c:v>
                </c:pt>
                <c:pt idx="4">
                  <c:v>Complete stack</c:v>
                </c:pt>
              </c:strCache>
            </c:strRef>
          </c:cat>
          <c:val>
            <c:numRef>
              <c:f>'Chart Data'!$F$2:$F$6</c:f>
              <c:numCache>
                <c:formatCode>0%</c:formatCode>
                <c:ptCount val="5"/>
                <c:pt idx="0">
                  <c:v>0.25</c:v>
                </c:pt>
                <c:pt idx="1">
                  <c:v>0</c:v>
                </c:pt>
                <c:pt idx="2">
                  <c:v>0.25</c:v>
                </c:pt>
                <c:pt idx="3">
                  <c:v>0.25</c:v>
                </c:pt>
                <c:pt idx="4">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0.3"/>
          <c:min val="0"/>
        </c:scaling>
        <c:delete val="0"/>
        <c:axPos val="l"/>
        <c:majorGridlines>
          <c:spPr>
            <a:ln xmlns:a="http://schemas.openxmlformats.org/drawingml/2006/main" w="9525">
              <a:solidFill>
                <a:srgbClr val="D5E0EA"/>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1732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5E0EA"/>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491CEFB-A262-4898-B0C5-699301A353D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53AD0C22-F750-45AB-973B-4CC1126C4949}"/>
              </a:ext>
            </a:extLst>
          </p:cNvPr>
          <p:cNvSpPr>
            <a:spLocks xmlns:a="http://schemas.openxmlformats.org/drawingml/2006/main" noGrp="1"/>
          </p:cNvSpPr>
          <p:nvPr/>
        </p:nvSpPr>
        <p:spPr>
          <a:xfrm xmlns:a="http://schemas.openxmlformats.org/drawingml/2006/main">
            <a:off x="723900" y="952500"/>
            <a:ext cx="7334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3450" b="1">
                <a:solidFill>
                  <a:srgbClr val="103A5C"/>
                </a:solidFill>
                <a:latin typeface="Arial"/>
                <a:ea typeface="Arial"/>
                <a:cs typeface="Arial"/>
              </a:defRPr>
            </a:pPr>
            <a:r>
              <a:rPr sz="3450" b="1">
                <a:solidFill>
                  <a:srgbClr val="103A5C"/>
                </a:solidFill>
                <a:latin typeface="Arial"/>
                <a:ea typeface="Arial"/>
                <a:cs typeface="Arial"/>
              </a:rPr>
              <a:t>Evidence-Grounded</a:t>
            </a:r>
          </a:p>
          <a:p xmlns:a="http://schemas.openxmlformats.org/drawingml/2006/main">
            <a:pPr algn="l">
              <a:buNone/>
              <a:defRPr sz="3450" b="1">
                <a:solidFill>
                  <a:srgbClr val="103A5C"/>
                </a:solidFill>
                <a:latin typeface="Arial"/>
                <a:ea typeface="Arial"/>
                <a:cs typeface="Arial"/>
              </a:defRPr>
            </a:pPr>
            <a:r>
              <a:rPr sz="3450" b="1">
                <a:solidFill>
                  <a:srgbClr val="103A5C"/>
                </a:solidFill>
                <a:latin typeface="Arial"/>
                <a:ea typeface="Arial"/>
                <a:cs typeface="Arial"/>
              </a:rPr>
              <a:t>Equity Research Agent</a:t>
            </a:r>
          </a:p>
        </p:txBody>
      </p:sp>
      <p:sp>
        <p:nvSpPr>
          <p:cNvPr id="3" name="">
            <a:extLst xmlns:a="http://schemas.openxmlformats.org/drawingml/2006/main">
              <a:ext uri="{FF2B5EF4-FFF2-40B4-BE49-F238E27FC236}">
                <a16:creationId xmlns:a16="http://schemas.microsoft.com/office/drawing/2014/main" id="{9E25BC3A-B0F5-4FE3-8AD3-5D93DD81D971}"/>
              </a:ext>
            </a:extLst>
          </p:cNvPr>
          <p:cNvSpPr>
            <a:spLocks xmlns:a="http://schemas.openxmlformats.org/drawingml/2006/main" noGrp="1"/>
          </p:cNvSpPr>
          <p:nvPr/>
        </p:nvSpPr>
        <p:spPr>
          <a:xfrm xmlns:a="http://schemas.openxmlformats.org/drawingml/2006/main">
            <a:off x="762000" y="24574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0">
                <a:solidFill>
                  <a:srgbClr val="5E748A"/>
                </a:solidFill>
                <a:latin typeface="Arial"/>
                <a:ea typeface="Arial"/>
                <a:cs typeface="Arial"/>
              </a:defRPr>
            </a:pPr>
            <a:r>
              <a:rPr sz="1725" b="0">
                <a:solidFill>
                  <a:srgbClr val="5E748A"/>
                </a:solidFill>
                <a:latin typeface="Arial"/>
                <a:ea typeface="Arial"/>
                <a:cs typeface="Arial"/>
              </a:rPr>
              <a:t>A controlled workflow that turns a company question into a cited bull case, bear case, risk view, and release decision.</a:t>
            </a:r>
          </a:p>
        </p:txBody>
      </p:sp>
      <p:sp>
        <p:nvSpPr>
          <p:cNvPr id="4" name="">
            <a:extLst xmlns:a="http://schemas.openxmlformats.org/drawingml/2006/main">
              <a:ext uri="{FF2B5EF4-FFF2-40B4-BE49-F238E27FC236}">
                <a16:creationId xmlns:a16="http://schemas.microsoft.com/office/drawing/2014/main" id="{BD42BDCC-B601-4458-81A6-318F6DB7640A}"/>
              </a:ext>
            </a:extLst>
          </p:cNvPr>
          <p:cNvSpPr>
            <a:spLocks xmlns:a="http://schemas.openxmlformats.org/drawingml/2006/main" noGrp="1"/>
          </p:cNvSpPr>
          <p:nvPr/>
        </p:nvSpPr>
        <p:spPr>
          <a:xfrm xmlns:a="http://schemas.openxmlformats.org/drawingml/2006/main">
            <a:off x="781050" y="3905250"/>
            <a:ext cx="1162050" cy="514350"/>
          </a:xfrm>
          <a:prstGeom xmlns:a="http://schemas.openxmlformats.org/drawingml/2006/main" prst="roundRect">
            <a:avLst>
              <a:gd name="adj" fmla="val 25926"/>
            </a:avLst>
          </a:prstGeom>
          <a:solidFill xmlns:a="http://schemas.openxmlformats.org/drawingml/2006/main">
            <a:srgbClr val="2F8B5B"/>
          </a:solidFill>
          <a:ln xmlns:a="http://schemas.openxmlformats.org/drawingml/2006/main" w="0">
            <a:solidFill>
              <a:srgbClr val="2F8B5B"/>
            </a:solidFill>
            <a:prstDash val="solid"/>
          </a:ln>
        </p:spPr>
      </p:sp>
      <p:sp>
        <p:nvSpPr>
          <p:cNvPr id="5" name="">
            <a:extLst xmlns:a="http://schemas.openxmlformats.org/drawingml/2006/main">
              <a:ext uri="{FF2B5EF4-FFF2-40B4-BE49-F238E27FC236}">
                <a16:creationId xmlns:a16="http://schemas.microsoft.com/office/drawing/2014/main" id="{AEAAC15B-49EB-4C43-B42B-6C6171FEE4CC}"/>
              </a:ext>
            </a:extLst>
          </p:cNvPr>
          <p:cNvSpPr>
            <a:spLocks xmlns:a="http://schemas.openxmlformats.org/drawingml/2006/main" noGrp="1"/>
          </p:cNvSpPr>
          <p:nvPr/>
        </p:nvSpPr>
        <p:spPr>
          <a:xfrm xmlns:a="http://schemas.openxmlformats.org/drawingml/2006/main">
            <a:off x="904875" y="401955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Source</a:t>
            </a:r>
          </a:p>
        </p:txBody>
      </p:sp>
      <p:sp>
        <p:nvSpPr>
          <p:cNvPr id="6" name="">
            <a:extLst xmlns:a="http://schemas.openxmlformats.org/drawingml/2006/main">
              <a:ext uri="{FF2B5EF4-FFF2-40B4-BE49-F238E27FC236}">
                <a16:creationId xmlns:a16="http://schemas.microsoft.com/office/drawing/2014/main" id="{7A6EEDAC-3049-4838-896C-883BFA8EEA2C}"/>
              </a:ext>
            </a:extLst>
          </p:cNvPr>
          <p:cNvSpPr>
            <a:spLocks xmlns:a="http://schemas.openxmlformats.org/drawingml/2006/main" noGrp="1"/>
          </p:cNvSpPr>
          <p:nvPr/>
        </p:nvSpPr>
        <p:spPr>
          <a:xfrm xmlns:a="http://schemas.openxmlformats.org/drawingml/2006/main">
            <a:off x="2219325" y="3905250"/>
            <a:ext cx="1162050" cy="514350"/>
          </a:xfrm>
          <a:prstGeom xmlns:a="http://schemas.openxmlformats.org/drawingml/2006/main" prst="roundRect">
            <a:avLst>
              <a:gd name="adj" fmla="val 25926"/>
            </a:avLst>
          </a:prstGeom>
          <a:solidFill xmlns:a="http://schemas.openxmlformats.org/drawingml/2006/main">
            <a:srgbClr val="3976B9"/>
          </a:solidFill>
          <a:ln xmlns:a="http://schemas.openxmlformats.org/drawingml/2006/main" w="0">
            <a:solidFill>
              <a:srgbClr val="3976B9"/>
            </a:solidFill>
            <a:prstDash val="solid"/>
          </a:ln>
        </p:spPr>
      </p:sp>
      <p:sp>
        <p:nvSpPr>
          <p:cNvPr id="7" name="">
            <a:extLst xmlns:a="http://schemas.openxmlformats.org/drawingml/2006/main">
              <a:ext uri="{FF2B5EF4-FFF2-40B4-BE49-F238E27FC236}">
                <a16:creationId xmlns:a16="http://schemas.microsoft.com/office/drawing/2014/main" id="{9031EF34-E005-4F79-BA9E-216F0608CC91}"/>
              </a:ext>
            </a:extLst>
          </p:cNvPr>
          <p:cNvSpPr>
            <a:spLocks xmlns:a="http://schemas.openxmlformats.org/drawingml/2006/main" noGrp="1"/>
          </p:cNvSpPr>
          <p:nvPr/>
        </p:nvSpPr>
        <p:spPr>
          <a:xfrm xmlns:a="http://schemas.openxmlformats.org/drawingml/2006/main">
            <a:off x="2343150" y="401955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Evidence</a:t>
            </a:r>
          </a:p>
        </p:txBody>
      </p:sp>
      <p:cxnSp>
        <p:nvCxnSpPr>
          <p:cNvPr id="50" name=""/>
          <p:cNvCxnSpPr>
            <a:stCxn xmlns:a="http://schemas.openxmlformats.org/drawingml/2006/main" id="4" idx="3"/>
            <a:endCxn xmlns:a="http://schemas.openxmlformats.org/drawingml/2006/main" id="6" idx="1"/>
          </p:cNvCxnSpPr>
          <p:nvPr/>
        </p:nvCxnSpPr>
        <p:spPr>
          <a:xfrm xmlns:a="http://schemas.openxmlformats.org/drawingml/2006/main">
            <a:off x="1943100" y="4162425"/>
            <a:ext cx="276225"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9" name="">
            <a:extLst xmlns:a="http://schemas.openxmlformats.org/drawingml/2006/main">
              <a:ext uri="{FF2B5EF4-FFF2-40B4-BE49-F238E27FC236}">
                <a16:creationId xmlns:a16="http://schemas.microsoft.com/office/drawing/2014/main" id="{642661B1-A73C-48C4-90C5-25F5AB048B3D}"/>
              </a:ext>
            </a:extLst>
          </p:cNvPr>
          <p:cNvSpPr>
            <a:spLocks xmlns:a="http://schemas.openxmlformats.org/drawingml/2006/main" noGrp="1"/>
          </p:cNvSpPr>
          <p:nvPr/>
        </p:nvSpPr>
        <p:spPr>
          <a:xfrm xmlns:a="http://schemas.openxmlformats.org/drawingml/2006/main">
            <a:off x="3657600" y="3905250"/>
            <a:ext cx="1162050" cy="514350"/>
          </a:xfrm>
          <a:prstGeom xmlns:a="http://schemas.openxmlformats.org/drawingml/2006/main" prst="roundRect">
            <a:avLst>
              <a:gd name="adj" fmla="val 25926"/>
            </a:avLst>
          </a:prstGeom>
          <a:solidFill xmlns:a="http://schemas.openxmlformats.org/drawingml/2006/main">
            <a:srgbClr val="009B96"/>
          </a:solidFill>
          <a:ln xmlns:a="http://schemas.openxmlformats.org/drawingml/2006/main" w="0">
            <a:solidFill>
              <a:srgbClr val="009B96"/>
            </a:solidFill>
            <a:prstDash val="solid"/>
          </a:ln>
        </p:spPr>
      </p:sp>
      <p:sp>
        <p:nvSpPr>
          <p:cNvPr id="10" name="">
            <a:extLst xmlns:a="http://schemas.openxmlformats.org/drawingml/2006/main">
              <a:ext uri="{FF2B5EF4-FFF2-40B4-BE49-F238E27FC236}">
                <a16:creationId xmlns:a16="http://schemas.microsoft.com/office/drawing/2014/main" id="{BCC75B1B-0DB5-43E6-B3B0-685F5D0D83E8}"/>
              </a:ext>
            </a:extLst>
          </p:cNvPr>
          <p:cNvSpPr>
            <a:spLocks xmlns:a="http://schemas.openxmlformats.org/drawingml/2006/main" noGrp="1"/>
          </p:cNvSpPr>
          <p:nvPr/>
        </p:nvSpPr>
        <p:spPr>
          <a:xfrm xmlns:a="http://schemas.openxmlformats.org/drawingml/2006/main">
            <a:off x="3781425" y="401955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Thesis</a:t>
            </a:r>
          </a:p>
        </p:txBody>
      </p:sp>
      <p:cxnSp>
        <p:nvCxnSpPr>
          <p:cNvPr id="53" name=""/>
          <p:cNvCxnSpPr>
            <a:stCxn xmlns:a="http://schemas.openxmlformats.org/drawingml/2006/main" id="6" idx="3"/>
            <a:endCxn xmlns:a="http://schemas.openxmlformats.org/drawingml/2006/main" id="9" idx="1"/>
          </p:cNvCxnSpPr>
          <p:nvPr/>
        </p:nvCxnSpPr>
        <p:spPr>
          <a:xfrm xmlns:a="http://schemas.openxmlformats.org/drawingml/2006/main">
            <a:off x="3381375" y="4162425"/>
            <a:ext cx="276225"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12" name="">
            <a:extLst xmlns:a="http://schemas.openxmlformats.org/drawingml/2006/main">
              <a:ext uri="{FF2B5EF4-FFF2-40B4-BE49-F238E27FC236}">
                <a16:creationId xmlns:a16="http://schemas.microsoft.com/office/drawing/2014/main" id="{AED94D29-F660-481E-946B-958132CB72D2}"/>
              </a:ext>
            </a:extLst>
          </p:cNvPr>
          <p:cNvSpPr>
            <a:spLocks xmlns:a="http://schemas.openxmlformats.org/drawingml/2006/main" noGrp="1"/>
          </p:cNvSpPr>
          <p:nvPr/>
        </p:nvSpPr>
        <p:spPr>
          <a:xfrm xmlns:a="http://schemas.openxmlformats.org/drawingml/2006/main">
            <a:off x="5095875" y="3905250"/>
            <a:ext cx="1162050" cy="514350"/>
          </a:xfrm>
          <a:prstGeom xmlns:a="http://schemas.openxmlformats.org/drawingml/2006/main" prst="roundRect">
            <a:avLst>
              <a:gd name="adj" fmla="val 25926"/>
            </a:avLst>
          </a:prstGeom>
          <a:solidFill xmlns:a="http://schemas.openxmlformats.org/drawingml/2006/main">
            <a:srgbClr val="D28A1D"/>
          </a:solidFill>
          <a:ln xmlns:a="http://schemas.openxmlformats.org/drawingml/2006/main" w="0">
            <a:solidFill>
              <a:srgbClr val="D28A1D"/>
            </a:solidFill>
            <a:prstDash val="solid"/>
          </a:ln>
        </p:spPr>
      </p:sp>
      <p:sp>
        <p:nvSpPr>
          <p:cNvPr id="13" name="">
            <a:extLst xmlns:a="http://schemas.openxmlformats.org/drawingml/2006/main">
              <a:ext uri="{FF2B5EF4-FFF2-40B4-BE49-F238E27FC236}">
                <a16:creationId xmlns:a16="http://schemas.microsoft.com/office/drawing/2014/main" id="{23344318-CFC7-4C86-980B-9A8673C77C08}"/>
              </a:ext>
            </a:extLst>
          </p:cNvPr>
          <p:cNvSpPr>
            <a:spLocks xmlns:a="http://schemas.openxmlformats.org/drawingml/2006/main" noGrp="1"/>
          </p:cNvSpPr>
          <p:nvPr/>
        </p:nvSpPr>
        <p:spPr>
          <a:xfrm xmlns:a="http://schemas.openxmlformats.org/drawingml/2006/main">
            <a:off x="5219700" y="401955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Review</a:t>
            </a:r>
          </a:p>
        </p:txBody>
      </p:sp>
      <p:cxnSp>
        <p:nvCxnSpPr>
          <p:cNvPr id="56" name=""/>
          <p:cNvCxnSpPr>
            <a:stCxn xmlns:a="http://schemas.openxmlformats.org/drawingml/2006/main" id="9" idx="3"/>
            <a:endCxn xmlns:a="http://schemas.openxmlformats.org/drawingml/2006/main" id="12" idx="1"/>
          </p:cNvCxnSpPr>
          <p:nvPr/>
        </p:nvCxnSpPr>
        <p:spPr>
          <a:xfrm xmlns:a="http://schemas.openxmlformats.org/drawingml/2006/main">
            <a:off x="4819650" y="4162425"/>
            <a:ext cx="276225"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15" name="">
            <a:extLst xmlns:a="http://schemas.openxmlformats.org/drawingml/2006/main">
              <a:ext uri="{FF2B5EF4-FFF2-40B4-BE49-F238E27FC236}">
                <a16:creationId xmlns:a16="http://schemas.microsoft.com/office/drawing/2014/main" id="{23DF7772-8D54-485A-932E-A47D483F8C91}"/>
              </a:ext>
            </a:extLst>
          </p:cNvPr>
          <p:cNvSpPr>
            <a:spLocks xmlns:a="http://schemas.openxmlformats.org/drawingml/2006/main" noGrp="1"/>
          </p:cNvSpPr>
          <p:nvPr/>
        </p:nvSpPr>
        <p:spPr>
          <a:xfrm xmlns:a="http://schemas.openxmlformats.org/drawingml/2006/main">
            <a:off x="6534150" y="3905250"/>
            <a:ext cx="1162050" cy="514350"/>
          </a:xfrm>
          <a:prstGeom xmlns:a="http://schemas.openxmlformats.org/drawingml/2006/main" prst="roundRect">
            <a:avLst>
              <a:gd name="adj" fmla="val 25926"/>
            </a:avLst>
          </a:prstGeom>
          <a:solidFill xmlns:a="http://schemas.openxmlformats.org/drawingml/2006/main">
            <a:srgbClr val="103A5C"/>
          </a:solidFill>
          <a:ln xmlns:a="http://schemas.openxmlformats.org/drawingml/2006/main" w="0">
            <a:solidFill>
              <a:srgbClr val="103A5C"/>
            </a:solidFill>
            <a:prstDash val="solid"/>
          </a:ln>
        </p:spPr>
      </p:sp>
      <p:sp>
        <p:nvSpPr>
          <p:cNvPr id="16" name="">
            <a:extLst xmlns:a="http://schemas.openxmlformats.org/drawingml/2006/main">
              <a:ext uri="{FF2B5EF4-FFF2-40B4-BE49-F238E27FC236}">
                <a16:creationId xmlns:a16="http://schemas.microsoft.com/office/drawing/2014/main" id="{CCF7AE58-2B7E-4A5F-B410-88851DE9BC40}"/>
              </a:ext>
            </a:extLst>
          </p:cNvPr>
          <p:cNvSpPr>
            <a:spLocks xmlns:a="http://schemas.openxmlformats.org/drawingml/2006/main" noGrp="1"/>
          </p:cNvSpPr>
          <p:nvPr/>
        </p:nvSpPr>
        <p:spPr>
          <a:xfrm xmlns:a="http://schemas.openxmlformats.org/drawingml/2006/main">
            <a:off x="6657975" y="4019550"/>
            <a:ext cx="914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Report</a:t>
            </a:r>
          </a:p>
        </p:txBody>
      </p:sp>
      <p:cxnSp>
        <p:nvCxnSpPr>
          <p:cNvPr id="59" name=""/>
          <p:cNvCxnSpPr>
            <a:stCxn xmlns:a="http://schemas.openxmlformats.org/drawingml/2006/main" id="12" idx="3"/>
            <a:endCxn xmlns:a="http://schemas.openxmlformats.org/drawingml/2006/main" id="15" idx="1"/>
          </p:cNvCxnSpPr>
          <p:nvPr/>
        </p:nvCxnSpPr>
        <p:spPr>
          <a:xfrm xmlns:a="http://schemas.openxmlformats.org/drawingml/2006/main">
            <a:off x="6257925" y="4162425"/>
            <a:ext cx="276225"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27FEA96-9F3F-4C69-BC6E-178EB6ED701E}"/>
              </a:ext>
            </a:extLst>
          </p:cNvPr>
          <p:cNvSpPr>
            <a:spLocks xmlns:a="http://schemas.openxmlformats.org/drawingml/2006/main" noGrp="1"/>
          </p:cNvSpPr>
          <p:nvPr/>
        </p:nvSpPr>
        <p:spPr>
          <a:xfrm xmlns:a="http://schemas.openxmlformats.org/drawingml/2006/main">
            <a:off x="781050" y="57531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103A5C"/>
                </a:solidFill>
                <a:latin typeface="Arial"/>
                <a:ea typeface="Arial"/>
                <a:cs typeface="Arial"/>
              </a:defRPr>
            </a:pPr>
            <a:r>
              <a:rPr sz="1275" b="1">
                <a:solidFill>
                  <a:srgbClr val="103A5C"/>
                </a:solidFill>
                <a:latin typeface="Arial"/>
                <a:ea typeface="Arial"/>
                <a:cs typeface="Arial"/>
              </a:rPr>
              <a:t>CMU Agentic AI Program</a:t>
            </a:r>
          </a:p>
        </p:txBody>
      </p:sp>
      <p:sp>
        <p:nvSpPr>
          <p:cNvPr id="19" name="">
            <a:extLst xmlns:a="http://schemas.openxmlformats.org/drawingml/2006/main">
              <a:ext uri="{FF2B5EF4-FFF2-40B4-BE49-F238E27FC236}">
                <a16:creationId xmlns:a16="http://schemas.microsoft.com/office/drawing/2014/main" id="{A0E3A331-4ADF-4024-9875-5F13ABFE0918}"/>
              </a:ext>
            </a:extLst>
          </p:cNvPr>
          <p:cNvSpPr>
            <a:spLocks xmlns:a="http://schemas.openxmlformats.org/drawingml/2006/main" noGrp="1"/>
          </p:cNvSpPr>
          <p:nvPr/>
        </p:nvSpPr>
        <p:spPr>
          <a:xfrm xmlns:a="http://schemas.openxmlformats.org/drawingml/2006/main">
            <a:off x="781050" y="60483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125" b="0">
                <a:solidFill>
                  <a:srgbClr val="5E748A"/>
                </a:solidFill>
                <a:latin typeface="Arial"/>
                <a:ea typeface="Arial"/>
                <a:cs typeface="Arial"/>
              </a:defRPr>
            </a:pPr>
            <a:r>
              <a:rPr sz="1125" b="0">
                <a:solidFill>
                  <a:srgbClr val="5E748A"/>
                </a:solidFill>
                <a:latin typeface="Arial"/>
                <a:ea typeface="Arial"/>
                <a:cs typeface="Arial"/>
              </a:rPr>
              <a:t>Final Project</a:t>
            </a:r>
          </a:p>
        </p:txBody>
      </p:sp>
      <p:sp>
        <p:nvSpPr>
          <p:cNvPr id="20" name="">
            <a:extLst xmlns:a="http://schemas.openxmlformats.org/drawingml/2006/main">
              <a:ext uri="{FF2B5EF4-FFF2-40B4-BE49-F238E27FC236}">
                <a16:creationId xmlns:a16="http://schemas.microsoft.com/office/drawing/2014/main" id="{1EF01C84-4943-4170-A5A9-85F791BA0B67}"/>
              </a:ext>
            </a:extLst>
          </p:cNvPr>
          <p:cNvSpPr>
            <a:spLocks xmlns:a="http://schemas.openxmlformats.org/drawingml/2006/main" noGrp="1"/>
          </p:cNvSpPr>
          <p:nvPr/>
        </p:nvSpPr>
        <p:spPr>
          <a:xfrm xmlns:a="http://schemas.openxmlformats.org/drawingml/2006/main">
            <a:off x="9810750" y="112395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3300" b="1">
                <a:solidFill>
                  <a:srgbClr val="009B96"/>
                </a:solidFill>
                <a:latin typeface="Arial"/>
                <a:ea typeface="Arial"/>
                <a:cs typeface="Arial"/>
              </a:defRPr>
            </a:pPr>
            <a:r>
              <a:rPr sz="3300" b="1">
                <a:solidFill>
                  <a:srgbClr val="009B96"/>
                </a:solidFill>
                <a:latin typeface="Arial"/>
                <a:ea typeface="Arial"/>
                <a:cs typeface="Arial"/>
              </a:rPr>
              <a:t>12</a:t>
            </a:r>
          </a:p>
        </p:txBody>
      </p:sp>
      <p:sp>
        <p:nvSpPr>
          <p:cNvPr id="21" name="">
            <a:extLst xmlns:a="http://schemas.openxmlformats.org/drawingml/2006/main">
              <a:ext uri="{FF2B5EF4-FFF2-40B4-BE49-F238E27FC236}">
                <a16:creationId xmlns:a16="http://schemas.microsoft.com/office/drawing/2014/main" id="{9F0A3DEA-0659-4DC9-A96B-9F856F565A31}"/>
              </a:ext>
            </a:extLst>
          </p:cNvPr>
          <p:cNvSpPr>
            <a:spLocks xmlns:a="http://schemas.openxmlformats.org/drawingml/2006/main" noGrp="1"/>
          </p:cNvSpPr>
          <p:nvPr/>
        </p:nvSpPr>
        <p:spPr>
          <a:xfrm xmlns:a="http://schemas.openxmlformats.org/drawingml/2006/main">
            <a:off x="9810750" y="16573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125" b="0">
                <a:solidFill>
                  <a:srgbClr val="5E748A"/>
                </a:solidFill>
                <a:latin typeface="Arial"/>
                <a:ea typeface="Arial"/>
                <a:cs typeface="Arial"/>
              </a:defRPr>
            </a:pPr>
            <a:r>
              <a:rPr sz="1125" b="0">
                <a:solidFill>
                  <a:srgbClr val="5E748A"/>
                </a:solidFill>
                <a:latin typeface="Arial"/>
                <a:ea typeface="Arial"/>
                <a:cs typeface="Arial"/>
              </a:rPr>
              <a:t>graph nodes</a:t>
            </a:r>
          </a:p>
        </p:txBody>
      </p:sp>
      <p:sp>
        <p:nvSpPr>
          <p:cNvPr id="22" name="">
            <a:extLst xmlns:a="http://schemas.openxmlformats.org/drawingml/2006/main">
              <a:ext uri="{FF2B5EF4-FFF2-40B4-BE49-F238E27FC236}">
                <a16:creationId xmlns:a16="http://schemas.microsoft.com/office/drawing/2014/main" id="{1F45B508-CCE9-4AC9-AEE6-25EE82B1671A}"/>
              </a:ext>
            </a:extLst>
          </p:cNvPr>
          <p:cNvSpPr>
            <a:spLocks xmlns:a="http://schemas.openxmlformats.org/drawingml/2006/main" noGrp="1"/>
          </p:cNvSpPr>
          <p:nvPr/>
        </p:nvSpPr>
        <p:spPr>
          <a:xfrm xmlns:a="http://schemas.openxmlformats.org/drawingml/2006/main">
            <a:off x="9810750" y="238125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3300" b="1">
                <a:solidFill>
                  <a:srgbClr val="3976B9"/>
                </a:solidFill>
                <a:latin typeface="Arial"/>
                <a:ea typeface="Arial"/>
                <a:cs typeface="Arial"/>
              </a:defRPr>
            </a:pPr>
            <a:r>
              <a:rPr sz="3300" b="1">
                <a:solidFill>
                  <a:srgbClr val="3976B9"/>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74C56240-4487-4CF9-AF31-03177A23015A}"/>
              </a:ext>
            </a:extLst>
          </p:cNvPr>
          <p:cNvSpPr>
            <a:spLocks xmlns:a="http://schemas.openxmlformats.org/drawingml/2006/main" noGrp="1"/>
          </p:cNvSpPr>
          <p:nvPr/>
        </p:nvSpPr>
        <p:spPr>
          <a:xfrm xmlns:a="http://schemas.openxmlformats.org/drawingml/2006/main">
            <a:off x="9810750" y="29146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125" b="0">
                <a:solidFill>
                  <a:srgbClr val="5E748A"/>
                </a:solidFill>
                <a:latin typeface="Arial"/>
                <a:ea typeface="Arial"/>
                <a:cs typeface="Arial"/>
              </a:defRPr>
            </a:pPr>
            <a:r>
              <a:rPr sz="1125" b="0">
                <a:solidFill>
                  <a:srgbClr val="5E748A"/>
                </a:solidFill>
                <a:latin typeface="Arial"/>
                <a:ea typeface="Arial"/>
                <a:cs typeface="Arial"/>
              </a:rPr>
              <a:t>agent roles</a:t>
            </a:r>
          </a:p>
        </p:txBody>
      </p:sp>
      <p:sp>
        <p:nvSpPr>
          <p:cNvPr id="24" name="">
            <a:extLst xmlns:a="http://schemas.openxmlformats.org/drawingml/2006/main">
              <a:ext uri="{FF2B5EF4-FFF2-40B4-BE49-F238E27FC236}">
                <a16:creationId xmlns:a16="http://schemas.microsoft.com/office/drawing/2014/main" id="{67E261D7-B1B9-476F-9CCA-2615565DE962}"/>
              </a:ext>
            </a:extLst>
          </p:cNvPr>
          <p:cNvSpPr>
            <a:spLocks xmlns:a="http://schemas.openxmlformats.org/drawingml/2006/main" noGrp="1"/>
          </p:cNvSpPr>
          <p:nvPr/>
        </p:nvSpPr>
        <p:spPr>
          <a:xfrm xmlns:a="http://schemas.openxmlformats.org/drawingml/2006/main">
            <a:off x="9810750" y="3638550"/>
            <a:ext cx="114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3300" b="1">
                <a:solidFill>
                  <a:srgbClr val="D28A1D"/>
                </a:solidFill>
                <a:latin typeface="Arial"/>
                <a:ea typeface="Arial"/>
                <a:cs typeface="Arial"/>
              </a:defRPr>
            </a:pPr>
            <a:r>
              <a:rPr sz="3300" b="1">
                <a:solidFill>
                  <a:srgbClr val="D28A1D"/>
                </a:solidFill>
                <a:latin typeface="Arial"/>
                <a:ea typeface="Arial"/>
                <a:cs typeface="Arial"/>
              </a:rPr>
              <a:t>315</a:t>
            </a:r>
          </a:p>
        </p:txBody>
      </p:sp>
      <p:sp>
        <p:nvSpPr>
          <p:cNvPr id="25" name="">
            <a:extLst xmlns:a="http://schemas.openxmlformats.org/drawingml/2006/main">
              <a:ext uri="{FF2B5EF4-FFF2-40B4-BE49-F238E27FC236}">
                <a16:creationId xmlns:a16="http://schemas.microsoft.com/office/drawing/2014/main" id="{94C0EB78-BB16-44D9-A79A-8CA7EA185BFC}"/>
              </a:ext>
            </a:extLst>
          </p:cNvPr>
          <p:cNvSpPr>
            <a:spLocks xmlns:a="http://schemas.openxmlformats.org/drawingml/2006/main" noGrp="1"/>
          </p:cNvSpPr>
          <p:nvPr/>
        </p:nvSpPr>
        <p:spPr>
          <a:xfrm xmlns:a="http://schemas.openxmlformats.org/drawingml/2006/main">
            <a:off x="9667875" y="41719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125" b="0">
                <a:solidFill>
                  <a:srgbClr val="5E748A"/>
                </a:solidFill>
                <a:latin typeface="Arial"/>
                <a:ea typeface="Arial"/>
                <a:cs typeface="Arial"/>
              </a:defRPr>
            </a:pPr>
            <a:r>
              <a:rPr sz="1125" b="0">
                <a:solidFill>
                  <a:srgbClr val="5E748A"/>
                </a:solidFill>
                <a:latin typeface="Arial"/>
                <a:ea typeface="Arial"/>
                <a:cs typeface="Arial"/>
              </a:rPr>
              <a:t>automated tests</a:t>
            </a:r>
          </a:p>
        </p:txBody>
      </p:sp>
    </p:spTree>
    <p:extLst>
      <p:ext uri="{BB962C8B-B14F-4D97-AF65-F5344CB8AC3E}">
        <p14:creationId xmlns:p14="http://schemas.microsoft.com/office/powerpoint/2010/main" val="343213887"/>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756469B-6B78-492E-BF7A-EDE328DB71D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4563D8D3-354E-4A19-B55E-917C30D00557}"/>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The problem and intended user</a:t>
            </a:r>
          </a:p>
        </p:txBody>
      </p:sp>
      <p:sp>
        <p:nvSpPr>
          <p:cNvPr id="3" name="">
            <a:extLst xmlns:a="http://schemas.openxmlformats.org/drawingml/2006/main">
              <a:ext uri="{FF2B5EF4-FFF2-40B4-BE49-F238E27FC236}">
                <a16:creationId xmlns:a16="http://schemas.microsoft.com/office/drawing/2014/main" id="{51F16C5A-05C8-4E13-ADC9-2A54726707A6}"/>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system addresses research synthesis under uncertainty.</a:t>
            </a:r>
          </a:p>
        </p:txBody>
      </p:sp>
      <p:sp>
        <p:nvSpPr>
          <p:cNvPr id="4" name="">
            <a:extLst xmlns:a="http://schemas.openxmlformats.org/drawingml/2006/main">
              <a:ext uri="{FF2B5EF4-FFF2-40B4-BE49-F238E27FC236}">
                <a16:creationId xmlns:a16="http://schemas.microsoft.com/office/drawing/2014/main" id="{87939B37-4F58-48CE-8625-8F3AC3804577}"/>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D4FD440A-7CBB-4D35-A766-909E307AB590}"/>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12B90DF2-EA95-4992-8275-EEDA091C6B84}"/>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2F9FCE87-2FCE-442B-A7A5-45B420C59690}"/>
              </a:ext>
            </a:extLst>
          </p:cNvPr>
          <p:cNvSpPr>
            <a:spLocks xmlns:a="http://schemas.openxmlformats.org/drawingml/2006/main" noGrp="1"/>
          </p:cNvSpPr>
          <p:nvPr/>
        </p:nvSpPr>
        <p:spPr>
          <a:xfrm xmlns:a="http://schemas.openxmlformats.org/drawingml/2006/main">
            <a:off x="647700" y="135255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85000"/>
          </a:bodyPr>
          <a:lstStyle xmlns:a="http://schemas.openxmlformats.org/drawingml/2006/main"/>
          <a:p xmlns:a="http://schemas.openxmlformats.org/drawingml/2006/main">
            <a:pPr algn="l">
              <a:buNone/>
              <a:defRPr sz="1875" b="1">
                <a:solidFill>
                  <a:srgbClr val="103A5C"/>
                </a:solidFill>
                <a:latin typeface="Arial"/>
                <a:ea typeface="Arial"/>
                <a:cs typeface="Arial"/>
              </a:defRPr>
            </a:pPr>
            <a:r>
              <a:rPr sz="1875" b="1">
                <a:solidFill>
                  <a:srgbClr val="103A5C"/>
                </a:solidFill>
                <a:latin typeface="Arial"/>
                <a:ea typeface="Arial"/>
                <a:cs typeface="Arial"/>
              </a:rPr>
              <a:t>Public company information comes from sources with different strengths.</a:t>
            </a:r>
          </a:p>
        </p:txBody>
      </p:sp>
      <p:sp>
        <p:nvSpPr>
          <p:cNvPr id="8" name="">
            <a:extLst xmlns:a="http://schemas.openxmlformats.org/drawingml/2006/main">
              <a:ext uri="{FF2B5EF4-FFF2-40B4-BE49-F238E27FC236}">
                <a16:creationId xmlns:a16="http://schemas.microsoft.com/office/drawing/2014/main" id="{02752F4D-3491-4070-89D8-2B2A06F24FDD}"/>
              </a:ext>
            </a:extLst>
          </p:cNvPr>
          <p:cNvSpPr>
            <a:spLocks xmlns:a="http://schemas.openxmlformats.org/drawingml/2006/main" noGrp="1"/>
          </p:cNvSpPr>
          <p:nvPr/>
        </p:nvSpPr>
        <p:spPr>
          <a:xfrm xmlns:a="http://schemas.openxmlformats.org/drawingml/2006/main">
            <a:off x="666750" y="2009775"/>
            <a:ext cx="5286375"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8000"/>
              </a:lnSpc>
              <a:buNone/>
              <a:defRPr sz="1500" b="0">
                <a:solidFill>
                  <a:srgbClr val="17324D"/>
                </a:solidFill>
                <a:latin typeface="Arial"/>
                <a:ea typeface="Arial"/>
                <a:cs typeface="Arial"/>
              </a:defRPr>
            </a:pPr>
            <a:r>
              <a:rPr sz="1500" b="0">
                <a:solidFill>
                  <a:srgbClr val="17324D"/>
                </a:solidFill>
                <a:latin typeface="Arial"/>
                <a:ea typeface="Arial"/>
                <a:cs typeface="Arial"/>
              </a:rPr>
              <a:t>Financial statements provide exact historical numbers. Earnings calls explain management's view. Current news and analyst ratings add context, but they can be noisy. A useful report must preserve the reporting period and separate verified facts from interpretation.</a:t>
            </a:r>
          </a:p>
        </p:txBody>
      </p:sp>
      <p:sp>
        <p:nvSpPr>
          <p:cNvPr id="9" name="">
            <a:extLst xmlns:a="http://schemas.openxmlformats.org/drawingml/2006/main">
              <a:ext uri="{FF2B5EF4-FFF2-40B4-BE49-F238E27FC236}">
                <a16:creationId xmlns:a16="http://schemas.microsoft.com/office/drawing/2014/main" id="{A1D82528-9C1F-493C-A335-8FE9D3C3EBF2}"/>
              </a:ext>
            </a:extLst>
          </p:cNvPr>
          <p:cNvSpPr>
            <a:spLocks xmlns:a="http://schemas.openxmlformats.org/drawingml/2006/main" noGrp="1"/>
          </p:cNvSpPr>
          <p:nvPr/>
        </p:nvSpPr>
        <p:spPr>
          <a:xfrm xmlns:a="http://schemas.openxmlformats.org/drawingml/2006/main">
            <a:off x="6667500" y="1428750"/>
            <a:ext cx="95250" cy="590550"/>
          </a:xfrm>
          <a:prstGeom xmlns:a="http://schemas.openxmlformats.org/drawingml/2006/main" prst="roundRect">
            <a:avLst>
              <a:gd name="adj" fmla="val 40000"/>
            </a:avLst>
          </a:prstGeom>
          <a:solidFill xmlns:a="http://schemas.openxmlformats.org/drawingml/2006/main">
            <a:srgbClr val="2F8B5B"/>
          </a:solidFill>
          <a:ln xmlns:a="http://schemas.openxmlformats.org/drawingml/2006/main" w="0">
            <a:solidFill>
              <a:srgbClr val="2F8B5B"/>
            </a:solidFill>
            <a:prstDash val="solid"/>
          </a:ln>
        </p:spPr>
      </p:sp>
      <p:sp>
        <p:nvSpPr>
          <p:cNvPr id="10" name="">
            <a:extLst xmlns:a="http://schemas.openxmlformats.org/drawingml/2006/main">
              <a:ext uri="{FF2B5EF4-FFF2-40B4-BE49-F238E27FC236}">
                <a16:creationId xmlns:a16="http://schemas.microsoft.com/office/drawing/2014/main" id="{A7E34059-7F3E-4BD3-9908-C494DD1A82F9}"/>
              </a:ext>
            </a:extLst>
          </p:cNvPr>
          <p:cNvSpPr>
            <a:spLocks xmlns:a="http://schemas.openxmlformats.org/drawingml/2006/main" noGrp="1"/>
          </p:cNvSpPr>
          <p:nvPr/>
        </p:nvSpPr>
        <p:spPr>
          <a:xfrm xmlns:a="http://schemas.openxmlformats.org/drawingml/2006/main">
            <a:off x="6924675" y="14097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Financial statements</a:t>
            </a:r>
          </a:p>
        </p:txBody>
      </p:sp>
      <p:sp>
        <p:nvSpPr>
          <p:cNvPr id="11" name="">
            <a:extLst xmlns:a="http://schemas.openxmlformats.org/drawingml/2006/main">
              <a:ext uri="{FF2B5EF4-FFF2-40B4-BE49-F238E27FC236}">
                <a16:creationId xmlns:a16="http://schemas.microsoft.com/office/drawing/2014/main" id="{09BEF0E9-926D-41CB-85D5-D141D9E85625}"/>
              </a:ext>
            </a:extLst>
          </p:cNvPr>
          <p:cNvSpPr>
            <a:spLocks xmlns:a="http://schemas.openxmlformats.org/drawingml/2006/main" noGrp="1"/>
          </p:cNvSpPr>
          <p:nvPr/>
        </p:nvSpPr>
        <p:spPr>
          <a:xfrm xmlns:a="http://schemas.openxmlformats.org/drawingml/2006/main">
            <a:off x="6924675" y="17145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0">
                <a:solidFill>
                  <a:srgbClr val="5E748A"/>
                </a:solidFill>
                <a:latin typeface="Arial"/>
                <a:ea typeface="Arial"/>
                <a:cs typeface="Arial"/>
              </a:defRPr>
            </a:pPr>
            <a:r>
              <a:rPr sz="1200" b="0">
                <a:solidFill>
                  <a:srgbClr val="5E748A"/>
                </a:solidFill>
                <a:latin typeface="Arial"/>
                <a:ea typeface="Arial"/>
                <a:cs typeface="Arial"/>
              </a:rPr>
              <a:t>Exact historical values</a:t>
            </a:r>
          </a:p>
        </p:txBody>
      </p:sp>
      <p:sp>
        <p:nvSpPr>
          <p:cNvPr id="12" name="">
            <a:extLst xmlns:a="http://schemas.openxmlformats.org/drawingml/2006/main">
              <a:ext uri="{FF2B5EF4-FFF2-40B4-BE49-F238E27FC236}">
                <a16:creationId xmlns:a16="http://schemas.microsoft.com/office/drawing/2014/main" id="{BCD2E8B5-89E0-4A24-866A-A7263971F392}"/>
              </a:ext>
            </a:extLst>
          </p:cNvPr>
          <p:cNvSpPr>
            <a:spLocks xmlns:a="http://schemas.openxmlformats.org/drawingml/2006/main" noGrp="1"/>
          </p:cNvSpPr>
          <p:nvPr/>
        </p:nvSpPr>
        <p:spPr>
          <a:xfrm xmlns:a="http://schemas.openxmlformats.org/drawingml/2006/main">
            <a:off x="6667500" y="2305050"/>
            <a:ext cx="95250" cy="590550"/>
          </a:xfrm>
          <a:prstGeom xmlns:a="http://schemas.openxmlformats.org/drawingml/2006/main" prst="roundRect">
            <a:avLst>
              <a:gd name="adj" fmla="val 40000"/>
            </a:avLst>
          </a:prstGeom>
          <a:solidFill xmlns:a="http://schemas.openxmlformats.org/drawingml/2006/main">
            <a:srgbClr val="3976B9"/>
          </a:solidFill>
          <a:ln xmlns:a="http://schemas.openxmlformats.org/drawingml/2006/main" w="0">
            <a:solidFill>
              <a:srgbClr val="3976B9"/>
            </a:solidFill>
            <a:prstDash val="solid"/>
          </a:ln>
        </p:spPr>
      </p:sp>
      <p:sp>
        <p:nvSpPr>
          <p:cNvPr id="13" name="">
            <a:extLst xmlns:a="http://schemas.openxmlformats.org/drawingml/2006/main">
              <a:ext uri="{FF2B5EF4-FFF2-40B4-BE49-F238E27FC236}">
                <a16:creationId xmlns:a16="http://schemas.microsoft.com/office/drawing/2014/main" id="{154CC73C-66E2-4CB8-814D-A95A9E674561}"/>
              </a:ext>
            </a:extLst>
          </p:cNvPr>
          <p:cNvSpPr>
            <a:spLocks xmlns:a="http://schemas.openxmlformats.org/drawingml/2006/main" noGrp="1"/>
          </p:cNvSpPr>
          <p:nvPr/>
        </p:nvSpPr>
        <p:spPr>
          <a:xfrm xmlns:a="http://schemas.openxmlformats.org/drawingml/2006/main">
            <a:off x="6924675" y="22860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Earnings call transcripts</a:t>
            </a:r>
          </a:p>
        </p:txBody>
      </p:sp>
      <p:sp>
        <p:nvSpPr>
          <p:cNvPr id="14" name="">
            <a:extLst xmlns:a="http://schemas.openxmlformats.org/drawingml/2006/main">
              <a:ext uri="{FF2B5EF4-FFF2-40B4-BE49-F238E27FC236}">
                <a16:creationId xmlns:a16="http://schemas.microsoft.com/office/drawing/2014/main" id="{FD4CBF45-901D-4126-AC5E-E3B397870F62}"/>
              </a:ext>
            </a:extLst>
          </p:cNvPr>
          <p:cNvSpPr>
            <a:spLocks xmlns:a="http://schemas.openxmlformats.org/drawingml/2006/main" noGrp="1"/>
          </p:cNvSpPr>
          <p:nvPr/>
        </p:nvSpPr>
        <p:spPr>
          <a:xfrm xmlns:a="http://schemas.openxmlformats.org/drawingml/2006/main">
            <a:off x="6924675" y="2590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0">
                <a:solidFill>
                  <a:srgbClr val="5E748A"/>
                </a:solidFill>
                <a:latin typeface="Arial"/>
                <a:ea typeface="Arial"/>
                <a:cs typeface="Arial"/>
              </a:defRPr>
            </a:pPr>
            <a:r>
              <a:rPr sz="1200" b="0">
                <a:solidFill>
                  <a:srgbClr val="5E748A"/>
                </a:solidFill>
                <a:latin typeface="Arial"/>
                <a:ea typeface="Arial"/>
                <a:cs typeface="Arial"/>
              </a:rPr>
              <a:t>Attributed management commentary</a:t>
            </a:r>
          </a:p>
        </p:txBody>
      </p:sp>
      <p:sp>
        <p:nvSpPr>
          <p:cNvPr id="15" name="">
            <a:extLst xmlns:a="http://schemas.openxmlformats.org/drawingml/2006/main">
              <a:ext uri="{FF2B5EF4-FFF2-40B4-BE49-F238E27FC236}">
                <a16:creationId xmlns:a16="http://schemas.microsoft.com/office/drawing/2014/main" id="{6993A046-F8E1-4E48-828F-283D9F93BAAC}"/>
              </a:ext>
            </a:extLst>
          </p:cNvPr>
          <p:cNvSpPr>
            <a:spLocks xmlns:a="http://schemas.openxmlformats.org/drawingml/2006/main" noGrp="1"/>
          </p:cNvSpPr>
          <p:nvPr/>
        </p:nvSpPr>
        <p:spPr>
          <a:xfrm xmlns:a="http://schemas.openxmlformats.org/drawingml/2006/main">
            <a:off x="6667500" y="3181350"/>
            <a:ext cx="95250" cy="590550"/>
          </a:xfrm>
          <a:prstGeom xmlns:a="http://schemas.openxmlformats.org/drawingml/2006/main" prst="roundRect">
            <a:avLst>
              <a:gd name="adj" fmla="val 40000"/>
            </a:avLst>
          </a:prstGeom>
          <a:solidFill xmlns:a="http://schemas.openxmlformats.org/drawingml/2006/main">
            <a:srgbClr val="D28A1D"/>
          </a:solidFill>
          <a:ln xmlns:a="http://schemas.openxmlformats.org/drawingml/2006/main" w="0">
            <a:solidFill>
              <a:srgbClr val="D28A1D"/>
            </a:solidFill>
            <a:prstDash val="solid"/>
          </a:ln>
        </p:spPr>
      </p:sp>
      <p:sp>
        <p:nvSpPr>
          <p:cNvPr id="16" name="">
            <a:extLst xmlns:a="http://schemas.openxmlformats.org/drawingml/2006/main">
              <a:ext uri="{FF2B5EF4-FFF2-40B4-BE49-F238E27FC236}">
                <a16:creationId xmlns:a16="http://schemas.microsoft.com/office/drawing/2014/main" id="{10A6EABA-F23A-47C6-90C1-9F8E4A788213}"/>
              </a:ext>
            </a:extLst>
          </p:cNvPr>
          <p:cNvSpPr>
            <a:spLocks xmlns:a="http://schemas.openxmlformats.org/drawingml/2006/main" noGrp="1"/>
          </p:cNvSpPr>
          <p:nvPr/>
        </p:nvSpPr>
        <p:spPr>
          <a:xfrm xmlns:a="http://schemas.openxmlformats.org/drawingml/2006/main">
            <a:off x="6924675" y="31623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Current news</a:t>
            </a:r>
          </a:p>
        </p:txBody>
      </p:sp>
      <p:sp>
        <p:nvSpPr>
          <p:cNvPr id="17" name="">
            <a:extLst xmlns:a="http://schemas.openxmlformats.org/drawingml/2006/main">
              <a:ext uri="{FF2B5EF4-FFF2-40B4-BE49-F238E27FC236}">
                <a16:creationId xmlns:a16="http://schemas.microsoft.com/office/drawing/2014/main" id="{9B9CE6C0-FBB7-4280-8983-7E34C9B4C7FD}"/>
              </a:ext>
            </a:extLst>
          </p:cNvPr>
          <p:cNvSpPr>
            <a:spLocks xmlns:a="http://schemas.openxmlformats.org/drawingml/2006/main" noGrp="1"/>
          </p:cNvSpPr>
          <p:nvPr/>
        </p:nvSpPr>
        <p:spPr>
          <a:xfrm xmlns:a="http://schemas.openxmlformats.org/drawingml/2006/main">
            <a:off x="6924675" y="34671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0">
                <a:solidFill>
                  <a:srgbClr val="5E748A"/>
                </a:solidFill>
                <a:latin typeface="Arial"/>
                <a:ea typeface="Arial"/>
                <a:cs typeface="Arial"/>
              </a:defRPr>
            </a:pPr>
            <a:r>
              <a:rPr sz="1200" b="0">
                <a:solidFill>
                  <a:srgbClr val="5E748A"/>
                </a:solidFill>
                <a:latin typeface="Arial"/>
                <a:ea typeface="Arial"/>
                <a:cs typeface="Arial"/>
              </a:rPr>
              <a:t>Recent external developments</a:t>
            </a:r>
          </a:p>
        </p:txBody>
      </p:sp>
      <p:sp>
        <p:nvSpPr>
          <p:cNvPr id="18" name="">
            <a:extLst xmlns:a="http://schemas.openxmlformats.org/drawingml/2006/main">
              <a:ext uri="{FF2B5EF4-FFF2-40B4-BE49-F238E27FC236}">
                <a16:creationId xmlns:a16="http://schemas.microsoft.com/office/drawing/2014/main" id="{CA7A320C-C93E-4567-A08A-B1B0468F2ADC}"/>
              </a:ext>
            </a:extLst>
          </p:cNvPr>
          <p:cNvSpPr>
            <a:spLocks xmlns:a="http://schemas.openxmlformats.org/drawingml/2006/main" noGrp="1"/>
          </p:cNvSpPr>
          <p:nvPr/>
        </p:nvSpPr>
        <p:spPr>
          <a:xfrm xmlns:a="http://schemas.openxmlformats.org/drawingml/2006/main">
            <a:off x="6667500" y="4057650"/>
            <a:ext cx="95250" cy="590550"/>
          </a:xfrm>
          <a:prstGeom xmlns:a="http://schemas.openxmlformats.org/drawingml/2006/main" prst="roundRect">
            <a:avLst>
              <a:gd name="adj" fmla="val 40000"/>
            </a:avLst>
          </a:prstGeom>
          <a:solidFill xmlns:a="http://schemas.openxmlformats.org/drawingml/2006/main">
            <a:srgbClr val="C94A4A"/>
          </a:solidFill>
          <a:ln xmlns:a="http://schemas.openxmlformats.org/drawingml/2006/main" w="0">
            <a:solidFill>
              <a:srgbClr val="C94A4A"/>
            </a:solidFill>
            <a:prstDash val="solid"/>
          </a:ln>
        </p:spPr>
      </p:sp>
      <p:sp>
        <p:nvSpPr>
          <p:cNvPr id="19" name="">
            <a:extLst xmlns:a="http://schemas.openxmlformats.org/drawingml/2006/main">
              <a:ext uri="{FF2B5EF4-FFF2-40B4-BE49-F238E27FC236}">
                <a16:creationId xmlns:a16="http://schemas.microsoft.com/office/drawing/2014/main" id="{50C514AA-30B7-40B5-B661-079FB436D0C6}"/>
              </a:ext>
            </a:extLst>
          </p:cNvPr>
          <p:cNvSpPr>
            <a:spLocks xmlns:a="http://schemas.openxmlformats.org/drawingml/2006/main" noGrp="1"/>
          </p:cNvSpPr>
          <p:nvPr/>
        </p:nvSpPr>
        <p:spPr>
          <a:xfrm xmlns:a="http://schemas.openxmlformats.org/drawingml/2006/main">
            <a:off x="6924675" y="40386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Analyst ratings</a:t>
            </a:r>
          </a:p>
        </p:txBody>
      </p:sp>
      <p:sp>
        <p:nvSpPr>
          <p:cNvPr id="20" name="">
            <a:extLst xmlns:a="http://schemas.openxmlformats.org/drawingml/2006/main">
              <a:ext uri="{FF2B5EF4-FFF2-40B4-BE49-F238E27FC236}">
                <a16:creationId xmlns:a16="http://schemas.microsoft.com/office/drawing/2014/main" id="{6C4CD473-5865-4A1C-817C-678287E845A5}"/>
              </a:ext>
            </a:extLst>
          </p:cNvPr>
          <p:cNvSpPr>
            <a:spLocks xmlns:a="http://schemas.openxmlformats.org/drawingml/2006/main" noGrp="1"/>
          </p:cNvSpPr>
          <p:nvPr/>
        </p:nvSpPr>
        <p:spPr>
          <a:xfrm xmlns:a="http://schemas.openxmlformats.org/drawingml/2006/main">
            <a:off x="6924675" y="43434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0">
                <a:solidFill>
                  <a:srgbClr val="5E748A"/>
                </a:solidFill>
                <a:latin typeface="Arial"/>
                <a:ea typeface="Arial"/>
                <a:cs typeface="Arial"/>
              </a:defRPr>
            </a:pPr>
            <a:r>
              <a:rPr sz="1200" b="0">
                <a:solidFill>
                  <a:srgbClr val="5E748A"/>
                </a:solidFill>
                <a:latin typeface="Arial"/>
                <a:ea typeface="Arial"/>
                <a:cs typeface="Arial"/>
              </a:rPr>
              <a:t>Outside recommendation distribution</a:t>
            </a:r>
          </a:p>
        </p:txBody>
      </p:sp>
      <p:sp>
        <p:nvSpPr>
          <p:cNvPr id="21" name="">
            <a:extLst xmlns:a="http://schemas.openxmlformats.org/drawingml/2006/main">
              <a:ext uri="{FF2B5EF4-FFF2-40B4-BE49-F238E27FC236}">
                <a16:creationId xmlns:a16="http://schemas.microsoft.com/office/drawing/2014/main" id="{CC761437-6420-4293-BC60-5CAB3A8010EC}"/>
              </a:ext>
            </a:extLst>
          </p:cNvPr>
          <p:cNvSpPr>
            <a:spLocks xmlns:a="http://schemas.openxmlformats.org/drawingml/2006/main" noGrp="1"/>
          </p:cNvSpPr>
          <p:nvPr/>
        </p:nvSpPr>
        <p:spPr>
          <a:xfrm xmlns:a="http://schemas.openxmlformats.org/drawingml/2006/main">
            <a:off x="647700" y="4714875"/>
            <a:ext cx="10334625" cy="1123950"/>
          </a:xfrm>
          <a:prstGeom xmlns:a="http://schemas.openxmlformats.org/drawingml/2006/main" prst="roundRect">
            <a:avLst>
              <a:gd name="adj" fmla="val 10169"/>
            </a:avLst>
          </a:prstGeom>
          <a:solidFill xmlns:a="http://schemas.openxmlformats.org/drawingml/2006/main">
            <a:srgbClr val="E6F6F4"/>
          </a:solidFill>
          <a:ln xmlns:a="http://schemas.openxmlformats.org/drawingml/2006/main" w="9525">
            <a:solidFill>
              <a:srgbClr val="009B96"/>
            </a:solidFill>
            <a:prstDash val="solid"/>
          </a:ln>
        </p:spPr>
      </p:sp>
      <p:sp>
        <p:nvSpPr>
          <p:cNvPr id="22" name="">
            <a:extLst xmlns:a="http://schemas.openxmlformats.org/drawingml/2006/main">
              <a:ext uri="{FF2B5EF4-FFF2-40B4-BE49-F238E27FC236}">
                <a16:creationId xmlns:a16="http://schemas.microsoft.com/office/drawing/2014/main" id="{23080591-B97A-4760-BBAC-924557011A74}"/>
              </a:ext>
            </a:extLst>
          </p:cNvPr>
          <p:cNvSpPr>
            <a:spLocks xmlns:a="http://schemas.openxmlformats.org/drawingml/2006/main" noGrp="1"/>
          </p:cNvSpPr>
          <p:nvPr/>
        </p:nvSpPr>
        <p:spPr>
          <a:xfrm xmlns:a="http://schemas.openxmlformats.org/drawingml/2006/main">
            <a:off x="876300" y="48863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009B96"/>
                </a:solidFill>
                <a:latin typeface="Arial"/>
                <a:ea typeface="Arial"/>
                <a:cs typeface="Arial"/>
              </a:defRPr>
            </a:pPr>
            <a:r>
              <a:rPr sz="1200" b="1">
                <a:solidFill>
                  <a:srgbClr val="009B96"/>
                </a:solidFill>
                <a:latin typeface="Arial"/>
                <a:ea typeface="Arial"/>
                <a:cs typeface="Arial"/>
              </a:rPr>
              <a:t>Intended user</a:t>
            </a:r>
          </a:p>
        </p:txBody>
      </p:sp>
      <p:sp>
        <p:nvSpPr>
          <p:cNvPr id="23" name="">
            <a:extLst xmlns:a="http://schemas.openxmlformats.org/drawingml/2006/main">
              <a:ext uri="{FF2B5EF4-FFF2-40B4-BE49-F238E27FC236}">
                <a16:creationId xmlns:a16="http://schemas.microsoft.com/office/drawing/2014/main" id="{84FF7ADE-28AE-4DC1-9A5D-43A0495F91DC}"/>
              </a:ext>
            </a:extLst>
          </p:cNvPr>
          <p:cNvSpPr>
            <a:spLocks xmlns:a="http://schemas.openxmlformats.org/drawingml/2006/main" noGrp="1"/>
          </p:cNvSpPr>
          <p:nvPr/>
        </p:nvSpPr>
        <p:spPr>
          <a:xfrm xmlns:a="http://schemas.openxmlformats.org/drawingml/2006/main">
            <a:off x="876300" y="5219700"/>
            <a:ext cx="9810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88" b="0">
                <a:solidFill>
                  <a:srgbClr val="17324D"/>
                </a:solidFill>
                <a:latin typeface="Arial"/>
                <a:ea typeface="Arial"/>
                <a:cs typeface="Arial"/>
              </a:defRPr>
            </a:pPr>
            <a:r>
              <a:rPr sz="1388" b="0">
                <a:solidFill>
                  <a:srgbClr val="17324D"/>
                </a:solidFill>
                <a:latin typeface="Arial"/>
                <a:ea typeface="Arial"/>
                <a:cs typeface="Arial"/>
              </a:rPr>
              <a:t>Retail investors, finance students, and junior analysts can use the report as a disciplined research starting point. The system does not provide personalized financial advice, choose a trade, or predict a target price.</a:t>
            </a:r>
          </a:p>
        </p:txBody>
      </p:sp>
    </p:spTree>
    <p:extLst>
      <p:ext uri="{BB962C8B-B14F-4D97-AF65-F5344CB8AC3E}">
        <p14:creationId xmlns:p14="http://schemas.microsoft.com/office/powerpoint/2010/main" val="2042015150"/>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2CCF140-9FFF-42FF-B93A-0073DDD9498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921BBBC0-D20D-406C-BF7C-F298A53C0262}"/>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What the system produces</a:t>
            </a:r>
          </a:p>
        </p:txBody>
      </p:sp>
      <p:sp>
        <p:nvSpPr>
          <p:cNvPr id="3" name="">
            <a:extLst xmlns:a="http://schemas.openxmlformats.org/drawingml/2006/main">
              <a:ext uri="{FF2B5EF4-FFF2-40B4-BE49-F238E27FC236}">
                <a16:creationId xmlns:a16="http://schemas.microsoft.com/office/drawing/2014/main" id="{1ECD3639-FA35-491C-8960-40AE1EDE4F7E}"/>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final report combines evidence, analysis, and a controlled release decision.</a:t>
            </a:r>
          </a:p>
        </p:txBody>
      </p:sp>
      <p:sp>
        <p:nvSpPr>
          <p:cNvPr id="4" name="">
            <a:extLst xmlns:a="http://schemas.openxmlformats.org/drawingml/2006/main">
              <a:ext uri="{FF2B5EF4-FFF2-40B4-BE49-F238E27FC236}">
                <a16:creationId xmlns:a16="http://schemas.microsoft.com/office/drawing/2014/main" id="{A90D571F-8B7B-4131-BF84-725B7C2D5D8F}"/>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9C23D1E0-C470-4551-899A-02E9E5CF63DD}"/>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40AF46DE-2B08-41AB-B1FE-C7AB4CA4CEB5}"/>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4A80A825-F0C0-4DBE-80D1-7F68FC77A321}"/>
              </a:ext>
            </a:extLst>
          </p:cNvPr>
          <p:cNvSpPr>
            <a:spLocks xmlns:a="http://schemas.openxmlformats.org/drawingml/2006/main" noGrp="1"/>
          </p:cNvSpPr>
          <p:nvPr/>
        </p:nvSpPr>
        <p:spPr>
          <a:xfrm xmlns:a="http://schemas.openxmlformats.org/drawingml/2006/main">
            <a:off x="685800" y="14287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009B96"/>
                </a:solidFill>
                <a:latin typeface="Arial"/>
                <a:ea typeface="Arial"/>
                <a:cs typeface="Arial"/>
              </a:defRPr>
            </a:pPr>
            <a:r>
              <a:rPr sz="1275" b="1">
                <a:solidFill>
                  <a:srgbClr val="009B96"/>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875AE10E-9C44-404C-90DD-C4348E7EDF4E}"/>
              </a:ext>
            </a:extLst>
          </p:cNvPr>
          <p:cNvSpPr>
            <a:spLocks xmlns:a="http://schemas.openxmlformats.org/drawingml/2006/main" noGrp="1"/>
          </p:cNvSpPr>
          <p:nvPr/>
        </p:nvSpPr>
        <p:spPr>
          <a:xfrm xmlns:a="http://schemas.openxmlformats.org/drawingml/2006/main">
            <a:off x="685800" y="1809750"/>
            <a:ext cx="238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00" b="0">
                <a:solidFill>
                  <a:srgbClr val="17324D"/>
                </a:solidFill>
                <a:latin typeface="Arial"/>
                <a:ea typeface="Arial"/>
                <a:cs typeface="Arial"/>
              </a:defRPr>
            </a:pPr>
            <a:r>
              <a:rPr sz="1500" b="0">
                <a:solidFill>
                  <a:srgbClr val="17324D"/>
                </a:solidFill>
                <a:latin typeface="Arial"/>
                <a:ea typeface="Arial"/>
                <a:cs typeface="Arial"/>
              </a:rPr>
              <a:t>A ticker, a research question, and an optional as-of period define one analysis window.</a:t>
            </a:r>
          </a:p>
        </p:txBody>
      </p:sp>
      <p:sp>
        <p:nvSpPr>
          <p:cNvPr id="9" name="">
            <a:extLst xmlns:a="http://schemas.openxmlformats.org/drawingml/2006/main">
              <a:ext uri="{FF2B5EF4-FFF2-40B4-BE49-F238E27FC236}">
                <a16:creationId xmlns:a16="http://schemas.microsoft.com/office/drawing/2014/main" id="{93BB9611-2FC0-4B96-882F-12EBF0A3A02D}"/>
              </a:ext>
            </a:extLst>
          </p:cNvPr>
          <p:cNvSpPr>
            <a:spLocks xmlns:a="http://schemas.openxmlformats.org/drawingml/2006/main" noGrp="1"/>
          </p:cNvSpPr>
          <p:nvPr/>
        </p:nvSpPr>
        <p:spPr>
          <a:xfrm xmlns:a="http://schemas.openxmlformats.org/drawingml/2006/main">
            <a:off x="819150" y="3143250"/>
            <a:ext cx="2047875" cy="1143000"/>
          </a:xfrm>
          <a:prstGeom xmlns:a="http://schemas.openxmlformats.org/drawingml/2006/main" prst="roundRect">
            <a:avLst>
              <a:gd name="adj" fmla="val 13333"/>
            </a:avLst>
          </a:prstGeom>
          <a:solidFill xmlns:a="http://schemas.openxmlformats.org/drawingml/2006/main">
            <a:srgbClr val="E6F6F4"/>
          </a:solidFill>
          <a:ln xmlns:a="http://schemas.openxmlformats.org/drawingml/2006/main" w="9525">
            <a:solidFill>
              <a:srgbClr val="009B96"/>
            </a:solidFill>
            <a:prstDash val="solid"/>
          </a:ln>
        </p:spPr>
      </p:sp>
      <p:sp>
        <p:nvSpPr>
          <p:cNvPr id="10" name="">
            <a:extLst xmlns:a="http://schemas.openxmlformats.org/drawingml/2006/main">
              <a:ext uri="{FF2B5EF4-FFF2-40B4-BE49-F238E27FC236}">
                <a16:creationId xmlns:a16="http://schemas.microsoft.com/office/drawing/2014/main" id="{0FA3AE56-713C-4398-873E-FD51C68AF6BF}"/>
              </a:ext>
            </a:extLst>
          </p:cNvPr>
          <p:cNvSpPr>
            <a:spLocks xmlns:a="http://schemas.openxmlformats.org/drawingml/2006/main" noGrp="1"/>
          </p:cNvSpPr>
          <p:nvPr/>
        </p:nvSpPr>
        <p:spPr>
          <a:xfrm xmlns:a="http://schemas.openxmlformats.org/drawingml/2006/main">
            <a:off x="990600" y="3333750"/>
            <a:ext cx="16954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350" b="1">
                <a:solidFill>
                  <a:srgbClr val="103A5C"/>
                </a:solidFill>
                <a:latin typeface="Arial"/>
                <a:ea typeface="Arial"/>
                <a:cs typeface="Arial"/>
              </a:defRPr>
            </a:pPr>
            <a:r>
              <a:rPr sz="1350" b="1">
                <a:solidFill>
                  <a:srgbClr val="103A5C"/>
                </a:solidFill>
                <a:latin typeface="Arial"/>
                <a:ea typeface="Arial"/>
                <a:cs typeface="Arial"/>
              </a:rPr>
              <a:t>NVDA</a:t>
            </a:r>
          </a:p>
          <a:p xmlns:a="http://schemas.openxmlformats.org/drawingml/2006/main">
            <a:pPr algn="ctr">
              <a:buNone/>
              <a:defRPr sz="1350" b="1">
                <a:solidFill>
                  <a:srgbClr val="103A5C"/>
                </a:solidFill>
                <a:latin typeface="Arial"/>
                <a:ea typeface="Arial"/>
                <a:cs typeface="Arial"/>
              </a:defRPr>
            </a:pPr>
            <a:r>
              <a:rPr sz="1350" b="1">
                <a:solidFill>
                  <a:srgbClr val="103A5C"/>
                </a:solidFill>
                <a:latin typeface="Arial"/>
                <a:ea typeface="Arial"/>
                <a:cs typeface="Arial"/>
              </a:rPr>
              <a:t>Latest quarter plus three prior quarters</a:t>
            </a:r>
          </a:p>
        </p:txBody>
      </p:sp>
      <p:sp>
        <p:nvSpPr>
          <p:cNvPr id="11" name="">
            <a:extLst xmlns:a="http://schemas.openxmlformats.org/drawingml/2006/main">
              <a:ext uri="{FF2B5EF4-FFF2-40B4-BE49-F238E27FC236}">
                <a16:creationId xmlns:a16="http://schemas.microsoft.com/office/drawing/2014/main" id="{B00AE6F6-9B47-43E1-88B6-9A2C948B446C}"/>
              </a:ext>
            </a:extLst>
          </p:cNvPr>
          <p:cNvSpPr>
            <a:spLocks xmlns:a="http://schemas.openxmlformats.org/drawingml/2006/main" noGrp="1"/>
          </p:cNvSpPr>
          <p:nvPr/>
        </p:nvSpPr>
        <p:spPr>
          <a:xfrm xmlns:a="http://schemas.openxmlformats.org/drawingml/2006/main">
            <a:off x="4095750" y="1381125"/>
            <a:ext cx="6858000" cy="43434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11430">
            <a:solidFill>
              <a:srgbClr val="D5E0EA"/>
            </a:solidFill>
            <a:prstDash val="solid"/>
          </a:ln>
        </p:spPr>
      </p:sp>
      <p:cxnSp>
        <p:nvCxnSpPr>
          <p:cNvPr id="51" name=""/>
          <p:cNvCxnSpPr>
            <a:stCxn xmlns:a="http://schemas.openxmlformats.org/drawingml/2006/main" id="9" idx="3"/>
            <a:endCxn xmlns:a="http://schemas.openxmlformats.org/drawingml/2006/main" id="11" idx="1"/>
          </p:cNvCxnSpPr>
          <p:nvPr/>
        </p:nvCxnSpPr>
        <p:spPr>
          <a:xfrm xmlns:a="http://schemas.openxmlformats.org/drawingml/2006/main" flipV="1">
            <a:off x="2867025" y="3552825"/>
            <a:ext cx="1228725" cy="161925"/>
          </a:xfrm>
          <a:prstGeom xmlns:a="http://schemas.openxmlformats.org/drawingml/2006/main" prst="straightConnector1">
            <a:avLst/>
          </a:prstGeom>
          <a:ln xmlns:a="http://schemas.openxmlformats.org/drawingml/2006/main" w="19050">
            <a:solidFill>
              <a:srgbClr val="009B96"/>
            </a:solidFill>
            <a:prstDash val="solid"/>
            <a:tailEnd type="triangle" w="sm" len="sm"/>
          </a:ln>
        </p:spPr>
      </p:cxnSp>
      <p:sp>
        <p:nvSpPr>
          <p:cNvPr id="13" name="">
            <a:extLst xmlns:a="http://schemas.openxmlformats.org/drawingml/2006/main">
              <a:ext uri="{FF2B5EF4-FFF2-40B4-BE49-F238E27FC236}">
                <a16:creationId xmlns:a16="http://schemas.microsoft.com/office/drawing/2014/main" id="{004730B6-D2AD-4558-8DD4-EA562F0ED284}"/>
              </a:ext>
            </a:extLst>
          </p:cNvPr>
          <p:cNvSpPr>
            <a:spLocks xmlns:a="http://schemas.openxmlformats.org/drawingml/2006/main" noGrp="1"/>
          </p:cNvSpPr>
          <p:nvPr/>
        </p:nvSpPr>
        <p:spPr>
          <a:xfrm xmlns:a="http://schemas.openxmlformats.org/drawingml/2006/main">
            <a:off x="4400550" y="158115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025" b="1">
                <a:solidFill>
                  <a:srgbClr val="103A5C"/>
                </a:solidFill>
                <a:latin typeface="Arial"/>
                <a:ea typeface="Arial"/>
                <a:cs typeface="Arial"/>
              </a:defRPr>
            </a:pPr>
            <a:r>
              <a:rPr sz="2025" b="1">
                <a:solidFill>
                  <a:srgbClr val="103A5C"/>
                </a:solidFill>
                <a:latin typeface="Arial"/>
                <a:ea typeface="Arial"/>
                <a:cs typeface="Arial"/>
              </a:rPr>
              <a:t>Research report</a:t>
            </a:r>
          </a:p>
        </p:txBody>
      </p:sp>
      <p:sp>
        <p:nvSpPr>
          <p:cNvPr id="14" name="">
            <a:extLst xmlns:a="http://schemas.openxmlformats.org/drawingml/2006/main">
              <a:ext uri="{FF2B5EF4-FFF2-40B4-BE49-F238E27FC236}">
                <a16:creationId xmlns:a16="http://schemas.microsoft.com/office/drawing/2014/main" id="{FDE8FDE4-0E08-4CD2-BABE-F3753187E82F}"/>
              </a:ext>
            </a:extLst>
          </p:cNvPr>
          <p:cNvSpPr>
            <a:spLocks xmlns:a="http://schemas.openxmlformats.org/drawingml/2006/main" noGrp="1"/>
          </p:cNvSpPr>
          <p:nvPr/>
        </p:nvSpPr>
        <p:spPr>
          <a:xfrm xmlns:a="http://schemas.openxmlformats.org/drawingml/2006/main">
            <a:off x="4457700" y="2143125"/>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3976B9"/>
                </a:solidFill>
                <a:latin typeface="Arial"/>
                <a:ea typeface="Arial"/>
                <a:cs typeface="Arial"/>
              </a:defRPr>
            </a:pPr>
            <a:r>
              <a:rPr sz="1200" b="1">
                <a:solidFill>
                  <a:srgbClr val="3976B9"/>
                </a:solidFill>
                <a:latin typeface="Arial"/>
                <a:ea typeface="Arial"/>
                <a:cs typeface="Arial"/>
              </a:rPr>
              <a:t>Financial analysis</a:t>
            </a:r>
          </a:p>
        </p:txBody>
      </p:sp>
      <p:sp>
        <p:nvSpPr>
          <p:cNvPr id="15" name="">
            <a:extLst xmlns:a="http://schemas.openxmlformats.org/drawingml/2006/main">
              <a:ext uri="{FF2B5EF4-FFF2-40B4-BE49-F238E27FC236}">
                <a16:creationId xmlns:a16="http://schemas.microsoft.com/office/drawing/2014/main" id="{1F1274CB-E801-429C-9ADB-FD21FC145434}"/>
              </a:ext>
            </a:extLst>
          </p:cNvPr>
          <p:cNvSpPr>
            <a:spLocks xmlns:a="http://schemas.openxmlformats.org/drawingml/2006/main" noGrp="1"/>
          </p:cNvSpPr>
          <p:nvPr/>
        </p:nvSpPr>
        <p:spPr>
          <a:xfrm xmlns:a="http://schemas.openxmlformats.org/drawingml/2006/main">
            <a:off x="6743700" y="214312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38" b="0">
                <a:solidFill>
                  <a:srgbClr val="17324D"/>
                </a:solidFill>
                <a:latin typeface="Arial"/>
                <a:ea typeface="Arial"/>
                <a:cs typeface="Arial"/>
              </a:defRPr>
            </a:pPr>
            <a:r>
              <a:rPr sz="1238" b="0">
                <a:solidFill>
                  <a:srgbClr val="17324D"/>
                </a:solidFill>
                <a:latin typeface="Arial"/>
                <a:ea typeface="Arial"/>
                <a:cs typeface="Arial"/>
              </a:rPr>
              <a:t>Charts and period comparisons come from deterministic calculations.</a:t>
            </a:r>
          </a:p>
        </p:txBody>
      </p:sp>
      <p:sp>
        <p:nvSpPr>
          <p:cNvPr id="16" name="">
            <a:extLst xmlns:a="http://schemas.openxmlformats.org/drawingml/2006/main">
              <a:ext uri="{FF2B5EF4-FFF2-40B4-BE49-F238E27FC236}">
                <a16:creationId xmlns:a16="http://schemas.microsoft.com/office/drawing/2014/main" id="{48F88115-D8EB-42E8-A2F1-370F3CFA2100}"/>
              </a:ext>
            </a:extLst>
          </p:cNvPr>
          <p:cNvSpPr>
            <a:spLocks xmlns:a="http://schemas.openxmlformats.org/drawingml/2006/main" noGrp="1"/>
          </p:cNvSpPr>
          <p:nvPr/>
        </p:nvSpPr>
        <p:spPr>
          <a:xfrm xmlns:a="http://schemas.openxmlformats.org/drawingml/2006/main">
            <a:off x="4457700" y="2647950"/>
            <a:ext cx="615315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7" name="">
            <a:extLst xmlns:a="http://schemas.openxmlformats.org/drawingml/2006/main">
              <a:ext uri="{FF2B5EF4-FFF2-40B4-BE49-F238E27FC236}">
                <a16:creationId xmlns:a16="http://schemas.microsoft.com/office/drawing/2014/main" id="{95A5D9FF-804A-4F23-9D07-D8DB823306E2}"/>
              </a:ext>
            </a:extLst>
          </p:cNvPr>
          <p:cNvSpPr>
            <a:spLocks xmlns:a="http://schemas.openxmlformats.org/drawingml/2006/main" noGrp="1"/>
          </p:cNvSpPr>
          <p:nvPr/>
        </p:nvSpPr>
        <p:spPr>
          <a:xfrm xmlns:a="http://schemas.openxmlformats.org/drawingml/2006/main">
            <a:off x="4457700" y="2809875"/>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009B96"/>
                </a:solidFill>
                <a:latin typeface="Arial"/>
                <a:ea typeface="Arial"/>
                <a:cs typeface="Arial"/>
              </a:defRPr>
            </a:pPr>
            <a:r>
              <a:rPr sz="1200" b="1">
                <a:solidFill>
                  <a:srgbClr val="009B96"/>
                </a:solidFill>
                <a:latin typeface="Arial"/>
                <a:ea typeface="Arial"/>
                <a:cs typeface="Arial"/>
              </a:rPr>
              <a:t>Bull, bear, and risk cases</a:t>
            </a:r>
          </a:p>
        </p:txBody>
      </p:sp>
      <p:sp>
        <p:nvSpPr>
          <p:cNvPr id="18" name="">
            <a:extLst xmlns:a="http://schemas.openxmlformats.org/drawingml/2006/main">
              <a:ext uri="{FF2B5EF4-FFF2-40B4-BE49-F238E27FC236}">
                <a16:creationId xmlns:a16="http://schemas.microsoft.com/office/drawing/2014/main" id="{BE44E004-F63D-401F-ABD1-530321352932}"/>
              </a:ext>
            </a:extLst>
          </p:cNvPr>
          <p:cNvSpPr>
            <a:spLocks xmlns:a="http://schemas.openxmlformats.org/drawingml/2006/main" noGrp="1"/>
          </p:cNvSpPr>
          <p:nvPr/>
        </p:nvSpPr>
        <p:spPr>
          <a:xfrm xmlns:a="http://schemas.openxmlformats.org/drawingml/2006/main">
            <a:off x="6743700" y="280987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38" b="0">
                <a:solidFill>
                  <a:srgbClr val="17324D"/>
                </a:solidFill>
                <a:latin typeface="Arial"/>
                <a:ea typeface="Arial"/>
                <a:cs typeface="Arial"/>
              </a:defRPr>
            </a:pPr>
            <a:r>
              <a:rPr sz="1238" b="0">
                <a:solidFill>
                  <a:srgbClr val="17324D"/>
                </a:solidFill>
                <a:latin typeface="Arial"/>
                <a:ea typeface="Arial"/>
                <a:cs typeface="Arial"/>
              </a:rPr>
              <a:t>Each thesis states a mechanism, supporting evidence, conditions, and a time horizon.</a:t>
            </a:r>
          </a:p>
        </p:txBody>
      </p:sp>
      <p:sp>
        <p:nvSpPr>
          <p:cNvPr id="19" name="">
            <a:extLst xmlns:a="http://schemas.openxmlformats.org/drawingml/2006/main">
              <a:ext uri="{FF2B5EF4-FFF2-40B4-BE49-F238E27FC236}">
                <a16:creationId xmlns:a16="http://schemas.microsoft.com/office/drawing/2014/main" id="{168BC76A-655E-44D1-A341-C8D3E296A3C8}"/>
              </a:ext>
            </a:extLst>
          </p:cNvPr>
          <p:cNvSpPr>
            <a:spLocks xmlns:a="http://schemas.openxmlformats.org/drawingml/2006/main" noGrp="1"/>
          </p:cNvSpPr>
          <p:nvPr/>
        </p:nvSpPr>
        <p:spPr>
          <a:xfrm xmlns:a="http://schemas.openxmlformats.org/drawingml/2006/main">
            <a:off x="4457700" y="3314700"/>
            <a:ext cx="615315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20" name="">
            <a:extLst xmlns:a="http://schemas.openxmlformats.org/drawingml/2006/main">
              <a:ext uri="{FF2B5EF4-FFF2-40B4-BE49-F238E27FC236}">
                <a16:creationId xmlns:a16="http://schemas.microsoft.com/office/drawing/2014/main" id="{FC9C30D1-9A31-4ECF-99F5-8AAF8752EFF5}"/>
              </a:ext>
            </a:extLst>
          </p:cNvPr>
          <p:cNvSpPr>
            <a:spLocks xmlns:a="http://schemas.openxmlformats.org/drawingml/2006/main" noGrp="1"/>
          </p:cNvSpPr>
          <p:nvPr/>
        </p:nvSpPr>
        <p:spPr>
          <a:xfrm xmlns:a="http://schemas.openxmlformats.org/drawingml/2006/main">
            <a:off x="4457700" y="3476625"/>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D28A1D"/>
                </a:solidFill>
                <a:latin typeface="Arial"/>
                <a:ea typeface="Arial"/>
                <a:cs typeface="Arial"/>
              </a:defRPr>
            </a:pPr>
            <a:r>
              <a:rPr sz="1200" b="1">
                <a:solidFill>
                  <a:srgbClr val="D28A1D"/>
                </a:solidFill>
                <a:latin typeface="Arial"/>
                <a:ea typeface="Arial"/>
                <a:cs typeface="Arial"/>
              </a:rPr>
              <a:t>Management commentary</a:t>
            </a:r>
          </a:p>
        </p:txBody>
      </p:sp>
      <p:sp>
        <p:nvSpPr>
          <p:cNvPr id="21" name="">
            <a:extLst xmlns:a="http://schemas.openxmlformats.org/drawingml/2006/main">
              <a:ext uri="{FF2B5EF4-FFF2-40B4-BE49-F238E27FC236}">
                <a16:creationId xmlns:a16="http://schemas.microsoft.com/office/drawing/2014/main" id="{7B01D306-3A5F-4EF1-9CB0-C089C38F7F65}"/>
              </a:ext>
            </a:extLst>
          </p:cNvPr>
          <p:cNvSpPr>
            <a:spLocks xmlns:a="http://schemas.openxmlformats.org/drawingml/2006/main" noGrp="1"/>
          </p:cNvSpPr>
          <p:nvPr/>
        </p:nvSpPr>
        <p:spPr>
          <a:xfrm xmlns:a="http://schemas.openxmlformats.org/drawingml/2006/main">
            <a:off x="6743700" y="347662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38" b="0">
                <a:solidFill>
                  <a:srgbClr val="17324D"/>
                </a:solidFill>
                <a:latin typeface="Arial"/>
                <a:ea typeface="Arial"/>
                <a:cs typeface="Arial"/>
              </a:defRPr>
            </a:pPr>
            <a:r>
              <a:rPr sz="1238" b="0">
                <a:solidFill>
                  <a:srgbClr val="17324D"/>
                </a:solidFill>
                <a:latin typeface="Arial"/>
                <a:ea typeface="Arial"/>
                <a:cs typeface="Arial"/>
              </a:rPr>
              <a:t>Transcript statements remain attributed and conditional.</a:t>
            </a:r>
          </a:p>
        </p:txBody>
      </p:sp>
      <p:sp>
        <p:nvSpPr>
          <p:cNvPr id="22" name="">
            <a:extLst xmlns:a="http://schemas.openxmlformats.org/drawingml/2006/main">
              <a:ext uri="{FF2B5EF4-FFF2-40B4-BE49-F238E27FC236}">
                <a16:creationId xmlns:a16="http://schemas.microsoft.com/office/drawing/2014/main" id="{2E593C25-7FB3-4130-93F1-6DB625D3AD95}"/>
              </a:ext>
            </a:extLst>
          </p:cNvPr>
          <p:cNvSpPr>
            <a:spLocks xmlns:a="http://schemas.openxmlformats.org/drawingml/2006/main" noGrp="1"/>
          </p:cNvSpPr>
          <p:nvPr/>
        </p:nvSpPr>
        <p:spPr>
          <a:xfrm xmlns:a="http://schemas.openxmlformats.org/drawingml/2006/main">
            <a:off x="4457700" y="3981450"/>
            <a:ext cx="615315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23" name="">
            <a:extLst xmlns:a="http://schemas.openxmlformats.org/drawingml/2006/main">
              <a:ext uri="{FF2B5EF4-FFF2-40B4-BE49-F238E27FC236}">
                <a16:creationId xmlns:a16="http://schemas.microsoft.com/office/drawing/2014/main" id="{916B5FCE-DE76-439E-9D7D-AB4FFD6E309E}"/>
              </a:ext>
            </a:extLst>
          </p:cNvPr>
          <p:cNvSpPr>
            <a:spLocks xmlns:a="http://schemas.openxmlformats.org/drawingml/2006/main" noGrp="1"/>
          </p:cNvSpPr>
          <p:nvPr/>
        </p:nvSpPr>
        <p:spPr>
          <a:xfrm xmlns:a="http://schemas.openxmlformats.org/drawingml/2006/main">
            <a:off x="4457700" y="4143375"/>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C94A4A"/>
                </a:solidFill>
                <a:latin typeface="Arial"/>
                <a:ea typeface="Arial"/>
                <a:cs typeface="Arial"/>
              </a:defRPr>
            </a:pPr>
            <a:r>
              <a:rPr sz="1200" b="1">
                <a:solidFill>
                  <a:srgbClr val="C94A4A"/>
                </a:solidFill>
                <a:latin typeface="Arial"/>
                <a:ea typeface="Arial"/>
                <a:cs typeface="Arial"/>
              </a:rPr>
              <a:t>Quality explanation</a:t>
            </a:r>
          </a:p>
        </p:txBody>
      </p:sp>
      <p:sp>
        <p:nvSpPr>
          <p:cNvPr id="24" name="">
            <a:extLst xmlns:a="http://schemas.openxmlformats.org/drawingml/2006/main">
              <a:ext uri="{FF2B5EF4-FFF2-40B4-BE49-F238E27FC236}">
                <a16:creationId xmlns:a16="http://schemas.microsoft.com/office/drawing/2014/main" id="{E9F80FDA-07AA-45E9-8ABB-63A7DDE55F2E}"/>
              </a:ext>
            </a:extLst>
          </p:cNvPr>
          <p:cNvSpPr>
            <a:spLocks xmlns:a="http://schemas.openxmlformats.org/drawingml/2006/main" noGrp="1"/>
          </p:cNvSpPr>
          <p:nvPr/>
        </p:nvSpPr>
        <p:spPr>
          <a:xfrm xmlns:a="http://schemas.openxmlformats.org/drawingml/2006/main">
            <a:off x="6743700" y="414337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38" b="0">
                <a:solidFill>
                  <a:srgbClr val="17324D"/>
                </a:solidFill>
                <a:latin typeface="Arial"/>
                <a:ea typeface="Arial"/>
                <a:cs typeface="Arial"/>
              </a:defRPr>
            </a:pPr>
            <a:r>
              <a:rPr sz="1238" b="0">
                <a:solidFill>
                  <a:srgbClr val="17324D"/>
                </a:solidFill>
                <a:latin typeface="Arial"/>
                <a:ea typeface="Arial"/>
                <a:cs typeface="Arial"/>
              </a:rPr>
              <a:t>Evidence scores, report confidence, and suspicion signals have different meanings.</a:t>
            </a:r>
          </a:p>
        </p:txBody>
      </p:sp>
      <p:sp>
        <p:nvSpPr>
          <p:cNvPr id="25" name="">
            <a:extLst xmlns:a="http://schemas.openxmlformats.org/drawingml/2006/main">
              <a:ext uri="{FF2B5EF4-FFF2-40B4-BE49-F238E27FC236}">
                <a16:creationId xmlns:a16="http://schemas.microsoft.com/office/drawing/2014/main" id="{97CD0853-FAE7-4C95-8FDD-7E5558DF809B}"/>
              </a:ext>
            </a:extLst>
          </p:cNvPr>
          <p:cNvSpPr>
            <a:spLocks xmlns:a="http://schemas.openxmlformats.org/drawingml/2006/main" noGrp="1"/>
          </p:cNvSpPr>
          <p:nvPr/>
        </p:nvSpPr>
        <p:spPr>
          <a:xfrm xmlns:a="http://schemas.openxmlformats.org/drawingml/2006/main">
            <a:off x="4457700" y="4648200"/>
            <a:ext cx="615315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26" name="">
            <a:extLst xmlns:a="http://schemas.openxmlformats.org/drawingml/2006/main">
              <a:ext uri="{FF2B5EF4-FFF2-40B4-BE49-F238E27FC236}">
                <a16:creationId xmlns:a16="http://schemas.microsoft.com/office/drawing/2014/main" id="{C51D0B7F-FA76-4991-AE2F-9044F8649A44}"/>
              </a:ext>
            </a:extLst>
          </p:cNvPr>
          <p:cNvSpPr>
            <a:spLocks xmlns:a="http://schemas.openxmlformats.org/drawingml/2006/main" noGrp="1"/>
          </p:cNvSpPr>
          <p:nvPr/>
        </p:nvSpPr>
        <p:spPr>
          <a:xfrm xmlns:a="http://schemas.openxmlformats.org/drawingml/2006/main">
            <a:off x="4457700" y="4810125"/>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2F8B5B"/>
                </a:solidFill>
                <a:latin typeface="Arial"/>
                <a:ea typeface="Arial"/>
                <a:cs typeface="Arial"/>
              </a:defRPr>
            </a:pPr>
            <a:r>
              <a:rPr sz="1200" b="1">
                <a:solidFill>
                  <a:srgbClr val="2F8B5B"/>
                </a:solidFill>
                <a:latin typeface="Arial"/>
                <a:ea typeface="Arial"/>
                <a:cs typeface="Arial"/>
              </a:rPr>
              <a:t>Sources and evidence</a:t>
            </a:r>
          </a:p>
        </p:txBody>
      </p:sp>
      <p:sp>
        <p:nvSpPr>
          <p:cNvPr id="27" name="">
            <a:extLst xmlns:a="http://schemas.openxmlformats.org/drawingml/2006/main">
              <a:ext uri="{FF2B5EF4-FFF2-40B4-BE49-F238E27FC236}">
                <a16:creationId xmlns:a16="http://schemas.microsoft.com/office/drawing/2014/main" id="{100E525F-D3EB-42B7-94BF-8A7DD405ACA3}"/>
              </a:ext>
            </a:extLst>
          </p:cNvPr>
          <p:cNvSpPr>
            <a:spLocks xmlns:a="http://schemas.openxmlformats.org/drawingml/2006/main" noGrp="1"/>
          </p:cNvSpPr>
          <p:nvPr/>
        </p:nvSpPr>
        <p:spPr>
          <a:xfrm xmlns:a="http://schemas.openxmlformats.org/drawingml/2006/main">
            <a:off x="6743700" y="4810125"/>
            <a:ext cx="3886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38" b="0">
                <a:solidFill>
                  <a:srgbClr val="17324D"/>
                </a:solidFill>
                <a:latin typeface="Arial"/>
                <a:ea typeface="Arial"/>
                <a:cs typeface="Arial"/>
              </a:defRPr>
            </a:pPr>
            <a:r>
              <a:rPr sz="1238" b="0">
                <a:solidFill>
                  <a:srgbClr val="17324D"/>
                </a:solidFill>
                <a:latin typeface="Arial"/>
                <a:ea typeface="Arial"/>
                <a:cs typeface="Arial"/>
              </a:rPr>
              <a:t>Every reader-facing claim keeps a source, period, snippet, and link when available.</a:t>
            </a:r>
          </a:p>
        </p:txBody>
      </p:sp>
    </p:spTree>
    <p:extLst>
      <p:ext uri="{BB962C8B-B14F-4D97-AF65-F5344CB8AC3E}">
        <p14:creationId xmlns:p14="http://schemas.microsoft.com/office/powerpoint/2010/main" val="252363717"/>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621482B-07E5-4582-9C3F-EE4593C3EEE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B8B0F30E-EB5A-4025-9F13-1DD707F2FC06}"/>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6DE1C9C3-E9B0-4A34-BBAC-95C25A9A31F8}"/>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Six layers separate the user experience, reasoning, evidence, persistence, and controls.</a:t>
            </a:r>
          </a:p>
        </p:txBody>
      </p:sp>
      <p:sp>
        <p:nvSpPr>
          <p:cNvPr id="4" name="">
            <a:extLst xmlns:a="http://schemas.openxmlformats.org/drawingml/2006/main">
              <a:ext uri="{FF2B5EF4-FFF2-40B4-BE49-F238E27FC236}">
                <a16:creationId xmlns:a16="http://schemas.microsoft.com/office/drawing/2014/main" id="{889CFF00-215E-4522-96A0-0B32286318B3}"/>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E3E9A73E-A472-40FD-9F52-763C242427BE}"/>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2F374BA0-723E-4B45-8003-628EC7FE8768}"/>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3968873C-555C-4A10-A70A-B2A8A8D2D3B8}"/>
              </a:ext>
            </a:extLst>
          </p:cNvPr>
          <p:cNvSpPr>
            <a:spLocks xmlns:a="http://schemas.openxmlformats.org/drawingml/2006/main" noGrp="1"/>
          </p:cNvSpPr>
          <p:nvPr/>
        </p:nvSpPr>
        <p:spPr>
          <a:xfrm xmlns:a="http://schemas.openxmlformats.org/drawingml/2006/main">
            <a:off x="762000" y="1352550"/>
            <a:ext cx="1666875" cy="514350"/>
          </a:xfrm>
          <a:prstGeom xmlns:a="http://schemas.openxmlformats.org/drawingml/2006/main" prst="roundRect">
            <a:avLst>
              <a:gd name="adj" fmla="val 22222"/>
            </a:avLst>
          </a:prstGeom>
          <a:solidFill xmlns:a="http://schemas.openxmlformats.org/drawingml/2006/main">
            <a:srgbClr val="103A5C"/>
          </a:solidFill>
          <a:ln xmlns:a="http://schemas.openxmlformats.org/drawingml/2006/main" w="0">
            <a:solidFill>
              <a:srgbClr val="103A5C"/>
            </a:solidFill>
            <a:prstDash val="solid"/>
          </a:ln>
        </p:spPr>
      </p:sp>
      <p:sp>
        <p:nvSpPr>
          <p:cNvPr id="8" name="">
            <a:extLst xmlns:a="http://schemas.openxmlformats.org/drawingml/2006/main">
              <a:ext uri="{FF2B5EF4-FFF2-40B4-BE49-F238E27FC236}">
                <a16:creationId xmlns:a16="http://schemas.microsoft.com/office/drawing/2014/main" id="{78324B92-14DC-4923-953A-100450216679}"/>
              </a:ext>
            </a:extLst>
          </p:cNvPr>
          <p:cNvSpPr>
            <a:spLocks xmlns:a="http://schemas.openxmlformats.org/drawingml/2006/main" noGrp="1"/>
          </p:cNvSpPr>
          <p:nvPr/>
        </p:nvSpPr>
        <p:spPr>
          <a:xfrm xmlns:a="http://schemas.openxmlformats.org/drawingml/2006/main">
            <a:off x="904875" y="14287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Experience</a:t>
            </a:r>
          </a:p>
        </p:txBody>
      </p:sp>
      <p:sp>
        <p:nvSpPr>
          <p:cNvPr id="9" name="">
            <a:extLst xmlns:a="http://schemas.openxmlformats.org/drawingml/2006/main">
              <a:ext uri="{FF2B5EF4-FFF2-40B4-BE49-F238E27FC236}">
                <a16:creationId xmlns:a16="http://schemas.microsoft.com/office/drawing/2014/main" id="{BA821975-CB50-47F3-8B10-60DB432661FB}"/>
              </a:ext>
            </a:extLst>
          </p:cNvPr>
          <p:cNvSpPr>
            <a:spLocks xmlns:a="http://schemas.openxmlformats.org/drawingml/2006/main" noGrp="1"/>
          </p:cNvSpPr>
          <p:nvPr/>
        </p:nvSpPr>
        <p:spPr>
          <a:xfrm xmlns:a="http://schemas.openxmlformats.org/drawingml/2006/main">
            <a:off x="2714625" y="1371600"/>
            <a:ext cx="823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Streamlit presents the report and human review controls. The command line uses the same graph.</a:t>
            </a:r>
          </a:p>
        </p:txBody>
      </p:sp>
      <p:sp>
        <p:nvSpPr>
          <p:cNvPr id="10" name="">
            <a:extLst xmlns:a="http://schemas.openxmlformats.org/drawingml/2006/main">
              <a:ext uri="{FF2B5EF4-FFF2-40B4-BE49-F238E27FC236}">
                <a16:creationId xmlns:a16="http://schemas.microsoft.com/office/drawing/2014/main" id="{AAEB3B64-D2A8-4212-9DC9-880DC3B51C75}"/>
              </a:ext>
            </a:extLst>
          </p:cNvPr>
          <p:cNvSpPr>
            <a:spLocks xmlns:a="http://schemas.openxmlformats.org/drawingml/2006/main" noGrp="1"/>
          </p:cNvSpPr>
          <p:nvPr/>
        </p:nvSpPr>
        <p:spPr>
          <a:xfrm xmlns:a="http://schemas.openxmlformats.org/drawingml/2006/main">
            <a:off x="1600200" y="1914525"/>
            <a:ext cx="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1" name="">
            <a:extLst xmlns:a="http://schemas.openxmlformats.org/drawingml/2006/main">
              <a:ext uri="{FF2B5EF4-FFF2-40B4-BE49-F238E27FC236}">
                <a16:creationId xmlns:a16="http://schemas.microsoft.com/office/drawing/2014/main" id="{FDEA6FB1-3A6D-46B0-8F1C-4487CD2A8F65}"/>
              </a:ext>
            </a:extLst>
          </p:cNvPr>
          <p:cNvSpPr>
            <a:spLocks xmlns:a="http://schemas.openxmlformats.org/drawingml/2006/main" noGrp="1"/>
          </p:cNvSpPr>
          <p:nvPr/>
        </p:nvSpPr>
        <p:spPr>
          <a:xfrm xmlns:a="http://schemas.openxmlformats.org/drawingml/2006/main">
            <a:off x="762000" y="2095500"/>
            <a:ext cx="1666875" cy="514350"/>
          </a:xfrm>
          <a:prstGeom xmlns:a="http://schemas.openxmlformats.org/drawingml/2006/main" prst="roundRect">
            <a:avLst>
              <a:gd name="adj" fmla="val 22222"/>
            </a:avLst>
          </a:prstGeom>
          <a:solidFill xmlns:a="http://schemas.openxmlformats.org/drawingml/2006/main">
            <a:srgbClr val="3976B9"/>
          </a:solidFill>
          <a:ln xmlns:a="http://schemas.openxmlformats.org/drawingml/2006/main" w="0">
            <a:solidFill>
              <a:srgbClr val="3976B9"/>
            </a:solidFill>
            <a:prstDash val="solid"/>
          </a:ln>
        </p:spPr>
      </p:sp>
      <p:sp>
        <p:nvSpPr>
          <p:cNvPr id="12" name="">
            <a:extLst xmlns:a="http://schemas.openxmlformats.org/drawingml/2006/main">
              <a:ext uri="{FF2B5EF4-FFF2-40B4-BE49-F238E27FC236}">
                <a16:creationId xmlns:a16="http://schemas.microsoft.com/office/drawing/2014/main" id="{7509AFB7-544A-458C-AB3C-2E5EA04FF9D5}"/>
              </a:ext>
            </a:extLst>
          </p:cNvPr>
          <p:cNvSpPr>
            <a:spLocks xmlns:a="http://schemas.openxmlformats.org/drawingml/2006/main" noGrp="1"/>
          </p:cNvSpPr>
          <p:nvPr/>
        </p:nvSpPr>
        <p:spPr>
          <a:xfrm xmlns:a="http://schemas.openxmlformats.org/drawingml/2006/main">
            <a:off x="904875" y="217170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Orchestration</a:t>
            </a:r>
          </a:p>
        </p:txBody>
      </p:sp>
      <p:sp>
        <p:nvSpPr>
          <p:cNvPr id="13" name="">
            <a:extLst xmlns:a="http://schemas.openxmlformats.org/drawingml/2006/main">
              <a:ext uri="{FF2B5EF4-FFF2-40B4-BE49-F238E27FC236}">
                <a16:creationId xmlns:a16="http://schemas.microsoft.com/office/drawing/2014/main" id="{FAC51748-CA28-4DFB-A2E1-D0C6635A94E0}"/>
              </a:ext>
            </a:extLst>
          </p:cNvPr>
          <p:cNvSpPr>
            <a:spLocks xmlns:a="http://schemas.openxmlformats.org/drawingml/2006/main" noGrp="1"/>
          </p:cNvSpPr>
          <p:nvPr/>
        </p:nvSpPr>
        <p:spPr>
          <a:xfrm xmlns:a="http://schemas.openxmlformats.org/drawingml/2006/main">
            <a:off x="2714625" y="2114550"/>
            <a:ext cx="823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LangGraph manages shared state, conditional routes, bounded loops, checkpoints, and interrupts.</a:t>
            </a:r>
          </a:p>
        </p:txBody>
      </p:sp>
      <p:sp>
        <p:nvSpPr>
          <p:cNvPr id="14" name="">
            <a:extLst xmlns:a="http://schemas.openxmlformats.org/drawingml/2006/main">
              <a:ext uri="{FF2B5EF4-FFF2-40B4-BE49-F238E27FC236}">
                <a16:creationId xmlns:a16="http://schemas.microsoft.com/office/drawing/2014/main" id="{F53B7038-D6B9-46AF-8F87-96B37F9FD6DA}"/>
              </a:ext>
            </a:extLst>
          </p:cNvPr>
          <p:cNvSpPr>
            <a:spLocks xmlns:a="http://schemas.openxmlformats.org/drawingml/2006/main" noGrp="1"/>
          </p:cNvSpPr>
          <p:nvPr/>
        </p:nvSpPr>
        <p:spPr>
          <a:xfrm xmlns:a="http://schemas.openxmlformats.org/drawingml/2006/main">
            <a:off x="1600200" y="2657475"/>
            <a:ext cx="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5" name="">
            <a:extLst xmlns:a="http://schemas.openxmlformats.org/drawingml/2006/main">
              <a:ext uri="{FF2B5EF4-FFF2-40B4-BE49-F238E27FC236}">
                <a16:creationId xmlns:a16="http://schemas.microsoft.com/office/drawing/2014/main" id="{0FD9BC79-D600-40F3-9DCE-0ECE10A55CE2}"/>
              </a:ext>
            </a:extLst>
          </p:cNvPr>
          <p:cNvSpPr>
            <a:spLocks xmlns:a="http://schemas.openxmlformats.org/drawingml/2006/main" noGrp="1"/>
          </p:cNvSpPr>
          <p:nvPr/>
        </p:nvSpPr>
        <p:spPr>
          <a:xfrm xmlns:a="http://schemas.openxmlformats.org/drawingml/2006/main">
            <a:off x="762000" y="2838450"/>
            <a:ext cx="1666875" cy="514350"/>
          </a:xfrm>
          <a:prstGeom xmlns:a="http://schemas.openxmlformats.org/drawingml/2006/main" prst="roundRect">
            <a:avLst>
              <a:gd name="adj" fmla="val 22222"/>
            </a:avLst>
          </a:prstGeom>
          <a:solidFill xmlns:a="http://schemas.openxmlformats.org/drawingml/2006/main">
            <a:srgbClr val="009B96"/>
          </a:solidFill>
          <a:ln xmlns:a="http://schemas.openxmlformats.org/drawingml/2006/main" w="0">
            <a:solidFill>
              <a:srgbClr val="009B96"/>
            </a:solidFill>
            <a:prstDash val="solid"/>
          </a:ln>
        </p:spPr>
      </p:sp>
      <p:sp>
        <p:nvSpPr>
          <p:cNvPr id="16" name="">
            <a:extLst xmlns:a="http://schemas.openxmlformats.org/drawingml/2006/main">
              <a:ext uri="{FF2B5EF4-FFF2-40B4-BE49-F238E27FC236}">
                <a16:creationId xmlns:a16="http://schemas.microsoft.com/office/drawing/2014/main" id="{FAFDBD7F-C519-4739-83AE-5548837B0D46}"/>
              </a:ext>
            </a:extLst>
          </p:cNvPr>
          <p:cNvSpPr>
            <a:spLocks xmlns:a="http://schemas.openxmlformats.org/drawingml/2006/main" noGrp="1"/>
          </p:cNvSpPr>
          <p:nvPr/>
        </p:nvSpPr>
        <p:spPr>
          <a:xfrm xmlns:a="http://schemas.openxmlformats.org/drawingml/2006/main">
            <a:off x="904875" y="29146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Reasoning</a:t>
            </a:r>
          </a:p>
        </p:txBody>
      </p:sp>
      <p:sp>
        <p:nvSpPr>
          <p:cNvPr id="17" name="">
            <a:extLst xmlns:a="http://schemas.openxmlformats.org/drawingml/2006/main">
              <a:ext uri="{FF2B5EF4-FFF2-40B4-BE49-F238E27FC236}">
                <a16:creationId xmlns:a16="http://schemas.microsoft.com/office/drawing/2014/main" id="{5CBB8A70-3735-4A00-BA53-9232AAFB21BF}"/>
              </a:ext>
            </a:extLst>
          </p:cNvPr>
          <p:cNvSpPr>
            <a:spLocks xmlns:a="http://schemas.openxmlformats.org/drawingml/2006/main" noGrp="1"/>
          </p:cNvSpPr>
          <p:nvPr/>
        </p:nvSpPr>
        <p:spPr>
          <a:xfrm xmlns:a="http://schemas.openxmlformats.org/drawingml/2006/main">
            <a:off x="2714625" y="2857500"/>
            <a:ext cx="823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Planner, Researcher, Thesis Analyst, Critic, and Editor have distinct responsibilities.</a:t>
            </a:r>
          </a:p>
        </p:txBody>
      </p:sp>
      <p:sp>
        <p:nvSpPr>
          <p:cNvPr id="18" name="">
            <a:extLst xmlns:a="http://schemas.openxmlformats.org/drawingml/2006/main">
              <a:ext uri="{FF2B5EF4-FFF2-40B4-BE49-F238E27FC236}">
                <a16:creationId xmlns:a16="http://schemas.microsoft.com/office/drawing/2014/main" id="{C7E8D651-3A83-41A9-9E56-AA36C19A2040}"/>
              </a:ext>
            </a:extLst>
          </p:cNvPr>
          <p:cNvSpPr>
            <a:spLocks xmlns:a="http://schemas.openxmlformats.org/drawingml/2006/main" noGrp="1"/>
          </p:cNvSpPr>
          <p:nvPr/>
        </p:nvSpPr>
        <p:spPr>
          <a:xfrm xmlns:a="http://schemas.openxmlformats.org/drawingml/2006/main">
            <a:off x="1600200" y="3400425"/>
            <a:ext cx="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19" name="">
            <a:extLst xmlns:a="http://schemas.openxmlformats.org/drawingml/2006/main">
              <a:ext uri="{FF2B5EF4-FFF2-40B4-BE49-F238E27FC236}">
                <a16:creationId xmlns:a16="http://schemas.microsoft.com/office/drawing/2014/main" id="{D9E1F337-D1A4-4707-B5B5-ED3A4D0AC9C2}"/>
              </a:ext>
            </a:extLst>
          </p:cNvPr>
          <p:cNvSpPr>
            <a:spLocks xmlns:a="http://schemas.openxmlformats.org/drawingml/2006/main" noGrp="1"/>
          </p:cNvSpPr>
          <p:nvPr/>
        </p:nvSpPr>
        <p:spPr>
          <a:xfrm xmlns:a="http://schemas.openxmlformats.org/drawingml/2006/main">
            <a:off x="762000" y="3581400"/>
            <a:ext cx="1666875" cy="514350"/>
          </a:xfrm>
          <a:prstGeom xmlns:a="http://schemas.openxmlformats.org/drawingml/2006/main" prst="roundRect">
            <a:avLst>
              <a:gd name="adj" fmla="val 22222"/>
            </a:avLst>
          </a:prstGeom>
          <a:solidFill xmlns:a="http://schemas.openxmlformats.org/drawingml/2006/main">
            <a:srgbClr val="2F8B5B"/>
          </a:solidFill>
          <a:ln xmlns:a="http://schemas.openxmlformats.org/drawingml/2006/main" w="0">
            <a:solidFill>
              <a:srgbClr val="2F8B5B"/>
            </a:solidFill>
            <a:prstDash val="solid"/>
          </a:ln>
        </p:spPr>
      </p:sp>
      <p:sp>
        <p:nvSpPr>
          <p:cNvPr id="20" name="">
            <a:extLst xmlns:a="http://schemas.openxmlformats.org/drawingml/2006/main">
              <a:ext uri="{FF2B5EF4-FFF2-40B4-BE49-F238E27FC236}">
                <a16:creationId xmlns:a16="http://schemas.microsoft.com/office/drawing/2014/main" id="{FFBC4081-14E1-4664-90E0-A4EE332427EF}"/>
              </a:ext>
            </a:extLst>
          </p:cNvPr>
          <p:cNvSpPr>
            <a:spLocks xmlns:a="http://schemas.openxmlformats.org/drawingml/2006/main" noGrp="1"/>
          </p:cNvSpPr>
          <p:nvPr/>
        </p:nvSpPr>
        <p:spPr>
          <a:xfrm xmlns:a="http://schemas.openxmlformats.org/drawingml/2006/main">
            <a:off x="904875" y="365760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Evidence</a:t>
            </a:r>
          </a:p>
        </p:txBody>
      </p:sp>
      <p:sp>
        <p:nvSpPr>
          <p:cNvPr id="21" name="">
            <a:extLst xmlns:a="http://schemas.openxmlformats.org/drawingml/2006/main">
              <a:ext uri="{FF2B5EF4-FFF2-40B4-BE49-F238E27FC236}">
                <a16:creationId xmlns:a16="http://schemas.microsoft.com/office/drawing/2014/main" id="{8CDC9629-0DBB-4CA6-8AD2-5EFE10174613}"/>
              </a:ext>
            </a:extLst>
          </p:cNvPr>
          <p:cNvSpPr>
            <a:spLocks xmlns:a="http://schemas.openxmlformats.org/drawingml/2006/main" noGrp="1"/>
          </p:cNvSpPr>
          <p:nvPr/>
        </p:nvSpPr>
        <p:spPr>
          <a:xfrm xmlns:a="http://schemas.openxmlformats.org/drawingml/2006/main">
            <a:off x="2714625" y="3600450"/>
            <a:ext cx="823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Filings, earnings calls, financial statements, company profiles, news, and ratings enter through typed tools.</a:t>
            </a:r>
          </a:p>
        </p:txBody>
      </p:sp>
      <p:sp>
        <p:nvSpPr>
          <p:cNvPr id="22" name="">
            <a:extLst xmlns:a="http://schemas.openxmlformats.org/drawingml/2006/main">
              <a:ext uri="{FF2B5EF4-FFF2-40B4-BE49-F238E27FC236}">
                <a16:creationId xmlns:a16="http://schemas.microsoft.com/office/drawing/2014/main" id="{195C45CE-3CB6-4E74-B0E3-0B030446A96B}"/>
              </a:ext>
            </a:extLst>
          </p:cNvPr>
          <p:cNvSpPr>
            <a:spLocks xmlns:a="http://schemas.openxmlformats.org/drawingml/2006/main" noGrp="1"/>
          </p:cNvSpPr>
          <p:nvPr/>
        </p:nvSpPr>
        <p:spPr>
          <a:xfrm xmlns:a="http://schemas.openxmlformats.org/drawingml/2006/main">
            <a:off x="1600200" y="4143375"/>
            <a:ext cx="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23" name="">
            <a:extLst xmlns:a="http://schemas.openxmlformats.org/drawingml/2006/main">
              <a:ext uri="{FF2B5EF4-FFF2-40B4-BE49-F238E27FC236}">
                <a16:creationId xmlns:a16="http://schemas.microsoft.com/office/drawing/2014/main" id="{A110F409-458B-449B-8353-28AF66DA5A2F}"/>
              </a:ext>
            </a:extLst>
          </p:cNvPr>
          <p:cNvSpPr>
            <a:spLocks xmlns:a="http://schemas.openxmlformats.org/drawingml/2006/main" noGrp="1"/>
          </p:cNvSpPr>
          <p:nvPr/>
        </p:nvSpPr>
        <p:spPr>
          <a:xfrm xmlns:a="http://schemas.openxmlformats.org/drawingml/2006/main">
            <a:off x="762000" y="4324350"/>
            <a:ext cx="1666875" cy="514350"/>
          </a:xfrm>
          <a:prstGeom xmlns:a="http://schemas.openxmlformats.org/drawingml/2006/main" prst="roundRect">
            <a:avLst>
              <a:gd name="adj" fmla="val 22222"/>
            </a:avLst>
          </a:prstGeom>
          <a:solidFill xmlns:a="http://schemas.openxmlformats.org/drawingml/2006/main">
            <a:srgbClr val="D28A1D"/>
          </a:solidFill>
          <a:ln xmlns:a="http://schemas.openxmlformats.org/drawingml/2006/main" w="0">
            <a:solidFill>
              <a:srgbClr val="D28A1D"/>
            </a:solidFill>
            <a:prstDash val="solid"/>
          </a:ln>
        </p:spPr>
      </p:sp>
      <p:sp>
        <p:nvSpPr>
          <p:cNvPr id="24" name="">
            <a:extLst xmlns:a="http://schemas.openxmlformats.org/drawingml/2006/main">
              <a:ext uri="{FF2B5EF4-FFF2-40B4-BE49-F238E27FC236}">
                <a16:creationId xmlns:a16="http://schemas.microsoft.com/office/drawing/2014/main" id="{60C75A12-368B-46A5-9C06-C1AB292DC484}"/>
              </a:ext>
            </a:extLst>
          </p:cNvPr>
          <p:cNvSpPr>
            <a:spLocks xmlns:a="http://schemas.openxmlformats.org/drawingml/2006/main" noGrp="1"/>
          </p:cNvSpPr>
          <p:nvPr/>
        </p:nvSpPr>
        <p:spPr>
          <a:xfrm xmlns:a="http://schemas.openxmlformats.org/drawingml/2006/main">
            <a:off x="904875" y="440055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Persistence</a:t>
            </a:r>
          </a:p>
        </p:txBody>
      </p:sp>
      <p:sp>
        <p:nvSpPr>
          <p:cNvPr id="25" name="">
            <a:extLst xmlns:a="http://schemas.openxmlformats.org/drawingml/2006/main">
              <a:ext uri="{FF2B5EF4-FFF2-40B4-BE49-F238E27FC236}">
                <a16:creationId xmlns:a16="http://schemas.microsoft.com/office/drawing/2014/main" id="{B39886EB-685E-4600-81B3-9B8AD037583B}"/>
              </a:ext>
            </a:extLst>
          </p:cNvPr>
          <p:cNvSpPr>
            <a:spLocks xmlns:a="http://schemas.openxmlformats.org/drawingml/2006/main" noGrp="1"/>
          </p:cNvSpPr>
          <p:nvPr/>
        </p:nvSpPr>
        <p:spPr>
          <a:xfrm xmlns:a="http://schemas.openxmlformats.org/drawingml/2006/main">
            <a:off x="2714625" y="4343400"/>
            <a:ext cx="823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Chroma stores source passages, while the checkpointer stores one run and metric memory supports comparisons.</a:t>
            </a:r>
          </a:p>
        </p:txBody>
      </p:sp>
      <p:sp>
        <p:nvSpPr>
          <p:cNvPr id="26" name="">
            <a:extLst xmlns:a="http://schemas.openxmlformats.org/drawingml/2006/main">
              <a:ext uri="{FF2B5EF4-FFF2-40B4-BE49-F238E27FC236}">
                <a16:creationId xmlns:a16="http://schemas.microsoft.com/office/drawing/2014/main" id="{72A7FC55-80FD-4A2F-8B12-5116F29DFCF9}"/>
              </a:ext>
            </a:extLst>
          </p:cNvPr>
          <p:cNvSpPr>
            <a:spLocks xmlns:a="http://schemas.openxmlformats.org/drawingml/2006/main" noGrp="1"/>
          </p:cNvSpPr>
          <p:nvPr/>
        </p:nvSpPr>
        <p:spPr>
          <a:xfrm xmlns:a="http://schemas.openxmlformats.org/drawingml/2006/main">
            <a:off x="1600200" y="4886325"/>
            <a:ext cx="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27" name="">
            <a:extLst xmlns:a="http://schemas.openxmlformats.org/drawingml/2006/main">
              <a:ext uri="{FF2B5EF4-FFF2-40B4-BE49-F238E27FC236}">
                <a16:creationId xmlns:a16="http://schemas.microsoft.com/office/drawing/2014/main" id="{C2C2F7D7-1997-40C4-9EB6-4199EDB8AD9C}"/>
              </a:ext>
            </a:extLst>
          </p:cNvPr>
          <p:cNvSpPr>
            <a:spLocks xmlns:a="http://schemas.openxmlformats.org/drawingml/2006/main" noGrp="1"/>
          </p:cNvSpPr>
          <p:nvPr/>
        </p:nvSpPr>
        <p:spPr>
          <a:xfrm xmlns:a="http://schemas.openxmlformats.org/drawingml/2006/main">
            <a:off x="762000" y="5067300"/>
            <a:ext cx="1666875" cy="514350"/>
          </a:xfrm>
          <a:prstGeom xmlns:a="http://schemas.openxmlformats.org/drawingml/2006/main" prst="roundRect">
            <a:avLst>
              <a:gd name="adj" fmla="val 22222"/>
            </a:avLst>
          </a:prstGeom>
          <a:solidFill xmlns:a="http://schemas.openxmlformats.org/drawingml/2006/main">
            <a:srgbClr val="C94A4A"/>
          </a:solidFill>
          <a:ln xmlns:a="http://schemas.openxmlformats.org/drawingml/2006/main" w="0">
            <a:solidFill>
              <a:srgbClr val="C94A4A"/>
            </a:solidFill>
            <a:prstDash val="solid"/>
          </a:ln>
        </p:spPr>
      </p:sp>
      <p:sp>
        <p:nvSpPr>
          <p:cNvPr id="28" name="">
            <a:extLst xmlns:a="http://schemas.openxmlformats.org/drawingml/2006/main">
              <a:ext uri="{FF2B5EF4-FFF2-40B4-BE49-F238E27FC236}">
                <a16:creationId xmlns:a16="http://schemas.microsoft.com/office/drawing/2014/main" id="{CD2F1192-1E08-41BE-9B50-5929652E649F}"/>
              </a:ext>
            </a:extLst>
          </p:cNvPr>
          <p:cNvSpPr>
            <a:spLocks xmlns:a="http://schemas.openxmlformats.org/drawingml/2006/main" noGrp="1"/>
          </p:cNvSpPr>
          <p:nvPr/>
        </p:nvSpPr>
        <p:spPr>
          <a:xfrm xmlns:a="http://schemas.openxmlformats.org/drawingml/2006/main">
            <a:off x="904875" y="5143500"/>
            <a:ext cx="1381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Assurance</a:t>
            </a:r>
          </a:p>
        </p:txBody>
      </p:sp>
      <p:sp>
        <p:nvSpPr>
          <p:cNvPr id="29" name="">
            <a:extLst xmlns:a="http://schemas.openxmlformats.org/drawingml/2006/main">
              <a:ext uri="{FF2B5EF4-FFF2-40B4-BE49-F238E27FC236}">
                <a16:creationId xmlns:a16="http://schemas.microsoft.com/office/drawing/2014/main" id="{C07A4129-1CD3-4FB8-9522-30729A619569}"/>
              </a:ext>
            </a:extLst>
          </p:cNvPr>
          <p:cNvSpPr>
            <a:spLocks xmlns:a="http://schemas.openxmlformats.org/drawingml/2006/main" noGrp="1"/>
          </p:cNvSpPr>
          <p:nvPr/>
        </p:nvSpPr>
        <p:spPr>
          <a:xfrm xmlns:a="http://schemas.openxmlformats.org/drawingml/2006/main">
            <a:off x="2714625" y="5086350"/>
            <a:ext cx="8239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Input controls, evidence checks, monitoring, evaluation, quality routing, and human review control release.</a:t>
            </a:r>
          </a:p>
        </p:txBody>
      </p:sp>
      <p:sp>
        <p:nvSpPr>
          <p:cNvPr id="30" name="">
            <a:extLst xmlns:a="http://schemas.openxmlformats.org/drawingml/2006/main">
              <a:ext uri="{FF2B5EF4-FFF2-40B4-BE49-F238E27FC236}">
                <a16:creationId xmlns:a16="http://schemas.microsoft.com/office/drawing/2014/main" id="{ECDABE50-8F37-401C-813C-C82D82E0DF3F}"/>
              </a:ext>
            </a:extLst>
          </p:cNvPr>
          <p:cNvSpPr>
            <a:spLocks xmlns:a="http://schemas.openxmlformats.org/drawingml/2006/main" noGrp="1"/>
          </p:cNvSpPr>
          <p:nvPr/>
        </p:nvSpPr>
        <p:spPr>
          <a:xfrm xmlns:a="http://schemas.openxmlformats.org/drawingml/2006/main">
            <a:off x="762000" y="5924550"/>
            <a:ext cx="10191750" cy="314325"/>
          </a:xfrm>
          <a:prstGeom xmlns:a="http://schemas.openxmlformats.org/drawingml/2006/main" prst="roundRect">
            <a:avLst>
              <a:gd name="adj" fmla="val 18182"/>
            </a:avLst>
          </a:prstGeom>
          <a:solidFill xmlns:a="http://schemas.openxmlformats.org/drawingml/2006/main">
            <a:srgbClr val="EAF3FB"/>
          </a:solidFill>
          <a:ln xmlns:a="http://schemas.openxmlformats.org/drawingml/2006/main" w="0">
            <a:solidFill>
              <a:srgbClr val="3976B9"/>
            </a:solidFill>
            <a:prstDash val="solid"/>
          </a:ln>
        </p:spPr>
      </p:sp>
      <p:sp>
        <p:nvSpPr>
          <p:cNvPr id="31" name="">
            <a:extLst xmlns:a="http://schemas.openxmlformats.org/drawingml/2006/main">
              <a:ext uri="{FF2B5EF4-FFF2-40B4-BE49-F238E27FC236}">
                <a16:creationId xmlns:a16="http://schemas.microsoft.com/office/drawing/2014/main" id="{BFF08BA2-C288-499B-934D-496443441632}"/>
              </a:ext>
            </a:extLst>
          </p:cNvPr>
          <p:cNvSpPr>
            <a:spLocks xmlns:a="http://schemas.openxmlformats.org/drawingml/2006/main" noGrp="1"/>
          </p:cNvSpPr>
          <p:nvPr/>
        </p:nvSpPr>
        <p:spPr>
          <a:xfrm xmlns:a="http://schemas.openxmlformats.org/drawingml/2006/main">
            <a:off x="933450" y="5972175"/>
            <a:ext cx="9858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8958"/>
          </a:bodyPr>
          <a:lstStyle xmlns:a="http://schemas.openxmlformats.org/drawingml/2006/main"/>
          <a:p xmlns:a="http://schemas.openxmlformats.org/drawingml/2006/main">
            <a:pPr algn="ctr">
              <a:buNone/>
              <a:defRPr sz="1200" b="1">
                <a:solidFill>
                  <a:srgbClr val="103A5C"/>
                </a:solidFill>
                <a:latin typeface="Arial"/>
                <a:ea typeface="Arial"/>
                <a:cs typeface="Arial"/>
              </a:defRPr>
            </a:pPr>
            <a:r>
              <a:rPr sz="1200" b="1">
                <a:solidFill>
                  <a:srgbClr val="103A5C"/>
                </a:solidFill>
                <a:latin typeface="Arial"/>
                <a:ea typeface="Arial"/>
                <a:cs typeface="Arial"/>
              </a:rPr>
              <a:t>A typed shared state connects every layer and records evidence, decisions, counters, and review status.</a:t>
            </a:r>
          </a:p>
        </p:txBody>
      </p:sp>
    </p:spTree>
    <p:extLst>
      <p:ext uri="{BB962C8B-B14F-4D97-AF65-F5344CB8AC3E}">
        <p14:creationId xmlns:p14="http://schemas.microsoft.com/office/powerpoint/2010/main" val="44169160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F8C4D125-375C-4B2D-91D8-6D204CA4DFF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5D831152-45C1-4732-8A3F-FB553B09FD9C}"/>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The evidence-to-report workflow</a:t>
            </a:r>
          </a:p>
        </p:txBody>
      </p:sp>
      <p:sp>
        <p:nvSpPr>
          <p:cNvPr id="3" name="">
            <a:extLst xmlns:a="http://schemas.openxmlformats.org/drawingml/2006/main">
              <a:ext uri="{FF2B5EF4-FFF2-40B4-BE49-F238E27FC236}">
                <a16:creationId xmlns:a16="http://schemas.microsoft.com/office/drawing/2014/main" id="{59B41EB4-40FB-4C60-96CD-7AC8B7B6A86D}"/>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graph gathers what is required, checks balance, tests the cases, and controls release.</a:t>
            </a:r>
          </a:p>
        </p:txBody>
      </p:sp>
      <p:sp>
        <p:nvSpPr>
          <p:cNvPr id="4" name="">
            <a:extLst xmlns:a="http://schemas.openxmlformats.org/drawingml/2006/main">
              <a:ext uri="{FF2B5EF4-FFF2-40B4-BE49-F238E27FC236}">
                <a16:creationId xmlns:a16="http://schemas.microsoft.com/office/drawing/2014/main" id="{8B451B50-1DB0-48F9-81AD-7131E2424B80}"/>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1D976F94-89F9-4C16-BC30-B1FCAB11C2D4}"/>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7559F1B5-9C65-4DCB-A45D-AFEE3C33AF8E}"/>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3091E2AD-0692-4306-82CF-DAB714B1F00E}"/>
              </a:ext>
            </a:extLst>
          </p:cNvPr>
          <p:cNvSpPr>
            <a:spLocks xmlns:a="http://schemas.openxmlformats.org/drawingml/2006/main" noGrp="1"/>
          </p:cNvSpPr>
          <p:nvPr/>
        </p:nvSpPr>
        <p:spPr>
          <a:xfrm xmlns:a="http://schemas.openxmlformats.org/drawingml/2006/main">
            <a:off x="666750" y="1476375"/>
            <a:ext cx="2381250" cy="1352550"/>
          </a:xfrm>
          <a:prstGeom xmlns:a="http://schemas.openxmlformats.org/drawingml/2006/main" prst="roundRect">
            <a:avLst>
              <a:gd name="adj" fmla="val 9859"/>
            </a:avLst>
          </a:prstGeom>
          <a:solidFill xmlns:a="http://schemas.openxmlformats.org/drawingml/2006/main">
            <a:srgbClr val="103A5C"/>
          </a:solidFill>
          <a:ln xmlns:a="http://schemas.openxmlformats.org/drawingml/2006/main" w="0">
            <a:solidFill>
              <a:srgbClr val="103A5C"/>
            </a:solidFill>
            <a:prstDash val="solid"/>
          </a:ln>
        </p:spPr>
      </p:sp>
      <p:sp>
        <p:nvSpPr>
          <p:cNvPr id="8" name="">
            <a:extLst xmlns:a="http://schemas.openxmlformats.org/drawingml/2006/main">
              <a:ext uri="{FF2B5EF4-FFF2-40B4-BE49-F238E27FC236}">
                <a16:creationId xmlns:a16="http://schemas.microsoft.com/office/drawing/2014/main" id="{F0E3BA24-CBB1-4F6F-8AD4-C7F9FBF718B8}"/>
              </a:ext>
            </a:extLst>
          </p:cNvPr>
          <p:cNvSpPr>
            <a:spLocks xmlns:a="http://schemas.openxmlformats.org/drawingml/2006/main" noGrp="1"/>
          </p:cNvSpPr>
          <p:nvPr/>
        </p:nvSpPr>
        <p:spPr>
          <a:xfrm xmlns:a="http://schemas.openxmlformats.org/drawingml/2006/main">
            <a:off x="790575" y="15906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  Define evidence</a:t>
            </a:r>
          </a:p>
        </p:txBody>
      </p:sp>
      <p:sp>
        <p:nvSpPr>
          <p:cNvPr id="9" name="">
            <a:extLst xmlns:a="http://schemas.openxmlformats.org/drawingml/2006/main">
              <a:ext uri="{FF2B5EF4-FFF2-40B4-BE49-F238E27FC236}">
                <a16:creationId xmlns:a16="http://schemas.microsoft.com/office/drawing/2014/main" id="{B44669CE-A1FB-43FF-B449-B3E0FD232B35}"/>
              </a:ext>
            </a:extLst>
          </p:cNvPr>
          <p:cNvSpPr>
            <a:spLocks xmlns:a="http://schemas.openxmlformats.org/drawingml/2006/main" noGrp="1"/>
          </p:cNvSpPr>
          <p:nvPr/>
        </p:nvSpPr>
        <p:spPr>
          <a:xfrm xmlns:a="http://schemas.openxmlformats.org/drawingml/2006/main">
            <a:off x="819150" y="18859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Planner states what the report must know before writing begins.</a:t>
            </a:r>
          </a:p>
        </p:txBody>
      </p:sp>
      <p:sp>
        <p:nvSpPr>
          <p:cNvPr id="10" name="">
            <a:extLst xmlns:a="http://schemas.openxmlformats.org/drawingml/2006/main">
              <a:ext uri="{FF2B5EF4-FFF2-40B4-BE49-F238E27FC236}">
                <a16:creationId xmlns:a16="http://schemas.microsoft.com/office/drawing/2014/main" id="{90FFCFCB-D5E3-4B3D-933B-0FFB5B9DC058}"/>
              </a:ext>
            </a:extLst>
          </p:cNvPr>
          <p:cNvSpPr>
            <a:spLocks xmlns:a="http://schemas.openxmlformats.org/drawingml/2006/main" noGrp="1"/>
          </p:cNvSpPr>
          <p:nvPr/>
        </p:nvSpPr>
        <p:spPr>
          <a:xfrm xmlns:a="http://schemas.openxmlformats.org/drawingml/2006/main">
            <a:off x="3486150" y="1476375"/>
            <a:ext cx="2381250" cy="1352550"/>
          </a:xfrm>
          <a:prstGeom xmlns:a="http://schemas.openxmlformats.org/drawingml/2006/main" prst="roundRect">
            <a:avLst>
              <a:gd name="adj" fmla="val 9859"/>
            </a:avLst>
          </a:prstGeom>
          <a:solidFill xmlns:a="http://schemas.openxmlformats.org/drawingml/2006/main">
            <a:srgbClr val="3976B9"/>
          </a:solidFill>
          <a:ln xmlns:a="http://schemas.openxmlformats.org/drawingml/2006/main" w="0">
            <a:solidFill>
              <a:srgbClr val="3976B9"/>
            </a:solidFill>
            <a:prstDash val="solid"/>
          </a:ln>
        </p:spPr>
      </p:sp>
      <p:sp>
        <p:nvSpPr>
          <p:cNvPr id="11" name="">
            <a:extLst xmlns:a="http://schemas.openxmlformats.org/drawingml/2006/main">
              <a:ext uri="{FF2B5EF4-FFF2-40B4-BE49-F238E27FC236}">
                <a16:creationId xmlns:a16="http://schemas.microsoft.com/office/drawing/2014/main" id="{D19FBA45-ABFB-4BA1-8C30-558400281605}"/>
              </a:ext>
            </a:extLst>
          </p:cNvPr>
          <p:cNvSpPr>
            <a:spLocks xmlns:a="http://schemas.openxmlformats.org/drawingml/2006/main" noGrp="1"/>
          </p:cNvSpPr>
          <p:nvPr/>
        </p:nvSpPr>
        <p:spPr>
          <a:xfrm xmlns:a="http://schemas.openxmlformats.org/drawingml/2006/main">
            <a:off x="3609975" y="15906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2  Research</a:t>
            </a:r>
          </a:p>
        </p:txBody>
      </p:sp>
      <p:sp>
        <p:nvSpPr>
          <p:cNvPr id="12" name="">
            <a:extLst xmlns:a="http://schemas.openxmlformats.org/drawingml/2006/main">
              <a:ext uri="{FF2B5EF4-FFF2-40B4-BE49-F238E27FC236}">
                <a16:creationId xmlns:a16="http://schemas.microsoft.com/office/drawing/2014/main" id="{10B3C4C4-578C-439D-B65F-995B1ED43747}"/>
              </a:ext>
            </a:extLst>
          </p:cNvPr>
          <p:cNvSpPr>
            <a:spLocks xmlns:a="http://schemas.openxmlformats.org/drawingml/2006/main" noGrp="1"/>
          </p:cNvSpPr>
          <p:nvPr/>
        </p:nvSpPr>
        <p:spPr>
          <a:xfrm xmlns:a="http://schemas.openxmlformats.org/drawingml/2006/main">
            <a:off x="3638550" y="18859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Researcher calls the approved tool that matches each uncovered task.</a:t>
            </a:r>
          </a:p>
        </p:txBody>
      </p:sp>
      <p:sp>
        <p:nvSpPr>
          <p:cNvPr id="13" name="">
            <a:extLst xmlns:a="http://schemas.openxmlformats.org/drawingml/2006/main">
              <a:ext uri="{FF2B5EF4-FFF2-40B4-BE49-F238E27FC236}">
                <a16:creationId xmlns:a16="http://schemas.microsoft.com/office/drawing/2014/main" id="{8DBE0C71-5978-4A36-B03B-2B8081676CBC}"/>
              </a:ext>
            </a:extLst>
          </p:cNvPr>
          <p:cNvSpPr>
            <a:spLocks xmlns:a="http://schemas.openxmlformats.org/drawingml/2006/main" noGrp="1"/>
          </p:cNvSpPr>
          <p:nvPr/>
        </p:nvSpPr>
        <p:spPr>
          <a:xfrm xmlns:a="http://schemas.openxmlformats.org/drawingml/2006/main">
            <a:off x="6305550" y="1476375"/>
            <a:ext cx="2381250" cy="1352550"/>
          </a:xfrm>
          <a:prstGeom xmlns:a="http://schemas.openxmlformats.org/drawingml/2006/main" prst="roundRect">
            <a:avLst>
              <a:gd name="adj" fmla="val 9859"/>
            </a:avLst>
          </a:prstGeom>
          <a:solidFill xmlns:a="http://schemas.openxmlformats.org/drawingml/2006/main">
            <a:srgbClr val="C94A4A"/>
          </a:solidFill>
          <a:ln xmlns:a="http://schemas.openxmlformats.org/drawingml/2006/main" w="0">
            <a:solidFill>
              <a:srgbClr val="C94A4A"/>
            </a:solidFill>
            <a:prstDash val="solid"/>
          </a:ln>
        </p:spPr>
      </p:sp>
      <p:sp>
        <p:nvSpPr>
          <p:cNvPr id="14" name="">
            <a:extLst xmlns:a="http://schemas.openxmlformats.org/drawingml/2006/main">
              <a:ext uri="{FF2B5EF4-FFF2-40B4-BE49-F238E27FC236}">
                <a16:creationId xmlns:a16="http://schemas.microsoft.com/office/drawing/2014/main" id="{FE7C0BCA-F445-4720-B183-AED45A2C722D}"/>
              </a:ext>
            </a:extLst>
          </p:cNvPr>
          <p:cNvSpPr>
            <a:spLocks xmlns:a="http://schemas.openxmlformats.org/drawingml/2006/main" noGrp="1"/>
          </p:cNvSpPr>
          <p:nvPr/>
        </p:nvSpPr>
        <p:spPr>
          <a:xfrm xmlns:a="http://schemas.openxmlformats.org/drawingml/2006/main">
            <a:off x="6429375" y="15906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3  Check balance</a:t>
            </a:r>
          </a:p>
        </p:txBody>
      </p:sp>
      <p:sp>
        <p:nvSpPr>
          <p:cNvPr id="15" name="">
            <a:extLst xmlns:a="http://schemas.openxmlformats.org/drawingml/2006/main">
              <a:ext uri="{FF2B5EF4-FFF2-40B4-BE49-F238E27FC236}">
                <a16:creationId xmlns:a16="http://schemas.microsoft.com/office/drawing/2014/main" id="{6AEB9717-D912-4A7C-A39E-9AFEA5DF93B7}"/>
              </a:ext>
            </a:extLst>
          </p:cNvPr>
          <p:cNvSpPr>
            <a:spLocks xmlns:a="http://schemas.openxmlformats.org/drawingml/2006/main" noGrp="1"/>
          </p:cNvSpPr>
          <p:nvPr/>
        </p:nvSpPr>
        <p:spPr>
          <a:xfrm xmlns:a="http://schemas.openxmlformats.org/drawingml/2006/main">
            <a:off x="6457950" y="18859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system confirms that broad requests have enough positive and negative evidence.</a:t>
            </a:r>
          </a:p>
        </p:txBody>
      </p:sp>
      <p:sp>
        <p:nvSpPr>
          <p:cNvPr id="16" name="">
            <a:extLst xmlns:a="http://schemas.openxmlformats.org/drawingml/2006/main">
              <a:ext uri="{FF2B5EF4-FFF2-40B4-BE49-F238E27FC236}">
                <a16:creationId xmlns:a16="http://schemas.microsoft.com/office/drawing/2014/main" id="{E0852B28-C05A-40BA-80C5-1022657BDCBA}"/>
              </a:ext>
            </a:extLst>
          </p:cNvPr>
          <p:cNvSpPr>
            <a:spLocks xmlns:a="http://schemas.openxmlformats.org/drawingml/2006/main" noGrp="1"/>
          </p:cNvSpPr>
          <p:nvPr/>
        </p:nvSpPr>
        <p:spPr>
          <a:xfrm xmlns:a="http://schemas.openxmlformats.org/drawingml/2006/main">
            <a:off x="9124950" y="1476375"/>
            <a:ext cx="2381250" cy="1352550"/>
          </a:xfrm>
          <a:prstGeom xmlns:a="http://schemas.openxmlformats.org/drawingml/2006/main" prst="roundRect">
            <a:avLst>
              <a:gd name="adj" fmla="val 9859"/>
            </a:avLst>
          </a:prstGeom>
          <a:solidFill xmlns:a="http://schemas.openxmlformats.org/drawingml/2006/main">
            <a:srgbClr val="009B96"/>
          </a:solidFill>
          <a:ln xmlns:a="http://schemas.openxmlformats.org/drawingml/2006/main" w="0">
            <a:solidFill>
              <a:srgbClr val="009B96"/>
            </a:solidFill>
            <a:prstDash val="solid"/>
          </a:ln>
        </p:spPr>
      </p:sp>
      <p:sp>
        <p:nvSpPr>
          <p:cNvPr id="17" name="">
            <a:extLst xmlns:a="http://schemas.openxmlformats.org/drawingml/2006/main">
              <a:ext uri="{FF2B5EF4-FFF2-40B4-BE49-F238E27FC236}">
                <a16:creationId xmlns:a16="http://schemas.microsoft.com/office/drawing/2014/main" id="{FC519CE7-6E15-4E5A-8430-4A32DBC77BA9}"/>
              </a:ext>
            </a:extLst>
          </p:cNvPr>
          <p:cNvSpPr>
            <a:spLocks xmlns:a="http://schemas.openxmlformats.org/drawingml/2006/main" noGrp="1"/>
          </p:cNvSpPr>
          <p:nvPr/>
        </p:nvSpPr>
        <p:spPr>
          <a:xfrm xmlns:a="http://schemas.openxmlformats.org/drawingml/2006/main">
            <a:off x="9248775" y="15906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4  Build cases</a:t>
            </a:r>
          </a:p>
        </p:txBody>
      </p:sp>
      <p:sp>
        <p:nvSpPr>
          <p:cNvPr id="18" name="">
            <a:extLst xmlns:a="http://schemas.openxmlformats.org/drawingml/2006/main">
              <a:ext uri="{FF2B5EF4-FFF2-40B4-BE49-F238E27FC236}">
                <a16:creationId xmlns:a16="http://schemas.microsoft.com/office/drawing/2014/main" id="{F8C89084-C722-4E5C-B51D-A95CF0CC2A7A}"/>
              </a:ext>
            </a:extLst>
          </p:cNvPr>
          <p:cNvSpPr>
            <a:spLocks xmlns:a="http://schemas.openxmlformats.org/drawingml/2006/main" noGrp="1"/>
          </p:cNvSpPr>
          <p:nvPr/>
        </p:nvSpPr>
        <p:spPr>
          <a:xfrm xmlns:a="http://schemas.openxmlformats.org/drawingml/2006/main">
            <a:off x="9277350" y="18859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Analyst proposes distinct bull, bear, and risk explanations from cited evidence.</a:t>
            </a:r>
          </a:p>
        </p:txBody>
      </p:sp>
      <p:cxnSp>
        <p:nvCxnSpPr>
          <p:cNvPr id="94" name=""/>
          <p:cNvCxnSpPr>
            <a:stCxn xmlns:a="http://schemas.openxmlformats.org/drawingml/2006/main" id="7" idx="3"/>
            <a:endCxn xmlns:a="http://schemas.openxmlformats.org/drawingml/2006/main" id="10" idx="1"/>
          </p:cNvCxnSpPr>
          <p:nvPr/>
        </p:nvCxnSpPr>
        <p:spPr>
          <a:xfrm xmlns:a="http://schemas.openxmlformats.org/drawingml/2006/main">
            <a:off x="3048000" y="2152650"/>
            <a:ext cx="4381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95" name=""/>
          <p:cNvCxnSpPr>
            <a:stCxn xmlns:a="http://schemas.openxmlformats.org/drawingml/2006/main" id="10" idx="3"/>
            <a:endCxn xmlns:a="http://schemas.openxmlformats.org/drawingml/2006/main" id="13" idx="1"/>
          </p:cNvCxnSpPr>
          <p:nvPr/>
        </p:nvCxnSpPr>
        <p:spPr>
          <a:xfrm xmlns:a="http://schemas.openxmlformats.org/drawingml/2006/main">
            <a:off x="5867400" y="2152650"/>
            <a:ext cx="4381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96" name=""/>
          <p:cNvCxnSpPr>
            <a:stCxn xmlns:a="http://schemas.openxmlformats.org/drawingml/2006/main" id="13" idx="3"/>
            <a:endCxn xmlns:a="http://schemas.openxmlformats.org/drawingml/2006/main" id="16" idx="1"/>
          </p:cNvCxnSpPr>
          <p:nvPr/>
        </p:nvCxnSpPr>
        <p:spPr>
          <a:xfrm xmlns:a="http://schemas.openxmlformats.org/drawingml/2006/main">
            <a:off x="8686800" y="2152650"/>
            <a:ext cx="4381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22" name="">
            <a:extLst xmlns:a="http://schemas.openxmlformats.org/drawingml/2006/main">
              <a:ext uri="{FF2B5EF4-FFF2-40B4-BE49-F238E27FC236}">
                <a16:creationId xmlns:a16="http://schemas.microsoft.com/office/drawing/2014/main" id="{5321BEB4-318F-4712-829B-AE94825081EB}"/>
              </a:ext>
            </a:extLst>
          </p:cNvPr>
          <p:cNvSpPr>
            <a:spLocks xmlns:a="http://schemas.openxmlformats.org/drawingml/2006/main" noGrp="1"/>
          </p:cNvSpPr>
          <p:nvPr/>
        </p:nvSpPr>
        <p:spPr>
          <a:xfrm xmlns:a="http://schemas.openxmlformats.org/drawingml/2006/main">
            <a:off x="666750" y="3952875"/>
            <a:ext cx="2381250" cy="1352550"/>
          </a:xfrm>
          <a:prstGeom xmlns:a="http://schemas.openxmlformats.org/drawingml/2006/main" prst="roundRect">
            <a:avLst>
              <a:gd name="adj" fmla="val 9859"/>
            </a:avLst>
          </a:prstGeom>
          <a:solidFill xmlns:a="http://schemas.openxmlformats.org/drawingml/2006/main">
            <a:srgbClr val="103A5C"/>
          </a:solidFill>
          <a:ln xmlns:a="http://schemas.openxmlformats.org/drawingml/2006/main" w="0">
            <a:solidFill>
              <a:srgbClr val="103A5C"/>
            </a:solidFill>
            <a:prstDash val="solid"/>
          </a:ln>
        </p:spPr>
      </p:sp>
      <p:sp>
        <p:nvSpPr>
          <p:cNvPr id="23" name="">
            <a:extLst xmlns:a="http://schemas.openxmlformats.org/drawingml/2006/main">
              <a:ext uri="{FF2B5EF4-FFF2-40B4-BE49-F238E27FC236}">
                <a16:creationId xmlns:a16="http://schemas.microsoft.com/office/drawing/2014/main" id="{D28AE8A9-C28B-4CCB-BD09-9E563B19C114}"/>
              </a:ext>
            </a:extLst>
          </p:cNvPr>
          <p:cNvSpPr>
            <a:spLocks xmlns:a="http://schemas.openxmlformats.org/drawingml/2006/main" noGrp="1"/>
          </p:cNvSpPr>
          <p:nvPr/>
        </p:nvSpPr>
        <p:spPr>
          <a:xfrm xmlns:a="http://schemas.openxmlformats.org/drawingml/2006/main">
            <a:off x="790575" y="40671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8  Release</a:t>
            </a:r>
          </a:p>
        </p:txBody>
      </p:sp>
      <p:sp>
        <p:nvSpPr>
          <p:cNvPr id="24" name="">
            <a:extLst xmlns:a="http://schemas.openxmlformats.org/drawingml/2006/main">
              <a:ext uri="{FF2B5EF4-FFF2-40B4-BE49-F238E27FC236}">
                <a16:creationId xmlns:a16="http://schemas.microsoft.com/office/drawing/2014/main" id="{C3A99E01-8DD4-4428-AD61-373156AB101B}"/>
              </a:ext>
            </a:extLst>
          </p:cNvPr>
          <p:cNvSpPr>
            <a:spLocks xmlns:a="http://schemas.openxmlformats.org/drawingml/2006/main" noGrp="1"/>
          </p:cNvSpPr>
          <p:nvPr/>
        </p:nvSpPr>
        <p:spPr>
          <a:xfrm xmlns:a="http://schemas.openxmlformats.org/drawingml/2006/main">
            <a:off x="819150" y="43624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system publishes, pauses for a reviewer, or withholds the report.</a:t>
            </a:r>
          </a:p>
        </p:txBody>
      </p:sp>
      <p:sp>
        <p:nvSpPr>
          <p:cNvPr id="25" name="">
            <a:extLst xmlns:a="http://schemas.openxmlformats.org/drawingml/2006/main">
              <a:ext uri="{FF2B5EF4-FFF2-40B4-BE49-F238E27FC236}">
                <a16:creationId xmlns:a16="http://schemas.microsoft.com/office/drawing/2014/main" id="{9EE6DF54-46D8-439D-A714-91AF92A87A1F}"/>
              </a:ext>
            </a:extLst>
          </p:cNvPr>
          <p:cNvSpPr>
            <a:spLocks xmlns:a="http://schemas.openxmlformats.org/drawingml/2006/main" noGrp="1"/>
          </p:cNvSpPr>
          <p:nvPr/>
        </p:nvSpPr>
        <p:spPr>
          <a:xfrm xmlns:a="http://schemas.openxmlformats.org/drawingml/2006/main">
            <a:off x="3486150" y="3952875"/>
            <a:ext cx="2381250" cy="1352550"/>
          </a:xfrm>
          <a:prstGeom xmlns:a="http://schemas.openxmlformats.org/drawingml/2006/main" prst="roundRect">
            <a:avLst>
              <a:gd name="adj" fmla="val 9859"/>
            </a:avLst>
          </a:prstGeom>
          <a:solidFill xmlns:a="http://schemas.openxmlformats.org/drawingml/2006/main">
            <a:srgbClr val="C94A4A"/>
          </a:solidFill>
          <a:ln xmlns:a="http://schemas.openxmlformats.org/drawingml/2006/main" w="0">
            <a:solidFill>
              <a:srgbClr val="C94A4A"/>
            </a:solidFill>
            <a:prstDash val="solid"/>
          </a:ln>
        </p:spPr>
      </p:sp>
      <p:sp>
        <p:nvSpPr>
          <p:cNvPr id="26" name="">
            <a:extLst xmlns:a="http://schemas.openxmlformats.org/drawingml/2006/main">
              <a:ext uri="{FF2B5EF4-FFF2-40B4-BE49-F238E27FC236}">
                <a16:creationId xmlns:a16="http://schemas.microsoft.com/office/drawing/2014/main" id="{2F946FCE-D5D6-44F4-8777-F4298341A82E}"/>
              </a:ext>
            </a:extLst>
          </p:cNvPr>
          <p:cNvSpPr>
            <a:spLocks xmlns:a="http://schemas.openxmlformats.org/drawingml/2006/main" noGrp="1"/>
          </p:cNvSpPr>
          <p:nvPr/>
        </p:nvSpPr>
        <p:spPr>
          <a:xfrm xmlns:a="http://schemas.openxmlformats.org/drawingml/2006/main">
            <a:off x="3609975" y="40671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7  Quality gate</a:t>
            </a:r>
          </a:p>
        </p:txBody>
      </p:sp>
      <p:sp>
        <p:nvSpPr>
          <p:cNvPr id="27" name="">
            <a:extLst xmlns:a="http://schemas.openxmlformats.org/drawingml/2006/main">
              <a:ext uri="{FF2B5EF4-FFF2-40B4-BE49-F238E27FC236}">
                <a16:creationId xmlns:a16="http://schemas.microsoft.com/office/drawing/2014/main" id="{51FDF01F-3491-4FB1-AA89-AE8A0CF55F74}"/>
              </a:ext>
            </a:extLst>
          </p:cNvPr>
          <p:cNvSpPr>
            <a:spLocks xmlns:a="http://schemas.openxmlformats.org/drawingml/2006/main" noGrp="1"/>
          </p:cNvSpPr>
          <p:nvPr/>
        </p:nvSpPr>
        <p:spPr>
          <a:xfrm xmlns:a="http://schemas.openxmlformats.org/drawingml/2006/main">
            <a:off x="3638550" y="43624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Deterministic checks decide whether the report can be released.</a:t>
            </a:r>
          </a:p>
        </p:txBody>
      </p:sp>
      <p:sp>
        <p:nvSpPr>
          <p:cNvPr id="28" name="">
            <a:extLst xmlns:a="http://schemas.openxmlformats.org/drawingml/2006/main">
              <a:ext uri="{FF2B5EF4-FFF2-40B4-BE49-F238E27FC236}">
                <a16:creationId xmlns:a16="http://schemas.microsoft.com/office/drawing/2014/main" id="{0F61C590-C320-4466-A56A-FC7FD96C1A98}"/>
              </a:ext>
            </a:extLst>
          </p:cNvPr>
          <p:cNvSpPr>
            <a:spLocks xmlns:a="http://schemas.openxmlformats.org/drawingml/2006/main" noGrp="1"/>
          </p:cNvSpPr>
          <p:nvPr/>
        </p:nvSpPr>
        <p:spPr>
          <a:xfrm xmlns:a="http://schemas.openxmlformats.org/drawingml/2006/main">
            <a:off x="6305550" y="3952875"/>
            <a:ext cx="2381250" cy="1352550"/>
          </a:xfrm>
          <a:prstGeom xmlns:a="http://schemas.openxmlformats.org/drawingml/2006/main" prst="roundRect">
            <a:avLst>
              <a:gd name="adj" fmla="val 9859"/>
            </a:avLst>
          </a:prstGeom>
          <a:solidFill xmlns:a="http://schemas.openxmlformats.org/drawingml/2006/main">
            <a:srgbClr val="2F8B5B"/>
          </a:solidFill>
          <a:ln xmlns:a="http://schemas.openxmlformats.org/drawingml/2006/main" w="0">
            <a:solidFill>
              <a:srgbClr val="2F8B5B"/>
            </a:solidFill>
            <a:prstDash val="solid"/>
          </a:ln>
        </p:spPr>
      </p:sp>
      <p:sp>
        <p:nvSpPr>
          <p:cNvPr id="29" name="">
            <a:extLst xmlns:a="http://schemas.openxmlformats.org/drawingml/2006/main">
              <a:ext uri="{FF2B5EF4-FFF2-40B4-BE49-F238E27FC236}">
                <a16:creationId xmlns:a16="http://schemas.microsoft.com/office/drawing/2014/main" id="{C3F74305-AEFB-41F6-8FA8-A431D4AB5950}"/>
              </a:ext>
            </a:extLst>
          </p:cNvPr>
          <p:cNvSpPr>
            <a:spLocks xmlns:a="http://schemas.openxmlformats.org/drawingml/2006/main" noGrp="1"/>
          </p:cNvSpPr>
          <p:nvPr/>
        </p:nvSpPr>
        <p:spPr>
          <a:xfrm xmlns:a="http://schemas.openxmlformats.org/drawingml/2006/main">
            <a:off x="6429375" y="40671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6  Assemble report</a:t>
            </a:r>
          </a:p>
        </p:txBody>
      </p:sp>
      <p:sp>
        <p:nvSpPr>
          <p:cNvPr id="30" name="">
            <a:extLst xmlns:a="http://schemas.openxmlformats.org/drawingml/2006/main">
              <a:ext uri="{FF2B5EF4-FFF2-40B4-BE49-F238E27FC236}">
                <a16:creationId xmlns:a16="http://schemas.microsoft.com/office/drawing/2014/main" id="{80E6A96E-D8C4-47C7-AD92-D2054460847C}"/>
              </a:ext>
            </a:extLst>
          </p:cNvPr>
          <p:cNvSpPr>
            <a:spLocks xmlns:a="http://schemas.openxmlformats.org/drawingml/2006/main" noGrp="1"/>
          </p:cNvSpPr>
          <p:nvPr/>
        </p:nvSpPr>
        <p:spPr>
          <a:xfrm xmlns:a="http://schemas.openxmlformats.org/drawingml/2006/main">
            <a:off x="6457950" y="43624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Editor preserves the selected evidence and calculated metrics in a validated schema.</a:t>
            </a:r>
          </a:p>
        </p:txBody>
      </p:sp>
      <p:sp>
        <p:nvSpPr>
          <p:cNvPr id="31" name="">
            <a:extLst xmlns:a="http://schemas.openxmlformats.org/drawingml/2006/main">
              <a:ext uri="{FF2B5EF4-FFF2-40B4-BE49-F238E27FC236}">
                <a16:creationId xmlns:a16="http://schemas.microsoft.com/office/drawing/2014/main" id="{3E8856E0-9816-45FC-B68A-BF6D007394ED}"/>
              </a:ext>
            </a:extLst>
          </p:cNvPr>
          <p:cNvSpPr>
            <a:spLocks xmlns:a="http://schemas.openxmlformats.org/drawingml/2006/main" noGrp="1"/>
          </p:cNvSpPr>
          <p:nvPr/>
        </p:nvSpPr>
        <p:spPr>
          <a:xfrm xmlns:a="http://schemas.openxmlformats.org/drawingml/2006/main">
            <a:off x="9124950" y="3952875"/>
            <a:ext cx="2381250" cy="1352550"/>
          </a:xfrm>
          <a:prstGeom xmlns:a="http://schemas.openxmlformats.org/drawingml/2006/main" prst="roundRect">
            <a:avLst>
              <a:gd name="adj" fmla="val 9859"/>
            </a:avLst>
          </a:prstGeom>
          <a:solidFill xmlns:a="http://schemas.openxmlformats.org/drawingml/2006/main">
            <a:srgbClr val="D28A1D"/>
          </a:solidFill>
          <a:ln xmlns:a="http://schemas.openxmlformats.org/drawingml/2006/main" w="0">
            <a:solidFill>
              <a:srgbClr val="D28A1D"/>
            </a:solidFill>
            <a:prstDash val="solid"/>
          </a:ln>
        </p:spPr>
      </p:sp>
      <p:sp>
        <p:nvSpPr>
          <p:cNvPr id="32" name="">
            <a:extLst xmlns:a="http://schemas.openxmlformats.org/drawingml/2006/main">
              <a:ext uri="{FF2B5EF4-FFF2-40B4-BE49-F238E27FC236}">
                <a16:creationId xmlns:a16="http://schemas.microsoft.com/office/drawing/2014/main" id="{EE842708-AA65-497A-9B11-3A26C1445767}"/>
              </a:ext>
            </a:extLst>
          </p:cNvPr>
          <p:cNvSpPr>
            <a:spLocks xmlns:a="http://schemas.openxmlformats.org/drawingml/2006/main" noGrp="1"/>
          </p:cNvSpPr>
          <p:nvPr/>
        </p:nvSpPr>
        <p:spPr>
          <a:xfrm xmlns:a="http://schemas.openxmlformats.org/drawingml/2006/main">
            <a:off x="9248775" y="406717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5  Challenge cases</a:t>
            </a:r>
          </a:p>
        </p:txBody>
      </p:sp>
      <p:sp>
        <p:nvSpPr>
          <p:cNvPr id="33" name="">
            <a:extLst xmlns:a="http://schemas.openxmlformats.org/drawingml/2006/main">
              <a:ext uri="{FF2B5EF4-FFF2-40B4-BE49-F238E27FC236}">
                <a16:creationId xmlns:a16="http://schemas.microsoft.com/office/drawing/2014/main" id="{F3A0140E-F8B5-400F-BC04-738AE6036D53}"/>
              </a:ext>
            </a:extLst>
          </p:cNvPr>
          <p:cNvSpPr>
            <a:spLocks xmlns:a="http://schemas.openxmlformats.org/drawingml/2006/main" noGrp="1"/>
          </p:cNvSpPr>
          <p:nvPr/>
        </p:nvSpPr>
        <p:spPr>
          <a:xfrm xmlns:a="http://schemas.openxmlformats.org/drawingml/2006/main">
            <a:off x="9277350" y="4362450"/>
            <a:ext cx="2076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Critic scores support, consistency, materiality, and resilience.</a:t>
            </a:r>
          </a:p>
        </p:txBody>
      </p:sp>
      <p:cxnSp>
        <p:nvCxnSpPr>
          <p:cNvPr id="109" name=""/>
          <p:cNvCxnSpPr>
            <a:stCxn xmlns:a="http://schemas.openxmlformats.org/drawingml/2006/main" id="31" idx="1"/>
            <a:endCxn xmlns:a="http://schemas.openxmlformats.org/drawingml/2006/main" id="28" idx="3"/>
          </p:cNvCxnSpPr>
          <p:nvPr/>
        </p:nvCxnSpPr>
        <p:spPr>
          <a:xfrm xmlns:a="http://schemas.openxmlformats.org/drawingml/2006/main" flipH="1">
            <a:off x="8686800" y="4629150"/>
            <a:ext cx="4381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110" name=""/>
          <p:cNvCxnSpPr>
            <a:stCxn xmlns:a="http://schemas.openxmlformats.org/drawingml/2006/main" id="28" idx="1"/>
            <a:endCxn xmlns:a="http://schemas.openxmlformats.org/drawingml/2006/main" id="25" idx="3"/>
          </p:cNvCxnSpPr>
          <p:nvPr/>
        </p:nvCxnSpPr>
        <p:spPr>
          <a:xfrm xmlns:a="http://schemas.openxmlformats.org/drawingml/2006/main" flipH="1">
            <a:off x="5867400" y="4629150"/>
            <a:ext cx="4381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111" name=""/>
          <p:cNvCxnSpPr>
            <a:stCxn xmlns:a="http://schemas.openxmlformats.org/drawingml/2006/main" id="25" idx="1"/>
            <a:endCxn xmlns:a="http://schemas.openxmlformats.org/drawingml/2006/main" id="22" idx="3"/>
          </p:cNvCxnSpPr>
          <p:nvPr/>
        </p:nvCxnSpPr>
        <p:spPr>
          <a:xfrm xmlns:a="http://schemas.openxmlformats.org/drawingml/2006/main" flipH="1">
            <a:off x="3048000" y="4629150"/>
            <a:ext cx="4381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112" name=""/>
          <p:cNvCxnSpPr>
            <a:stCxn xmlns:a="http://schemas.openxmlformats.org/drawingml/2006/main" id="16" idx="2"/>
            <a:endCxn xmlns:a="http://schemas.openxmlformats.org/drawingml/2006/main" id="31" idx="0"/>
          </p:cNvCxnSpPr>
          <p:nvPr/>
        </p:nvCxnSpPr>
        <p:spPr>
          <a:xfrm xmlns:a="http://schemas.openxmlformats.org/drawingml/2006/main">
            <a:off x="10315575" y="2828925"/>
            <a:ext cx="0" cy="112395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38" name="">
            <a:extLst xmlns:a="http://schemas.openxmlformats.org/drawingml/2006/main">
              <a:ext uri="{FF2B5EF4-FFF2-40B4-BE49-F238E27FC236}">
                <a16:creationId xmlns:a16="http://schemas.microsoft.com/office/drawing/2014/main" id="{CDC28D80-88CE-417A-968E-8D6C33A9CB8B}"/>
              </a:ext>
            </a:extLst>
          </p:cNvPr>
          <p:cNvSpPr>
            <a:spLocks xmlns:a="http://schemas.openxmlformats.org/drawingml/2006/main" noGrp="1"/>
          </p:cNvSpPr>
          <p:nvPr/>
        </p:nvSpPr>
        <p:spPr>
          <a:xfrm xmlns:a="http://schemas.openxmlformats.org/drawingml/2006/main">
            <a:off x="1200150" y="556260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75" b="0">
                <a:solidFill>
                  <a:srgbClr val="5E748A"/>
                </a:solidFill>
                <a:latin typeface="Arial"/>
                <a:ea typeface="Arial"/>
                <a:cs typeface="Arial"/>
              </a:defRPr>
            </a:pPr>
            <a:r>
              <a:rPr sz="1275" b="0">
                <a:solidFill>
                  <a:srgbClr val="5E748A"/>
                </a:solidFill>
                <a:latin typeface="Arial"/>
                <a:ea typeface="Arial"/>
                <a:cs typeface="Arial"/>
              </a:rPr>
              <a:t>One bounded refinement can return the Critic's feedback to the Analyst. Missing evidence or unsupported report claims can return to targeted research.</a:t>
            </a:r>
          </a:p>
        </p:txBody>
      </p:sp>
    </p:spTree>
    <p:extLst>
      <p:ext uri="{BB962C8B-B14F-4D97-AF65-F5344CB8AC3E}">
        <p14:creationId xmlns:p14="http://schemas.microsoft.com/office/powerpoint/2010/main" val="1129274283"/>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54F5B6F-6812-4F94-9430-B26FCD0FBED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8E964E1C-573D-4797-98B4-6BA69E60D78B}"/>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Nodes 1 to 3: defining the research job</a:t>
            </a:r>
          </a:p>
        </p:txBody>
      </p:sp>
      <p:sp>
        <p:nvSpPr>
          <p:cNvPr id="3" name="">
            <a:extLst xmlns:a="http://schemas.openxmlformats.org/drawingml/2006/main">
              <a:ext uri="{FF2B5EF4-FFF2-40B4-BE49-F238E27FC236}">
                <a16:creationId xmlns:a16="http://schemas.microsoft.com/office/drawing/2014/main" id="{36503E21-3FCA-446B-A159-345B6DC40EF9}"/>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These nodes make the request safe, time-aligned, and testable before research begins.</a:t>
            </a:r>
          </a:p>
        </p:txBody>
      </p:sp>
      <p:sp>
        <p:nvSpPr>
          <p:cNvPr id="4" name="">
            <a:extLst xmlns:a="http://schemas.openxmlformats.org/drawingml/2006/main">
              <a:ext uri="{FF2B5EF4-FFF2-40B4-BE49-F238E27FC236}">
                <a16:creationId xmlns:a16="http://schemas.microsoft.com/office/drawing/2014/main" id="{D9C85041-A55E-434D-A752-6AEA66244732}"/>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EEBC5FFE-E619-405C-8D00-82E259C6881D}"/>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F181F84D-D02C-4EF1-9379-AEF03CDB756D}"/>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D1E5578D-2384-4829-8236-465BCD033948}"/>
              </a:ext>
            </a:extLst>
          </p:cNvPr>
          <p:cNvSpPr>
            <a:spLocks xmlns:a="http://schemas.openxmlformats.org/drawingml/2006/main" noGrp="1"/>
          </p:cNvSpPr>
          <p:nvPr/>
        </p:nvSpPr>
        <p:spPr>
          <a:xfrm xmlns:a="http://schemas.openxmlformats.org/drawingml/2006/main">
            <a:off x="800100" y="1504950"/>
            <a:ext cx="552450" cy="552450"/>
          </a:xfrm>
          <a:prstGeom xmlns:a="http://schemas.openxmlformats.org/drawingml/2006/main" prst="ellipse">
            <a:avLst/>
          </a:prstGeom>
          <a:solidFill xmlns:a="http://schemas.openxmlformats.org/drawingml/2006/main">
            <a:srgbClr val="C94A4A"/>
          </a:solidFill>
          <a:ln xmlns:a="http://schemas.openxmlformats.org/drawingml/2006/main" w="0">
            <a:solidFill>
              <a:srgbClr val="C94A4A"/>
            </a:solidFill>
            <a:prstDash val="solid"/>
          </a:ln>
        </p:spPr>
      </p:sp>
      <p:sp>
        <p:nvSpPr>
          <p:cNvPr id="8" name="">
            <a:extLst xmlns:a="http://schemas.openxmlformats.org/drawingml/2006/main">
              <a:ext uri="{FF2B5EF4-FFF2-40B4-BE49-F238E27FC236}">
                <a16:creationId xmlns:a16="http://schemas.microsoft.com/office/drawing/2014/main" id="{51BA04B5-0938-4B91-8AFB-4F55F1B5EB9D}"/>
              </a:ext>
            </a:extLst>
          </p:cNvPr>
          <p:cNvSpPr>
            <a:spLocks xmlns:a="http://schemas.openxmlformats.org/drawingml/2006/main" noGrp="1"/>
          </p:cNvSpPr>
          <p:nvPr/>
        </p:nvSpPr>
        <p:spPr>
          <a:xfrm xmlns:a="http://schemas.openxmlformats.org/drawingml/2006/main">
            <a:off x="800100" y="15811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BD3FE5AC-7260-4A1C-B923-14234A4491B8}"/>
              </a:ext>
            </a:extLst>
          </p:cNvPr>
          <p:cNvSpPr>
            <a:spLocks xmlns:a="http://schemas.openxmlformats.org/drawingml/2006/main" noGrp="1"/>
          </p:cNvSpPr>
          <p:nvPr/>
        </p:nvSpPr>
        <p:spPr>
          <a:xfrm xmlns:a="http://schemas.openxmlformats.org/drawingml/2006/main">
            <a:off x="1638300" y="149542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75" b="1">
                <a:solidFill>
                  <a:srgbClr val="103A5C"/>
                </a:solidFill>
                <a:latin typeface="Arial"/>
                <a:ea typeface="Arial"/>
                <a:cs typeface="Arial"/>
              </a:defRPr>
            </a:pPr>
            <a:r>
              <a:rPr sz="1575" b="1">
                <a:solidFill>
                  <a:srgbClr val="103A5C"/>
                </a:solidFill>
                <a:latin typeface="Arial"/>
                <a:ea typeface="Arial"/>
                <a:cs typeface="Arial"/>
              </a:rPr>
              <a:t>Input guard</a:t>
            </a:r>
          </a:p>
        </p:txBody>
      </p:sp>
      <p:sp>
        <p:nvSpPr>
          <p:cNvPr id="10" name="">
            <a:extLst xmlns:a="http://schemas.openxmlformats.org/drawingml/2006/main">
              <a:ext uri="{FF2B5EF4-FFF2-40B4-BE49-F238E27FC236}">
                <a16:creationId xmlns:a16="http://schemas.microsoft.com/office/drawing/2014/main" id="{0243F617-4297-4FE1-97D4-DC7F467A5D9F}"/>
              </a:ext>
            </a:extLst>
          </p:cNvPr>
          <p:cNvSpPr>
            <a:spLocks xmlns:a="http://schemas.openxmlformats.org/drawingml/2006/main" noGrp="1"/>
          </p:cNvSpPr>
          <p:nvPr/>
        </p:nvSpPr>
        <p:spPr>
          <a:xfrm xmlns:a="http://schemas.openxmlformats.org/drawingml/2006/main">
            <a:off x="4000500" y="148590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88" b="0">
                <a:solidFill>
                  <a:srgbClr val="17324D"/>
                </a:solidFill>
                <a:latin typeface="Arial"/>
                <a:ea typeface="Arial"/>
                <a:cs typeface="Arial"/>
              </a:defRPr>
            </a:pPr>
            <a:r>
              <a:rPr sz="1388" b="0">
                <a:solidFill>
                  <a:srgbClr val="17324D"/>
                </a:solidFill>
                <a:latin typeface="Arial"/>
                <a:ea typeface="Arial"/>
                <a:cs typeface="Arial"/>
              </a:rPr>
              <a:t>The input guard validates the ticker and question. It rejects invalid input and reframes requests for personalized advice as neutral company research.</a:t>
            </a:r>
          </a:p>
        </p:txBody>
      </p:sp>
      <p:sp>
        <p:nvSpPr>
          <p:cNvPr id="11" name="">
            <a:extLst xmlns:a="http://schemas.openxmlformats.org/drawingml/2006/main">
              <a:ext uri="{FF2B5EF4-FFF2-40B4-BE49-F238E27FC236}">
                <a16:creationId xmlns:a16="http://schemas.microsoft.com/office/drawing/2014/main" id="{BCB13256-E6C2-4F34-878D-AA69F733489B}"/>
              </a:ext>
            </a:extLst>
          </p:cNvPr>
          <p:cNvSpPr>
            <a:spLocks xmlns:a="http://schemas.openxmlformats.org/drawingml/2006/main" noGrp="1"/>
          </p:cNvSpPr>
          <p:nvPr/>
        </p:nvSpPr>
        <p:spPr>
          <a:xfrm xmlns:a="http://schemas.openxmlformats.org/drawingml/2006/main">
            <a:off x="1076325" y="2181225"/>
            <a:ext cx="0" cy="0"/>
          </a:xfrm>
          <a:prstGeom xmlns:a="http://schemas.openxmlformats.org/drawingml/2006/main" prst="line">
            <a:avLst/>
          </a:prstGeom>
          <a:noFill xmlns:a="http://schemas.openxmlformats.org/drawingml/2006/main"/>
          <a:ln xmlns:a="http://schemas.openxmlformats.org/drawingml/2006/main" w="19050">
            <a:solidFill>
              <a:srgbClr val="D5E0EA"/>
            </a:solidFill>
            <a:prstDash val="solid"/>
          </a:ln>
        </p:spPr>
      </p:sp>
      <p:sp>
        <p:nvSpPr>
          <p:cNvPr id="12" name="">
            <a:extLst xmlns:a="http://schemas.openxmlformats.org/drawingml/2006/main">
              <a:ext uri="{FF2B5EF4-FFF2-40B4-BE49-F238E27FC236}">
                <a16:creationId xmlns:a16="http://schemas.microsoft.com/office/drawing/2014/main" id="{854685B2-CDF0-4AE1-938E-1566A0CC9B93}"/>
              </a:ext>
            </a:extLst>
          </p:cNvPr>
          <p:cNvSpPr>
            <a:spLocks xmlns:a="http://schemas.openxmlformats.org/drawingml/2006/main" noGrp="1"/>
          </p:cNvSpPr>
          <p:nvPr/>
        </p:nvSpPr>
        <p:spPr>
          <a:xfrm xmlns:a="http://schemas.openxmlformats.org/drawingml/2006/main">
            <a:off x="800100" y="2857500"/>
            <a:ext cx="552450" cy="552450"/>
          </a:xfrm>
          <a:prstGeom xmlns:a="http://schemas.openxmlformats.org/drawingml/2006/main" prst="ellipse">
            <a:avLst/>
          </a:prstGeom>
          <a:solidFill xmlns:a="http://schemas.openxmlformats.org/drawingml/2006/main">
            <a:srgbClr val="2F8B5B"/>
          </a:solidFill>
          <a:ln xmlns:a="http://schemas.openxmlformats.org/drawingml/2006/main" w="0">
            <a:solidFill>
              <a:srgbClr val="2F8B5B"/>
            </a:solidFill>
            <a:prstDash val="solid"/>
          </a:ln>
        </p:spPr>
      </p:sp>
      <p:sp>
        <p:nvSpPr>
          <p:cNvPr id="13" name="">
            <a:extLst xmlns:a="http://schemas.openxmlformats.org/drawingml/2006/main">
              <a:ext uri="{FF2B5EF4-FFF2-40B4-BE49-F238E27FC236}">
                <a16:creationId xmlns:a16="http://schemas.microsoft.com/office/drawing/2014/main" id="{55269BF4-FCDE-44D5-AD71-3CA7DA8CBB94}"/>
              </a:ext>
            </a:extLst>
          </p:cNvPr>
          <p:cNvSpPr>
            <a:spLocks xmlns:a="http://schemas.openxmlformats.org/drawingml/2006/main" noGrp="1"/>
          </p:cNvSpPr>
          <p:nvPr/>
        </p:nvSpPr>
        <p:spPr>
          <a:xfrm xmlns:a="http://schemas.openxmlformats.org/drawingml/2006/main">
            <a:off x="800100" y="29337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1941571C-A239-4F9A-8419-6C440F37611E}"/>
              </a:ext>
            </a:extLst>
          </p:cNvPr>
          <p:cNvSpPr>
            <a:spLocks xmlns:a="http://schemas.openxmlformats.org/drawingml/2006/main" noGrp="1"/>
          </p:cNvSpPr>
          <p:nvPr/>
        </p:nvSpPr>
        <p:spPr>
          <a:xfrm xmlns:a="http://schemas.openxmlformats.org/drawingml/2006/main">
            <a:off x="1638300" y="284797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75" b="1">
                <a:solidFill>
                  <a:srgbClr val="103A5C"/>
                </a:solidFill>
                <a:latin typeface="Arial"/>
                <a:ea typeface="Arial"/>
                <a:cs typeface="Arial"/>
              </a:defRPr>
            </a:pPr>
            <a:r>
              <a:rPr sz="1575" b="1">
                <a:solidFill>
                  <a:srgbClr val="103A5C"/>
                </a:solidFill>
                <a:latin typeface="Arial"/>
                <a:ea typeface="Arial"/>
                <a:cs typeface="Arial"/>
              </a:rPr>
              <a:t>Source setup</a:t>
            </a:r>
          </a:p>
        </p:txBody>
      </p:sp>
      <p:sp>
        <p:nvSpPr>
          <p:cNvPr id="15" name="">
            <a:extLst xmlns:a="http://schemas.openxmlformats.org/drawingml/2006/main">
              <a:ext uri="{FF2B5EF4-FFF2-40B4-BE49-F238E27FC236}">
                <a16:creationId xmlns:a16="http://schemas.microsoft.com/office/drawing/2014/main" id="{ED81AA52-7BA2-422D-B200-CD4D6311445D}"/>
              </a:ext>
            </a:extLst>
          </p:cNvPr>
          <p:cNvSpPr>
            <a:spLocks xmlns:a="http://schemas.openxmlformats.org/drawingml/2006/main" noGrp="1"/>
          </p:cNvSpPr>
          <p:nvPr/>
        </p:nvSpPr>
        <p:spPr>
          <a:xfrm xmlns:a="http://schemas.openxmlformats.org/drawingml/2006/main">
            <a:off x="4000500" y="283845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88" b="0">
                <a:solidFill>
                  <a:srgbClr val="17324D"/>
                </a:solidFill>
                <a:latin typeface="Arial"/>
                <a:ea typeface="Arial"/>
                <a:cs typeface="Arial"/>
              </a:defRPr>
            </a:pPr>
            <a:r>
              <a:rPr sz="1388" b="0">
                <a:solidFill>
                  <a:srgbClr val="17324D"/>
                </a:solidFill>
                <a:latin typeface="Arial"/>
                <a:ea typeface="Arial"/>
                <a:cs typeface="Arial"/>
              </a:rPr>
              <a:t>Source setup resolves one analysis window. It reuses complete filing and transcript chunks from Chroma, or ingests the missing documents when coverage is incomplete.</a:t>
            </a:r>
          </a:p>
        </p:txBody>
      </p:sp>
      <p:sp>
        <p:nvSpPr>
          <p:cNvPr id="16" name="">
            <a:extLst xmlns:a="http://schemas.openxmlformats.org/drawingml/2006/main">
              <a:ext uri="{FF2B5EF4-FFF2-40B4-BE49-F238E27FC236}">
                <a16:creationId xmlns:a16="http://schemas.microsoft.com/office/drawing/2014/main" id="{74D97EF9-0038-4637-B341-4F0F0EE6A5BB}"/>
              </a:ext>
            </a:extLst>
          </p:cNvPr>
          <p:cNvSpPr>
            <a:spLocks xmlns:a="http://schemas.openxmlformats.org/drawingml/2006/main" noGrp="1"/>
          </p:cNvSpPr>
          <p:nvPr/>
        </p:nvSpPr>
        <p:spPr>
          <a:xfrm xmlns:a="http://schemas.openxmlformats.org/drawingml/2006/main">
            <a:off x="1076325" y="3533775"/>
            <a:ext cx="0" cy="0"/>
          </a:xfrm>
          <a:prstGeom xmlns:a="http://schemas.openxmlformats.org/drawingml/2006/main" prst="line">
            <a:avLst/>
          </a:prstGeom>
          <a:noFill xmlns:a="http://schemas.openxmlformats.org/drawingml/2006/main"/>
          <a:ln xmlns:a="http://schemas.openxmlformats.org/drawingml/2006/main" w="19050">
            <a:solidFill>
              <a:srgbClr val="D5E0EA"/>
            </a:solidFill>
            <a:prstDash val="solid"/>
          </a:ln>
        </p:spPr>
      </p:sp>
      <p:sp>
        <p:nvSpPr>
          <p:cNvPr id="17" name="">
            <a:extLst xmlns:a="http://schemas.openxmlformats.org/drawingml/2006/main">
              <a:ext uri="{FF2B5EF4-FFF2-40B4-BE49-F238E27FC236}">
                <a16:creationId xmlns:a16="http://schemas.microsoft.com/office/drawing/2014/main" id="{A8DC9725-0A35-4586-887E-AEE5EEDE24DA}"/>
              </a:ext>
            </a:extLst>
          </p:cNvPr>
          <p:cNvSpPr>
            <a:spLocks xmlns:a="http://schemas.openxmlformats.org/drawingml/2006/main" noGrp="1"/>
          </p:cNvSpPr>
          <p:nvPr/>
        </p:nvSpPr>
        <p:spPr>
          <a:xfrm xmlns:a="http://schemas.openxmlformats.org/drawingml/2006/main">
            <a:off x="800100" y="4210050"/>
            <a:ext cx="552450" cy="55245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18" name="">
            <a:extLst xmlns:a="http://schemas.openxmlformats.org/drawingml/2006/main">
              <a:ext uri="{FF2B5EF4-FFF2-40B4-BE49-F238E27FC236}">
                <a16:creationId xmlns:a16="http://schemas.microsoft.com/office/drawing/2014/main" id="{D3ADE461-97FB-42E3-97CE-B8BEE7A43B98}"/>
              </a:ext>
            </a:extLst>
          </p:cNvPr>
          <p:cNvSpPr>
            <a:spLocks xmlns:a="http://schemas.openxmlformats.org/drawingml/2006/main" noGrp="1"/>
          </p:cNvSpPr>
          <p:nvPr/>
        </p:nvSpPr>
        <p:spPr>
          <a:xfrm xmlns:a="http://schemas.openxmlformats.org/drawingml/2006/main">
            <a:off x="800100" y="428625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2A1DA8C2-A3FB-432C-8A6E-CBE4BD87343A}"/>
              </a:ext>
            </a:extLst>
          </p:cNvPr>
          <p:cNvSpPr>
            <a:spLocks xmlns:a="http://schemas.openxmlformats.org/drawingml/2006/main" noGrp="1"/>
          </p:cNvSpPr>
          <p:nvPr/>
        </p:nvSpPr>
        <p:spPr>
          <a:xfrm xmlns:a="http://schemas.openxmlformats.org/drawingml/2006/main">
            <a:off x="1638300" y="420052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75" b="1">
                <a:solidFill>
                  <a:srgbClr val="103A5C"/>
                </a:solidFill>
                <a:latin typeface="Arial"/>
                <a:ea typeface="Arial"/>
                <a:cs typeface="Arial"/>
              </a:defRPr>
            </a:pPr>
            <a:r>
              <a:rPr sz="1575" b="1">
                <a:solidFill>
                  <a:srgbClr val="103A5C"/>
                </a:solidFill>
                <a:latin typeface="Arial"/>
                <a:ea typeface="Arial"/>
                <a:cs typeface="Arial"/>
              </a:rPr>
              <a:t>Planner</a:t>
            </a:r>
          </a:p>
        </p:txBody>
      </p:sp>
      <p:sp>
        <p:nvSpPr>
          <p:cNvPr id="20" name="">
            <a:extLst xmlns:a="http://schemas.openxmlformats.org/drawingml/2006/main">
              <a:ext uri="{FF2B5EF4-FFF2-40B4-BE49-F238E27FC236}">
                <a16:creationId xmlns:a16="http://schemas.microsoft.com/office/drawing/2014/main" id="{7E830097-014A-44EF-A0EF-14EB50A9BE10}"/>
              </a:ext>
            </a:extLst>
          </p:cNvPr>
          <p:cNvSpPr>
            <a:spLocks xmlns:a="http://schemas.openxmlformats.org/drawingml/2006/main" noGrp="1"/>
          </p:cNvSpPr>
          <p:nvPr/>
        </p:nvSpPr>
        <p:spPr>
          <a:xfrm xmlns:a="http://schemas.openxmlformats.org/drawingml/2006/main">
            <a:off x="4000500" y="4191000"/>
            <a:ext cx="685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88" b="0">
                <a:solidFill>
                  <a:srgbClr val="17324D"/>
                </a:solidFill>
                <a:latin typeface="Arial"/>
                <a:ea typeface="Arial"/>
                <a:cs typeface="Arial"/>
              </a:defRPr>
            </a:pPr>
            <a:r>
              <a:rPr sz="1388" b="0">
                <a:solidFill>
                  <a:srgbClr val="17324D"/>
                </a:solidFill>
                <a:latin typeface="Arial"/>
                <a:ea typeface="Arial"/>
                <a:cs typeface="Arial"/>
              </a:rPr>
              <a:t>The Planner converts the question into structured evidence tasks. Each task names the required evidence type, purpose, and completion condition.</a:t>
            </a:r>
          </a:p>
        </p:txBody>
      </p:sp>
      <p:sp>
        <p:nvSpPr>
          <p:cNvPr id="21" name="">
            <a:extLst xmlns:a="http://schemas.openxmlformats.org/drawingml/2006/main">
              <a:ext uri="{FF2B5EF4-FFF2-40B4-BE49-F238E27FC236}">
                <a16:creationId xmlns:a16="http://schemas.microsoft.com/office/drawing/2014/main" id="{C912B35D-815B-4894-9F07-137A04EC16BC}"/>
              </a:ext>
            </a:extLst>
          </p:cNvPr>
          <p:cNvSpPr>
            <a:spLocks xmlns:a="http://schemas.openxmlformats.org/drawingml/2006/main" noGrp="1"/>
          </p:cNvSpPr>
          <p:nvPr/>
        </p:nvSpPr>
        <p:spPr>
          <a:xfrm xmlns:a="http://schemas.openxmlformats.org/drawingml/2006/main">
            <a:off x="1600200" y="5562600"/>
            <a:ext cx="8810625" cy="552450"/>
          </a:xfrm>
          <a:prstGeom xmlns:a="http://schemas.openxmlformats.org/drawingml/2006/main" prst="roundRect">
            <a:avLst>
              <a:gd name="adj" fmla="val 13793"/>
            </a:avLst>
          </a:prstGeom>
          <a:solidFill xmlns:a="http://schemas.openxmlformats.org/drawingml/2006/main">
            <a:srgbClr val="E6F6F4"/>
          </a:solidFill>
          <a:ln xmlns:a="http://schemas.openxmlformats.org/drawingml/2006/main" w="0">
            <a:solidFill>
              <a:srgbClr val="009B96"/>
            </a:solidFill>
            <a:prstDash val="solid"/>
          </a:ln>
        </p:spPr>
      </p:sp>
      <p:sp>
        <p:nvSpPr>
          <p:cNvPr id="22" name="">
            <a:extLst xmlns:a="http://schemas.openxmlformats.org/drawingml/2006/main">
              <a:ext uri="{FF2B5EF4-FFF2-40B4-BE49-F238E27FC236}">
                <a16:creationId xmlns:a16="http://schemas.microsoft.com/office/drawing/2014/main" id="{B97BF1F6-803D-4EA6-8DFC-645E508BA85D}"/>
              </a:ext>
            </a:extLst>
          </p:cNvPr>
          <p:cNvSpPr>
            <a:spLocks xmlns:a="http://schemas.openxmlformats.org/drawingml/2006/main" noGrp="1"/>
          </p:cNvSpPr>
          <p:nvPr/>
        </p:nvSpPr>
        <p:spPr>
          <a:xfrm xmlns:a="http://schemas.openxmlformats.org/drawingml/2006/main">
            <a:off x="1809750" y="5695950"/>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350" b="1">
                <a:solidFill>
                  <a:srgbClr val="103A5C"/>
                </a:solidFill>
                <a:latin typeface="Arial"/>
                <a:ea typeface="Arial"/>
                <a:cs typeface="Arial"/>
              </a:defRPr>
            </a:pPr>
            <a:r>
              <a:rPr sz="1350" b="1">
                <a:solidFill>
                  <a:srgbClr val="103A5C"/>
                </a:solidFill>
                <a:latin typeface="Arial"/>
                <a:ea typeface="Arial"/>
                <a:cs typeface="Arial"/>
              </a:rPr>
              <a:t>Output: a validated request, one date window, source coverage, and an ordered evidence plan.</a:t>
            </a:r>
          </a:p>
        </p:txBody>
      </p:sp>
    </p:spTree>
    <p:extLst>
      <p:ext uri="{BB962C8B-B14F-4D97-AF65-F5344CB8AC3E}">
        <p14:creationId xmlns:p14="http://schemas.microsoft.com/office/powerpoint/2010/main" val="9964255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906056D5-68F7-49C7-9658-64A4E2A2C31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87413738-E80C-4345-BDCA-3ABC07742FDB}"/>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Nodes 4 to 6: tool execution and vector retrieval</a:t>
            </a:r>
          </a:p>
        </p:txBody>
      </p:sp>
      <p:sp>
        <p:nvSpPr>
          <p:cNvPr id="3" name="">
            <a:extLst xmlns:a="http://schemas.openxmlformats.org/drawingml/2006/main">
              <a:ext uri="{FF2B5EF4-FFF2-40B4-BE49-F238E27FC236}">
                <a16:creationId xmlns:a16="http://schemas.microsoft.com/office/drawing/2014/main" id="{D958CA4A-519D-4F3A-8009-C7B3B3F81870}"/>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Planner tasks define what evidence is needed. The allowed ToolNode functions define how the Researcher may obtain it.</a:t>
            </a:r>
          </a:p>
        </p:txBody>
      </p:sp>
      <p:sp>
        <p:nvSpPr>
          <p:cNvPr id="4" name="">
            <a:extLst xmlns:a="http://schemas.openxmlformats.org/drawingml/2006/main">
              <a:ext uri="{FF2B5EF4-FFF2-40B4-BE49-F238E27FC236}">
                <a16:creationId xmlns:a16="http://schemas.microsoft.com/office/drawing/2014/main" id="{D80E5AAE-A6B9-491E-AF89-B026C0371893}"/>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7C548136-CFA1-464B-B5C2-42B612046EFA}"/>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A44A905D-EC89-4641-A3AF-5BAA33CBD99E}"/>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AE95873B-A0BD-477F-BBBA-77A0FBE3C694}"/>
              </a:ext>
            </a:extLst>
          </p:cNvPr>
          <p:cNvSpPr>
            <a:spLocks xmlns:a="http://schemas.openxmlformats.org/drawingml/2006/main" noGrp="1"/>
          </p:cNvSpPr>
          <p:nvPr/>
        </p:nvSpPr>
        <p:spPr>
          <a:xfrm xmlns:a="http://schemas.openxmlformats.org/drawingml/2006/main">
            <a:off x="666750" y="1809750"/>
            <a:ext cx="2714625" cy="1381125"/>
          </a:xfrm>
          <a:prstGeom xmlns:a="http://schemas.openxmlformats.org/drawingml/2006/main" prst="roundRect">
            <a:avLst>
              <a:gd name="adj" fmla="val 9655"/>
            </a:avLst>
          </a:prstGeom>
          <a:solidFill xmlns:a="http://schemas.openxmlformats.org/drawingml/2006/main">
            <a:srgbClr val="103A5C"/>
          </a:solidFill>
          <a:ln xmlns:a="http://schemas.openxmlformats.org/drawingml/2006/main" w="0">
            <a:solidFill>
              <a:srgbClr val="103A5C"/>
            </a:solidFill>
            <a:prstDash val="solid"/>
          </a:ln>
        </p:spPr>
      </p:sp>
      <p:sp>
        <p:nvSpPr>
          <p:cNvPr id="8" name="">
            <a:extLst xmlns:a="http://schemas.openxmlformats.org/drawingml/2006/main">
              <a:ext uri="{FF2B5EF4-FFF2-40B4-BE49-F238E27FC236}">
                <a16:creationId xmlns:a16="http://schemas.microsoft.com/office/drawing/2014/main" id="{2AB4834E-5654-4EC9-B975-2373E727E030}"/>
              </a:ext>
            </a:extLst>
          </p:cNvPr>
          <p:cNvSpPr>
            <a:spLocks xmlns:a="http://schemas.openxmlformats.org/drawingml/2006/main" noGrp="1"/>
          </p:cNvSpPr>
          <p:nvPr/>
        </p:nvSpPr>
        <p:spPr>
          <a:xfrm xmlns:a="http://schemas.openxmlformats.org/drawingml/2006/main">
            <a:off x="790575" y="1924050"/>
            <a:ext cx="24669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4  Researcher</a:t>
            </a:r>
          </a:p>
        </p:txBody>
      </p:sp>
      <p:sp>
        <p:nvSpPr>
          <p:cNvPr id="9" name="">
            <a:extLst xmlns:a="http://schemas.openxmlformats.org/drawingml/2006/main">
              <a:ext uri="{FF2B5EF4-FFF2-40B4-BE49-F238E27FC236}">
                <a16:creationId xmlns:a16="http://schemas.microsoft.com/office/drawing/2014/main" id="{5A32C80E-6966-4135-8EC0-9EC731D0ABD2}"/>
              </a:ext>
            </a:extLst>
          </p:cNvPr>
          <p:cNvSpPr>
            <a:spLocks xmlns:a="http://schemas.openxmlformats.org/drawingml/2006/main" noGrp="1"/>
          </p:cNvSpPr>
          <p:nvPr/>
        </p:nvSpPr>
        <p:spPr>
          <a:xfrm xmlns:a="http://schemas.openxmlformats.org/drawingml/2006/main">
            <a:off x="819150" y="2219325"/>
            <a:ext cx="24098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Takes the next unfinished Planner task, requests the mapped tool, and adds the returned evidence to graph state. It does not access Chroma directly.</a:t>
            </a:r>
          </a:p>
        </p:txBody>
      </p:sp>
      <p:sp>
        <p:nvSpPr>
          <p:cNvPr id="10" name="">
            <a:extLst xmlns:a="http://schemas.openxmlformats.org/drawingml/2006/main">
              <a:ext uri="{FF2B5EF4-FFF2-40B4-BE49-F238E27FC236}">
                <a16:creationId xmlns:a16="http://schemas.microsoft.com/office/drawing/2014/main" id="{A8DC0D3B-F0C7-4F36-BF24-62C447827A87}"/>
              </a:ext>
            </a:extLst>
          </p:cNvPr>
          <p:cNvSpPr>
            <a:spLocks xmlns:a="http://schemas.openxmlformats.org/drawingml/2006/main" noGrp="1"/>
          </p:cNvSpPr>
          <p:nvPr/>
        </p:nvSpPr>
        <p:spPr>
          <a:xfrm xmlns:a="http://schemas.openxmlformats.org/drawingml/2006/main">
            <a:off x="4714875" y="1676400"/>
            <a:ext cx="2857500" cy="1647825"/>
          </a:xfrm>
          <a:prstGeom xmlns:a="http://schemas.openxmlformats.org/drawingml/2006/main" prst="roundRect">
            <a:avLst>
              <a:gd name="adj" fmla="val 8092"/>
            </a:avLst>
          </a:prstGeom>
          <a:solidFill xmlns:a="http://schemas.openxmlformats.org/drawingml/2006/main">
            <a:srgbClr val="103A5C"/>
          </a:solidFill>
          <a:ln xmlns:a="http://schemas.openxmlformats.org/drawingml/2006/main" w="0">
            <a:solidFill>
              <a:srgbClr val="103A5C"/>
            </a:solidFill>
            <a:prstDash val="solid"/>
          </a:ln>
        </p:spPr>
      </p:sp>
      <p:sp>
        <p:nvSpPr>
          <p:cNvPr id="11" name="">
            <a:extLst xmlns:a="http://schemas.openxmlformats.org/drawingml/2006/main">
              <a:ext uri="{FF2B5EF4-FFF2-40B4-BE49-F238E27FC236}">
                <a16:creationId xmlns:a16="http://schemas.microsoft.com/office/drawing/2014/main" id="{4549DC2D-0F65-4BC3-B821-0773A5E6DD63}"/>
              </a:ext>
            </a:extLst>
          </p:cNvPr>
          <p:cNvSpPr>
            <a:spLocks xmlns:a="http://schemas.openxmlformats.org/drawingml/2006/main" noGrp="1"/>
          </p:cNvSpPr>
          <p:nvPr/>
        </p:nvSpPr>
        <p:spPr>
          <a:xfrm xmlns:a="http://schemas.openxmlformats.org/drawingml/2006/main">
            <a:off x="4838700" y="1790700"/>
            <a:ext cx="2609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5  ToolNode</a:t>
            </a:r>
          </a:p>
        </p:txBody>
      </p:sp>
      <p:sp>
        <p:nvSpPr>
          <p:cNvPr id="12" name="">
            <a:extLst xmlns:a="http://schemas.openxmlformats.org/drawingml/2006/main">
              <a:ext uri="{FF2B5EF4-FFF2-40B4-BE49-F238E27FC236}">
                <a16:creationId xmlns:a16="http://schemas.microsoft.com/office/drawing/2014/main" id="{9C927D2F-EA55-4763-89EE-E95C065C70F3}"/>
              </a:ext>
            </a:extLst>
          </p:cNvPr>
          <p:cNvSpPr>
            <a:spLocks xmlns:a="http://schemas.openxmlformats.org/drawingml/2006/main" noGrp="1"/>
          </p:cNvSpPr>
          <p:nvPr/>
        </p:nvSpPr>
        <p:spPr>
          <a:xfrm xmlns:a="http://schemas.openxmlformats.org/drawingml/2006/main">
            <a:off x="4867275" y="2085975"/>
            <a:ext cx="2552700"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Executes one allowed function:</a:t>
            </a:r>
          </a:p>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gather_number</a:t>
            </a:r>
          </a:p>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gather_text</a:t>
            </a:r>
          </a:p>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gather_profile</a:t>
            </a:r>
          </a:p>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gather_news</a:t>
            </a:r>
          </a:p>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gather_ratings</a:t>
            </a:r>
          </a:p>
        </p:txBody>
      </p:sp>
      <p:sp>
        <p:nvSpPr>
          <p:cNvPr id="13" name="">
            <a:extLst xmlns:a="http://schemas.openxmlformats.org/drawingml/2006/main">
              <a:ext uri="{FF2B5EF4-FFF2-40B4-BE49-F238E27FC236}">
                <a16:creationId xmlns:a16="http://schemas.microsoft.com/office/drawing/2014/main" id="{E537EFD7-A5EB-46C1-8527-CE8D3B002ED2}"/>
              </a:ext>
            </a:extLst>
          </p:cNvPr>
          <p:cNvSpPr>
            <a:spLocks xmlns:a="http://schemas.openxmlformats.org/drawingml/2006/main" noGrp="1"/>
          </p:cNvSpPr>
          <p:nvPr/>
        </p:nvSpPr>
        <p:spPr>
          <a:xfrm xmlns:a="http://schemas.openxmlformats.org/drawingml/2006/main">
            <a:off x="8810625" y="1809750"/>
            <a:ext cx="2714625" cy="1381125"/>
          </a:xfrm>
          <a:prstGeom xmlns:a="http://schemas.openxmlformats.org/drawingml/2006/main" prst="roundRect">
            <a:avLst>
              <a:gd name="adj" fmla="val 9655"/>
            </a:avLst>
          </a:prstGeom>
          <a:solidFill xmlns:a="http://schemas.openxmlformats.org/drawingml/2006/main">
            <a:srgbClr val="103A5C"/>
          </a:solidFill>
          <a:ln xmlns:a="http://schemas.openxmlformats.org/drawingml/2006/main" w="0">
            <a:solidFill>
              <a:srgbClr val="103A5C"/>
            </a:solidFill>
            <a:prstDash val="solid"/>
          </a:ln>
        </p:spPr>
      </p:sp>
      <p:sp>
        <p:nvSpPr>
          <p:cNvPr id="14" name="">
            <a:extLst xmlns:a="http://schemas.openxmlformats.org/drawingml/2006/main">
              <a:ext uri="{FF2B5EF4-FFF2-40B4-BE49-F238E27FC236}">
                <a16:creationId xmlns:a16="http://schemas.microsoft.com/office/drawing/2014/main" id="{14FBFE37-F2B5-4D50-9EC4-C2F2118E0F70}"/>
              </a:ext>
            </a:extLst>
          </p:cNvPr>
          <p:cNvSpPr>
            <a:spLocks xmlns:a="http://schemas.openxmlformats.org/drawingml/2006/main" noGrp="1"/>
          </p:cNvSpPr>
          <p:nvPr/>
        </p:nvSpPr>
        <p:spPr>
          <a:xfrm xmlns:a="http://schemas.openxmlformats.org/drawingml/2006/main">
            <a:off x="8934450" y="1924050"/>
            <a:ext cx="24669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6  Evidence check</a:t>
            </a:r>
          </a:p>
        </p:txBody>
      </p:sp>
      <p:sp>
        <p:nvSpPr>
          <p:cNvPr id="15" name="">
            <a:extLst xmlns:a="http://schemas.openxmlformats.org/drawingml/2006/main">
              <a:ext uri="{FF2B5EF4-FFF2-40B4-BE49-F238E27FC236}">
                <a16:creationId xmlns:a16="http://schemas.microsoft.com/office/drawing/2014/main" id="{210CA948-47F3-43F8-9BA7-DB500BD1D06C}"/>
              </a:ext>
            </a:extLst>
          </p:cNvPr>
          <p:cNvSpPr>
            <a:spLocks xmlns:a="http://schemas.openxmlformats.org/drawingml/2006/main" noGrp="1"/>
          </p:cNvSpPr>
          <p:nvPr/>
        </p:nvSpPr>
        <p:spPr>
          <a:xfrm xmlns:a="http://schemas.openxmlformats.org/drawingml/2006/main">
            <a:off x="8963025" y="2219325"/>
            <a:ext cx="24098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Confirms task coverage and opposing evidence. It returns to Node 4 when another planned task is required.</a:t>
            </a:r>
          </a:p>
        </p:txBody>
      </p:sp>
      <p:cxnSp>
        <p:nvCxnSpPr>
          <p:cNvPr id="92" name=""/>
          <p:cNvCxnSpPr>
            <a:stCxn xmlns:a="http://schemas.openxmlformats.org/drawingml/2006/main" id="7" idx="3"/>
            <a:endCxn xmlns:a="http://schemas.openxmlformats.org/drawingml/2006/main" id="10" idx="1"/>
          </p:cNvCxnSpPr>
          <p:nvPr/>
        </p:nvCxnSpPr>
        <p:spPr>
          <a:xfrm xmlns:a="http://schemas.openxmlformats.org/drawingml/2006/main">
            <a:off x="3381375" y="2500313"/>
            <a:ext cx="1333500" cy="0"/>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cxnSp>
        <p:nvCxnSpPr>
          <p:cNvPr id="93" name=""/>
          <p:cNvCxnSpPr>
            <a:stCxn xmlns:a="http://schemas.openxmlformats.org/drawingml/2006/main" id="10" idx="3"/>
            <a:endCxn xmlns:a="http://schemas.openxmlformats.org/drawingml/2006/main" id="13" idx="1"/>
          </p:cNvCxnSpPr>
          <p:nvPr/>
        </p:nvCxnSpPr>
        <p:spPr>
          <a:xfrm xmlns:a="http://schemas.openxmlformats.org/drawingml/2006/main">
            <a:off x="7572375" y="2500313"/>
            <a:ext cx="1238250" cy="0"/>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18A374ED-E88B-49B3-A1A0-2ECF16F57AE0}"/>
              </a:ext>
            </a:extLst>
          </p:cNvPr>
          <p:cNvSpPr>
            <a:spLocks xmlns:a="http://schemas.openxmlformats.org/drawingml/2006/main" noGrp="1"/>
          </p:cNvSpPr>
          <p:nvPr/>
        </p:nvSpPr>
        <p:spPr>
          <a:xfrm xmlns:a="http://schemas.openxmlformats.org/drawingml/2006/main">
            <a:off x="3429000" y="21145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19" name="">
            <a:extLst xmlns:a="http://schemas.openxmlformats.org/drawingml/2006/main">
              <a:ext uri="{FF2B5EF4-FFF2-40B4-BE49-F238E27FC236}">
                <a16:creationId xmlns:a16="http://schemas.microsoft.com/office/drawing/2014/main" id="{1C96FE3D-C383-4C14-978F-046030CAF1BE}"/>
              </a:ext>
            </a:extLst>
          </p:cNvPr>
          <p:cNvSpPr>
            <a:spLocks xmlns:a="http://schemas.openxmlformats.org/drawingml/2006/main" noGrp="1"/>
          </p:cNvSpPr>
          <p:nvPr/>
        </p:nvSpPr>
        <p:spPr>
          <a:xfrm xmlns:a="http://schemas.openxmlformats.org/drawingml/2006/main">
            <a:off x="3429000" y="21336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8803F6F8-3012-4392-A12A-066CC9AB208C}"/>
              </a:ext>
            </a:extLst>
          </p:cNvPr>
          <p:cNvSpPr>
            <a:spLocks xmlns:a="http://schemas.openxmlformats.org/drawingml/2006/main" noGrp="1"/>
          </p:cNvSpPr>
          <p:nvPr/>
        </p:nvSpPr>
        <p:spPr>
          <a:xfrm xmlns:a="http://schemas.openxmlformats.org/drawingml/2006/main">
            <a:off x="3752850" y="2124075"/>
            <a:ext cx="93345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65742"/>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REQUEST ONE TOOL</a:t>
            </a:r>
          </a:p>
        </p:txBody>
      </p:sp>
      <p:sp>
        <p:nvSpPr>
          <p:cNvPr id="21" name="">
            <a:extLst xmlns:a="http://schemas.openxmlformats.org/drawingml/2006/main">
              <a:ext uri="{FF2B5EF4-FFF2-40B4-BE49-F238E27FC236}">
                <a16:creationId xmlns:a16="http://schemas.microsoft.com/office/drawing/2014/main" id="{72635D9F-EBAC-4839-B724-E3DEFA3CD133}"/>
              </a:ext>
            </a:extLst>
          </p:cNvPr>
          <p:cNvSpPr>
            <a:spLocks xmlns:a="http://schemas.openxmlformats.org/drawingml/2006/main" noGrp="1"/>
          </p:cNvSpPr>
          <p:nvPr/>
        </p:nvSpPr>
        <p:spPr>
          <a:xfrm xmlns:a="http://schemas.openxmlformats.org/drawingml/2006/main">
            <a:off x="7620000" y="21145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22" name="">
            <a:extLst xmlns:a="http://schemas.openxmlformats.org/drawingml/2006/main">
              <a:ext uri="{FF2B5EF4-FFF2-40B4-BE49-F238E27FC236}">
                <a16:creationId xmlns:a16="http://schemas.microsoft.com/office/drawing/2014/main" id="{1A76FD53-B772-4504-8DD0-B4917B225117}"/>
              </a:ext>
            </a:extLst>
          </p:cNvPr>
          <p:cNvSpPr>
            <a:spLocks xmlns:a="http://schemas.openxmlformats.org/drawingml/2006/main" noGrp="1"/>
          </p:cNvSpPr>
          <p:nvPr/>
        </p:nvSpPr>
        <p:spPr>
          <a:xfrm xmlns:a="http://schemas.openxmlformats.org/drawingml/2006/main">
            <a:off x="7620000" y="21336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55ED4220-5FDD-4D9E-B032-0C5DB9FD14C5}"/>
              </a:ext>
            </a:extLst>
          </p:cNvPr>
          <p:cNvSpPr>
            <a:spLocks xmlns:a="http://schemas.openxmlformats.org/drawingml/2006/main" noGrp="1"/>
          </p:cNvSpPr>
          <p:nvPr/>
        </p:nvSpPr>
        <p:spPr>
          <a:xfrm xmlns:a="http://schemas.openxmlformats.org/drawingml/2006/main">
            <a:off x="7943850" y="2124075"/>
            <a:ext cx="83820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67348"/>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WHEN PLAN ENDS</a:t>
            </a:r>
          </a:p>
        </p:txBody>
      </p:sp>
      <p:sp>
        <p:nvSpPr>
          <p:cNvPr id="24" name="">
            <a:extLst xmlns:a="http://schemas.openxmlformats.org/drawingml/2006/main">
              <a:ext uri="{FF2B5EF4-FFF2-40B4-BE49-F238E27FC236}">
                <a16:creationId xmlns:a16="http://schemas.microsoft.com/office/drawing/2014/main" id="{58807AB7-3472-4BB6-A027-86DA52FC087A}"/>
              </a:ext>
            </a:extLst>
          </p:cNvPr>
          <p:cNvSpPr>
            <a:spLocks xmlns:a="http://schemas.openxmlformats.org/drawingml/2006/main" noGrp="1"/>
          </p:cNvSpPr>
          <p:nvPr/>
        </p:nvSpPr>
        <p:spPr>
          <a:xfrm xmlns:a="http://schemas.openxmlformats.org/drawingml/2006/main">
            <a:off x="666750" y="4286250"/>
            <a:ext cx="3190875" cy="1409700"/>
          </a:xfrm>
          <a:prstGeom xmlns:a="http://schemas.openxmlformats.org/drawingml/2006/main" prst="roundRect">
            <a:avLst>
              <a:gd name="adj" fmla="val 9459"/>
            </a:avLst>
          </a:prstGeom>
          <a:solidFill xmlns:a="http://schemas.openxmlformats.org/drawingml/2006/main">
            <a:srgbClr val="2F8B5B"/>
          </a:solidFill>
          <a:ln xmlns:a="http://schemas.openxmlformats.org/drawingml/2006/main" w="0">
            <a:solidFill>
              <a:srgbClr val="2F8B5B"/>
            </a:solidFill>
            <a:prstDash val="solid"/>
          </a:ln>
        </p:spPr>
      </p:sp>
      <p:sp>
        <p:nvSpPr>
          <p:cNvPr id="25" name="">
            <a:extLst xmlns:a="http://schemas.openxmlformats.org/drawingml/2006/main">
              <a:ext uri="{FF2B5EF4-FFF2-40B4-BE49-F238E27FC236}">
                <a16:creationId xmlns:a16="http://schemas.microsoft.com/office/drawing/2014/main" id="{CB4CD3F8-B59C-481F-86A8-1ED585EDA72E}"/>
              </a:ext>
            </a:extLst>
          </p:cNvPr>
          <p:cNvSpPr>
            <a:spLocks xmlns:a="http://schemas.openxmlformats.org/drawingml/2006/main" noGrp="1"/>
          </p:cNvSpPr>
          <p:nvPr/>
        </p:nvSpPr>
        <p:spPr>
          <a:xfrm xmlns:a="http://schemas.openxmlformats.org/drawingml/2006/main">
            <a:off x="790575" y="4400550"/>
            <a:ext cx="29432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2  Source setup</a:t>
            </a:r>
          </a:p>
        </p:txBody>
      </p:sp>
      <p:sp>
        <p:nvSpPr>
          <p:cNvPr id="26" name="">
            <a:extLst xmlns:a="http://schemas.openxmlformats.org/drawingml/2006/main">
              <a:ext uri="{FF2B5EF4-FFF2-40B4-BE49-F238E27FC236}">
                <a16:creationId xmlns:a16="http://schemas.microsoft.com/office/drawing/2014/main" id="{887ECCAF-ED4E-4A32-8938-A47DD9AC6B70}"/>
              </a:ext>
            </a:extLst>
          </p:cNvPr>
          <p:cNvSpPr>
            <a:spLocks xmlns:a="http://schemas.openxmlformats.org/drawingml/2006/main" noGrp="1"/>
          </p:cNvSpPr>
          <p:nvPr/>
        </p:nvSpPr>
        <p:spPr>
          <a:xfrm xmlns:a="http://schemas.openxmlformats.org/drawingml/2006/main">
            <a:off x="819150" y="4695825"/>
            <a:ext cx="28860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Checks Chroma first. On a cache miss, it downloads filings and earnings calls, cleans and splits them, creates embeddings, and writes the chunks.</a:t>
            </a:r>
          </a:p>
        </p:txBody>
      </p:sp>
      <p:sp>
        <p:nvSpPr>
          <p:cNvPr id="27" name="">
            <a:extLst xmlns:a="http://schemas.openxmlformats.org/drawingml/2006/main">
              <a:ext uri="{FF2B5EF4-FFF2-40B4-BE49-F238E27FC236}">
                <a16:creationId xmlns:a16="http://schemas.microsoft.com/office/drawing/2014/main" id="{EC58C543-0F48-4307-B86E-9D1401B9FD50}"/>
              </a:ext>
            </a:extLst>
          </p:cNvPr>
          <p:cNvSpPr>
            <a:spLocks xmlns:a="http://schemas.openxmlformats.org/drawingml/2006/main" noGrp="1"/>
          </p:cNvSpPr>
          <p:nvPr/>
        </p:nvSpPr>
        <p:spPr>
          <a:xfrm xmlns:a="http://schemas.openxmlformats.org/drawingml/2006/main">
            <a:off x="4714875" y="4286250"/>
            <a:ext cx="2857500" cy="1409700"/>
          </a:xfrm>
          <a:prstGeom xmlns:a="http://schemas.openxmlformats.org/drawingml/2006/main" prst="roundRect">
            <a:avLst>
              <a:gd name="adj" fmla="val 9459"/>
            </a:avLst>
          </a:prstGeom>
          <a:solidFill xmlns:a="http://schemas.openxmlformats.org/drawingml/2006/main">
            <a:srgbClr val="009B96"/>
          </a:solidFill>
          <a:ln xmlns:a="http://schemas.openxmlformats.org/drawingml/2006/main" w="0">
            <a:solidFill>
              <a:srgbClr val="009B96"/>
            </a:solidFill>
            <a:prstDash val="solid"/>
          </a:ln>
        </p:spPr>
      </p:sp>
      <p:sp>
        <p:nvSpPr>
          <p:cNvPr id="28" name="">
            <a:extLst xmlns:a="http://schemas.openxmlformats.org/drawingml/2006/main">
              <a:ext uri="{FF2B5EF4-FFF2-40B4-BE49-F238E27FC236}">
                <a16:creationId xmlns:a16="http://schemas.microsoft.com/office/drawing/2014/main" id="{BEF4D30F-F0EC-4087-91D1-2F07A7E5F233}"/>
              </a:ext>
            </a:extLst>
          </p:cNvPr>
          <p:cNvSpPr>
            <a:spLocks xmlns:a="http://schemas.openxmlformats.org/drawingml/2006/main" noGrp="1"/>
          </p:cNvSpPr>
          <p:nvPr/>
        </p:nvSpPr>
        <p:spPr>
          <a:xfrm xmlns:a="http://schemas.openxmlformats.org/drawingml/2006/main">
            <a:off x="4838700" y="4400550"/>
            <a:ext cx="2609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Chroma vector database</a:t>
            </a:r>
          </a:p>
        </p:txBody>
      </p:sp>
      <p:sp>
        <p:nvSpPr>
          <p:cNvPr id="29" name="">
            <a:extLst xmlns:a="http://schemas.openxmlformats.org/drawingml/2006/main">
              <a:ext uri="{FF2B5EF4-FFF2-40B4-BE49-F238E27FC236}">
                <a16:creationId xmlns:a16="http://schemas.microsoft.com/office/drawing/2014/main" id="{AD7C760D-32E0-4DCF-8A32-E6086FEF397B}"/>
              </a:ext>
            </a:extLst>
          </p:cNvPr>
          <p:cNvSpPr>
            <a:spLocks xmlns:a="http://schemas.openxmlformats.org/drawingml/2006/main" noGrp="1"/>
          </p:cNvSpPr>
          <p:nvPr/>
        </p:nvSpPr>
        <p:spPr>
          <a:xfrm xmlns:a="http://schemas.openxmlformats.org/drawingml/2006/main">
            <a:off x="4867275" y="4695825"/>
            <a:ext cx="25527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Stores filing and transcript passages plus retrieval metadata. It does not store the final report or the graph state.</a:t>
            </a:r>
          </a:p>
        </p:txBody>
      </p:sp>
      <p:sp>
        <p:nvSpPr>
          <p:cNvPr id="30" name="">
            <a:extLst xmlns:a="http://schemas.openxmlformats.org/drawingml/2006/main">
              <a:ext uri="{FF2B5EF4-FFF2-40B4-BE49-F238E27FC236}">
                <a16:creationId xmlns:a16="http://schemas.microsoft.com/office/drawing/2014/main" id="{89E8F700-90B2-4E65-AF2A-D8AFE5BD184C}"/>
              </a:ext>
            </a:extLst>
          </p:cNvPr>
          <p:cNvSpPr>
            <a:spLocks xmlns:a="http://schemas.openxmlformats.org/drawingml/2006/main" noGrp="1"/>
          </p:cNvSpPr>
          <p:nvPr/>
        </p:nvSpPr>
        <p:spPr>
          <a:xfrm xmlns:a="http://schemas.openxmlformats.org/drawingml/2006/main">
            <a:off x="8810625" y="4286250"/>
            <a:ext cx="2714625" cy="1409700"/>
          </a:xfrm>
          <a:prstGeom xmlns:a="http://schemas.openxmlformats.org/drawingml/2006/main" prst="roundRect">
            <a:avLst>
              <a:gd name="adj" fmla="val 9459"/>
            </a:avLst>
          </a:prstGeom>
          <a:solidFill xmlns:a="http://schemas.openxmlformats.org/drawingml/2006/main">
            <a:srgbClr val="103A5C"/>
          </a:solidFill>
          <a:ln xmlns:a="http://schemas.openxmlformats.org/drawingml/2006/main" w="0">
            <a:solidFill>
              <a:srgbClr val="103A5C"/>
            </a:solidFill>
            <a:prstDash val="solid"/>
          </a:ln>
        </p:spPr>
      </p:sp>
      <p:sp>
        <p:nvSpPr>
          <p:cNvPr id="31" name="">
            <a:extLst xmlns:a="http://schemas.openxmlformats.org/drawingml/2006/main">
              <a:ext uri="{FF2B5EF4-FFF2-40B4-BE49-F238E27FC236}">
                <a16:creationId xmlns:a16="http://schemas.microsoft.com/office/drawing/2014/main" id="{F838A458-B63E-4668-856C-DEC648144319}"/>
              </a:ext>
            </a:extLst>
          </p:cNvPr>
          <p:cNvSpPr>
            <a:spLocks xmlns:a="http://schemas.openxmlformats.org/drawingml/2006/main" noGrp="1"/>
          </p:cNvSpPr>
          <p:nvPr/>
        </p:nvSpPr>
        <p:spPr>
          <a:xfrm xmlns:a="http://schemas.openxmlformats.org/drawingml/2006/main">
            <a:off x="8934450" y="4400550"/>
            <a:ext cx="24669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Other provider paths</a:t>
            </a:r>
          </a:p>
        </p:txBody>
      </p:sp>
      <p:sp>
        <p:nvSpPr>
          <p:cNvPr id="32" name="">
            <a:extLst xmlns:a="http://schemas.openxmlformats.org/drawingml/2006/main">
              <a:ext uri="{FF2B5EF4-FFF2-40B4-BE49-F238E27FC236}">
                <a16:creationId xmlns:a16="http://schemas.microsoft.com/office/drawing/2014/main" id="{7B6614F8-7F4A-45DD-A2E7-19F15C28DAAE}"/>
              </a:ext>
            </a:extLst>
          </p:cNvPr>
          <p:cNvSpPr>
            <a:spLocks xmlns:a="http://schemas.openxmlformats.org/drawingml/2006/main" noGrp="1"/>
          </p:cNvSpPr>
          <p:nvPr/>
        </p:nvSpPr>
        <p:spPr>
          <a:xfrm xmlns:a="http://schemas.openxmlformats.org/drawingml/2006/main">
            <a:off x="8963025" y="4695825"/>
            <a:ext cx="24098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gather_number, gather_profile, gather_news, and gather_ratings call their own providers. Their results enter graph state, not Chroma.</a:t>
            </a:r>
          </a:p>
        </p:txBody>
      </p:sp>
      <p:cxnSp>
        <p:nvCxnSpPr>
          <p:cNvPr id="109" name=""/>
          <p:cNvCxnSpPr>
            <a:stCxn xmlns:a="http://schemas.openxmlformats.org/drawingml/2006/main" id="24" idx="3"/>
            <a:endCxn xmlns:a="http://schemas.openxmlformats.org/drawingml/2006/main" id="27" idx="1"/>
          </p:cNvCxnSpPr>
          <p:nvPr/>
        </p:nvCxnSpPr>
        <p:spPr>
          <a:xfrm xmlns:a="http://schemas.openxmlformats.org/drawingml/2006/main">
            <a:off x="3857625" y="4991100"/>
            <a:ext cx="857250" cy="0"/>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cxnSp>
        <p:nvCxnSpPr>
          <p:cNvPr id="110" name=""/>
          <p:cNvCxnSpPr>
            <a:stCxn xmlns:a="http://schemas.openxmlformats.org/drawingml/2006/main" id="27" idx="0"/>
            <a:endCxn xmlns:a="http://schemas.openxmlformats.org/drawingml/2006/main" id="10" idx="2"/>
          </p:cNvCxnSpPr>
          <p:nvPr/>
        </p:nvCxnSpPr>
        <p:spPr>
          <a:xfrm xmlns:a="http://schemas.openxmlformats.org/drawingml/2006/main" flipV="1">
            <a:off x="6143625" y="3324225"/>
            <a:ext cx="0" cy="962025"/>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sp>
        <p:nvSpPr>
          <p:cNvPr id="35" name="">
            <a:extLst xmlns:a="http://schemas.openxmlformats.org/drawingml/2006/main">
              <a:ext uri="{FF2B5EF4-FFF2-40B4-BE49-F238E27FC236}">
                <a16:creationId xmlns:a16="http://schemas.microsoft.com/office/drawing/2014/main" id="{1255CDFD-3881-4176-8C7E-69EA91126C29}"/>
              </a:ext>
            </a:extLst>
          </p:cNvPr>
          <p:cNvSpPr>
            <a:spLocks xmlns:a="http://schemas.openxmlformats.org/drawingml/2006/main" noGrp="1"/>
          </p:cNvSpPr>
          <p:nvPr/>
        </p:nvSpPr>
        <p:spPr>
          <a:xfrm xmlns:a="http://schemas.openxmlformats.org/drawingml/2006/main">
            <a:off x="3933825" y="3857625"/>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6" name="">
            <a:extLst xmlns:a="http://schemas.openxmlformats.org/drawingml/2006/main">
              <a:ext uri="{FF2B5EF4-FFF2-40B4-BE49-F238E27FC236}">
                <a16:creationId xmlns:a16="http://schemas.microsoft.com/office/drawing/2014/main" id="{C653698C-AA84-4B28-BEA2-82235DBD8E82}"/>
              </a:ext>
            </a:extLst>
          </p:cNvPr>
          <p:cNvSpPr>
            <a:spLocks xmlns:a="http://schemas.openxmlformats.org/drawingml/2006/main" noGrp="1"/>
          </p:cNvSpPr>
          <p:nvPr/>
        </p:nvSpPr>
        <p:spPr>
          <a:xfrm xmlns:a="http://schemas.openxmlformats.org/drawingml/2006/main">
            <a:off x="3933825" y="38766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W</a:t>
            </a:r>
          </a:p>
        </p:txBody>
      </p:sp>
      <p:sp>
        <p:nvSpPr>
          <p:cNvPr id="37" name="">
            <a:extLst xmlns:a="http://schemas.openxmlformats.org/drawingml/2006/main">
              <a:ext uri="{FF2B5EF4-FFF2-40B4-BE49-F238E27FC236}">
                <a16:creationId xmlns:a16="http://schemas.microsoft.com/office/drawing/2014/main" id="{A724410C-5839-4A89-8F25-97F19C0ABE9C}"/>
              </a:ext>
            </a:extLst>
          </p:cNvPr>
          <p:cNvSpPr>
            <a:spLocks xmlns:a="http://schemas.openxmlformats.org/drawingml/2006/main" noGrp="1"/>
          </p:cNvSpPr>
          <p:nvPr/>
        </p:nvSpPr>
        <p:spPr>
          <a:xfrm xmlns:a="http://schemas.openxmlformats.org/drawingml/2006/main">
            <a:off x="4257675" y="3867150"/>
            <a:ext cx="110490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WRITE CHUNKS</a:t>
            </a:r>
          </a:p>
        </p:txBody>
      </p:sp>
      <p:sp>
        <p:nvSpPr>
          <p:cNvPr id="38" name="">
            <a:extLst xmlns:a="http://schemas.openxmlformats.org/drawingml/2006/main">
              <a:ext uri="{FF2B5EF4-FFF2-40B4-BE49-F238E27FC236}">
                <a16:creationId xmlns:a16="http://schemas.microsoft.com/office/drawing/2014/main" id="{B5201187-F9D5-4E12-AA9F-E65D40D680BF}"/>
              </a:ext>
            </a:extLst>
          </p:cNvPr>
          <p:cNvSpPr>
            <a:spLocks xmlns:a="http://schemas.openxmlformats.org/drawingml/2006/main" noGrp="1"/>
          </p:cNvSpPr>
          <p:nvPr/>
        </p:nvSpPr>
        <p:spPr>
          <a:xfrm xmlns:a="http://schemas.openxmlformats.org/drawingml/2006/main">
            <a:off x="5981700" y="35623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9" name="">
            <a:extLst xmlns:a="http://schemas.openxmlformats.org/drawingml/2006/main">
              <a:ext uri="{FF2B5EF4-FFF2-40B4-BE49-F238E27FC236}">
                <a16:creationId xmlns:a16="http://schemas.microsoft.com/office/drawing/2014/main" id="{A22FDB95-D6FF-40D8-A124-B963AA0F1AFD}"/>
              </a:ext>
            </a:extLst>
          </p:cNvPr>
          <p:cNvSpPr>
            <a:spLocks xmlns:a="http://schemas.openxmlformats.org/drawingml/2006/main" noGrp="1"/>
          </p:cNvSpPr>
          <p:nvPr/>
        </p:nvSpPr>
        <p:spPr>
          <a:xfrm xmlns:a="http://schemas.openxmlformats.org/drawingml/2006/main">
            <a:off x="5981700" y="35814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R</a:t>
            </a:r>
          </a:p>
        </p:txBody>
      </p:sp>
      <p:sp>
        <p:nvSpPr>
          <p:cNvPr id="40" name="">
            <a:extLst xmlns:a="http://schemas.openxmlformats.org/drawingml/2006/main">
              <a:ext uri="{FF2B5EF4-FFF2-40B4-BE49-F238E27FC236}">
                <a16:creationId xmlns:a16="http://schemas.microsoft.com/office/drawing/2014/main" id="{284B987B-2E55-4B46-8101-CB0E06752CC0}"/>
              </a:ext>
            </a:extLst>
          </p:cNvPr>
          <p:cNvSpPr>
            <a:spLocks xmlns:a="http://schemas.openxmlformats.org/drawingml/2006/main" noGrp="1"/>
          </p:cNvSpPr>
          <p:nvPr/>
        </p:nvSpPr>
        <p:spPr>
          <a:xfrm xmlns:a="http://schemas.openxmlformats.org/drawingml/2006/main">
            <a:off x="6305550" y="3571875"/>
            <a:ext cx="120015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87627"/>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READ BY gather_text</a:t>
            </a:r>
          </a:p>
        </p:txBody>
      </p:sp>
      <p:sp>
        <p:nvSpPr>
          <p:cNvPr id="41" name="">
            <a:extLst xmlns:a="http://schemas.openxmlformats.org/drawingml/2006/main">
              <a:ext uri="{FF2B5EF4-FFF2-40B4-BE49-F238E27FC236}">
                <a16:creationId xmlns:a16="http://schemas.microsoft.com/office/drawing/2014/main" id="{A4640BF4-DA30-4FBD-9C55-2683AAAD9049}"/>
              </a:ext>
            </a:extLst>
          </p:cNvPr>
          <p:cNvSpPr>
            <a:spLocks xmlns:a="http://schemas.openxmlformats.org/drawingml/2006/main" noGrp="1"/>
          </p:cNvSpPr>
          <p:nvPr/>
        </p:nvSpPr>
        <p:spPr>
          <a:xfrm xmlns:a="http://schemas.openxmlformats.org/drawingml/2006/main">
            <a:off x="666750" y="5810250"/>
            <a:ext cx="10858500" cy="457200"/>
          </a:xfrm>
          <a:prstGeom xmlns:a="http://schemas.openxmlformats.org/drawingml/2006/main" prst="roundRect">
            <a:avLst>
              <a:gd name="adj" fmla="val 14583"/>
            </a:avLst>
          </a:prstGeom>
          <a:solidFill xmlns:a="http://schemas.openxmlformats.org/drawingml/2006/main">
            <a:srgbClr val="EAF3FB"/>
          </a:solidFill>
          <a:ln xmlns:a="http://schemas.openxmlformats.org/drawingml/2006/main" w="0">
            <a:solidFill>
              <a:srgbClr val="3976B9"/>
            </a:solidFill>
            <a:prstDash val="solid"/>
          </a:ln>
        </p:spPr>
      </p:sp>
      <p:sp>
        <p:nvSpPr>
          <p:cNvPr id="42" name="">
            <a:extLst xmlns:a="http://schemas.openxmlformats.org/drawingml/2006/main">
              <a:ext uri="{FF2B5EF4-FFF2-40B4-BE49-F238E27FC236}">
                <a16:creationId xmlns:a16="http://schemas.microsoft.com/office/drawing/2014/main" id="{CEC979E7-76A2-4BFA-A096-A1848A5DF5D1}"/>
              </a:ext>
            </a:extLst>
          </p:cNvPr>
          <p:cNvSpPr>
            <a:spLocks xmlns:a="http://schemas.openxmlformats.org/drawingml/2006/main" noGrp="1"/>
          </p:cNvSpPr>
          <p:nvPr/>
        </p:nvSpPr>
        <p:spPr>
          <a:xfrm xmlns:a="http://schemas.openxmlformats.org/drawingml/2006/main">
            <a:off x="876300" y="5895975"/>
            <a:ext cx="10429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7565"/>
          </a:bodyPr>
          <a:lstStyle xmlns:a="http://schemas.openxmlformats.org/drawingml/2006/main"/>
          <a:p xmlns:a="http://schemas.openxmlformats.org/drawingml/2006/main">
            <a:pPr algn="ctr">
              <a:buNone/>
              <a:defRPr sz="1088" b="1">
                <a:solidFill>
                  <a:srgbClr val="103A5C"/>
                </a:solidFill>
                <a:latin typeface="Arial"/>
                <a:ea typeface="Arial"/>
                <a:cs typeface="Arial"/>
              </a:defRPr>
            </a:pPr>
            <a:r>
              <a:rPr sz="1088" b="1">
                <a:solidFill>
                  <a:srgbClr val="103A5C"/>
                </a:solidFill>
                <a:latin typeface="Arial"/>
                <a:ea typeface="Arial"/>
                <a:cs typeface="Arial"/>
              </a:rPr>
              <a:t>After each tool result, control returns to Node 4. When no task remains, the graph moves to Node 6. The five functions are an allow-list, not the Planner's task list.</a:t>
            </a:r>
          </a:p>
        </p:txBody>
      </p:sp>
    </p:spTree>
    <p:extLst>
      <p:ext uri="{BB962C8B-B14F-4D97-AF65-F5344CB8AC3E}">
        <p14:creationId xmlns:p14="http://schemas.microsoft.com/office/powerpoint/2010/main" val="182343329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3B04361-C18D-4ED2-98B7-3DD74E876C4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9D342709-7021-47EC-9348-D17A5D56D6E6}"/>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Nodes 7 to 9: building and testing investment cases</a:t>
            </a:r>
          </a:p>
        </p:txBody>
      </p:sp>
      <p:sp>
        <p:nvSpPr>
          <p:cNvPr id="3" name="">
            <a:extLst xmlns:a="http://schemas.openxmlformats.org/drawingml/2006/main">
              <a:ext uri="{FF2B5EF4-FFF2-40B4-BE49-F238E27FC236}">
                <a16:creationId xmlns:a16="http://schemas.microsoft.com/office/drawing/2014/main" id="{D0CCDDEC-EBC0-4012-94EE-75112D349179}"/>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Every surviving case must use cited evidence and represent a distinct primary business driver.</a:t>
            </a:r>
          </a:p>
        </p:txBody>
      </p:sp>
      <p:sp>
        <p:nvSpPr>
          <p:cNvPr id="4" name="">
            <a:extLst xmlns:a="http://schemas.openxmlformats.org/drawingml/2006/main">
              <a:ext uri="{FF2B5EF4-FFF2-40B4-BE49-F238E27FC236}">
                <a16:creationId xmlns:a16="http://schemas.microsoft.com/office/drawing/2014/main" id="{0A31A077-6315-44BC-8391-A0A1C6647068}"/>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514E50C0-240B-4A74-8064-118F05648922}"/>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8514B941-FCAA-4A83-8FDD-9AE8885C29EE}"/>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372CD43C-1CA7-4FE2-A4EC-63140581B394}"/>
              </a:ext>
            </a:extLst>
          </p:cNvPr>
          <p:cNvSpPr>
            <a:spLocks xmlns:a="http://schemas.openxmlformats.org/drawingml/2006/main" noGrp="1"/>
          </p:cNvSpPr>
          <p:nvPr/>
        </p:nvSpPr>
        <p:spPr>
          <a:xfrm xmlns:a="http://schemas.openxmlformats.org/drawingml/2006/main">
            <a:off x="666750" y="1619250"/>
            <a:ext cx="3143250" cy="2381250"/>
          </a:xfrm>
          <a:prstGeom xmlns:a="http://schemas.openxmlformats.org/drawingml/2006/main" prst="roundRect">
            <a:avLst>
              <a:gd name="adj" fmla="val 5600"/>
            </a:avLst>
          </a:prstGeom>
          <a:solidFill xmlns:a="http://schemas.openxmlformats.org/drawingml/2006/main">
            <a:srgbClr val="009B96"/>
          </a:solidFill>
          <a:ln xmlns:a="http://schemas.openxmlformats.org/drawingml/2006/main" w="0">
            <a:solidFill>
              <a:srgbClr val="009B96"/>
            </a:solidFill>
            <a:prstDash val="solid"/>
          </a:ln>
        </p:spPr>
      </p:sp>
      <p:sp>
        <p:nvSpPr>
          <p:cNvPr id="8" name="">
            <a:extLst xmlns:a="http://schemas.openxmlformats.org/drawingml/2006/main">
              <a:ext uri="{FF2B5EF4-FFF2-40B4-BE49-F238E27FC236}">
                <a16:creationId xmlns:a16="http://schemas.microsoft.com/office/drawing/2014/main" id="{6A706CC5-C765-42C5-933F-8F3AE8B2316E}"/>
              </a:ext>
            </a:extLst>
          </p:cNvPr>
          <p:cNvSpPr>
            <a:spLocks xmlns:a="http://schemas.openxmlformats.org/drawingml/2006/main" noGrp="1"/>
          </p:cNvSpPr>
          <p:nvPr/>
        </p:nvSpPr>
        <p:spPr>
          <a:xfrm xmlns:a="http://schemas.openxmlformats.org/drawingml/2006/main">
            <a:off x="790575" y="1733550"/>
            <a:ext cx="289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7  Thesis Analyst</a:t>
            </a:r>
          </a:p>
        </p:txBody>
      </p:sp>
      <p:sp>
        <p:nvSpPr>
          <p:cNvPr id="9" name="">
            <a:extLst xmlns:a="http://schemas.openxmlformats.org/drawingml/2006/main">
              <a:ext uri="{FF2B5EF4-FFF2-40B4-BE49-F238E27FC236}">
                <a16:creationId xmlns:a16="http://schemas.microsoft.com/office/drawing/2014/main" id="{9A88971C-DF32-431D-BC21-A6C7029D158F}"/>
              </a:ext>
            </a:extLst>
          </p:cNvPr>
          <p:cNvSpPr>
            <a:spLocks xmlns:a="http://schemas.openxmlformats.org/drawingml/2006/main" noGrp="1"/>
          </p:cNvSpPr>
          <p:nvPr/>
        </p:nvSpPr>
        <p:spPr>
          <a:xfrm xmlns:a="http://schemas.openxmlformats.org/drawingml/2006/main">
            <a:off x="819150" y="2028825"/>
            <a:ext cx="28384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Analyst creates bull, bear, and risk hypotheses. Each hypothesis states a conclusion, mechanism, time horizon, supporting evidence, and observable conditions.</a:t>
            </a:r>
          </a:p>
        </p:txBody>
      </p:sp>
      <p:sp>
        <p:nvSpPr>
          <p:cNvPr id="10" name="">
            <a:extLst xmlns:a="http://schemas.openxmlformats.org/drawingml/2006/main">
              <a:ext uri="{FF2B5EF4-FFF2-40B4-BE49-F238E27FC236}">
                <a16:creationId xmlns:a16="http://schemas.microsoft.com/office/drawing/2014/main" id="{F41DFB33-4CC3-4644-BB70-2D98137B7766}"/>
              </a:ext>
            </a:extLst>
          </p:cNvPr>
          <p:cNvSpPr>
            <a:spLocks xmlns:a="http://schemas.openxmlformats.org/drawingml/2006/main" noGrp="1"/>
          </p:cNvSpPr>
          <p:nvPr/>
        </p:nvSpPr>
        <p:spPr>
          <a:xfrm xmlns:a="http://schemas.openxmlformats.org/drawingml/2006/main">
            <a:off x="4524375" y="1619250"/>
            <a:ext cx="3143250" cy="2381250"/>
          </a:xfrm>
          <a:prstGeom xmlns:a="http://schemas.openxmlformats.org/drawingml/2006/main" prst="roundRect">
            <a:avLst>
              <a:gd name="adj" fmla="val 5600"/>
            </a:avLst>
          </a:prstGeom>
          <a:solidFill xmlns:a="http://schemas.openxmlformats.org/drawingml/2006/main">
            <a:srgbClr val="D28A1D"/>
          </a:solidFill>
          <a:ln xmlns:a="http://schemas.openxmlformats.org/drawingml/2006/main" w="0">
            <a:solidFill>
              <a:srgbClr val="D28A1D"/>
            </a:solidFill>
            <a:prstDash val="solid"/>
          </a:ln>
        </p:spPr>
      </p:sp>
      <p:sp>
        <p:nvSpPr>
          <p:cNvPr id="11" name="">
            <a:extLst xmlns:a="http://schemas.openxmlformats.org/drawingml/2006/main">
              <a:ext uri="{FF2B5EF4-FFF2-40B4-BE49-F238E27FC236}">
                <a16:creationId xmlns:a16="http://schemas.microsoft.com/office/drawing/2014/main" id="{75260884-8C26-4669-A879-B29752150A6F}"/>
              </a:ext>
            </a:extLst>
          </p:cNvPr>
          <p:cNvSpPr>
            <a:spLocks xmlns:a="http://schemas.openxmlformats.org/drawingml/2006/main" noGrp="1"/>
          </p:cNvSpPr>
          <p:nvPr/>
        </p:nvSpPr>
        <p:spPr>
          <a:xfrm xmlns:a="http://schemas.openxmlformats.org/drawingml/2006/main">
            <a:off x="4648200" y="1733550"/>
            <a:ext cx="289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8  Independent Critic</a:t>
            </a:r>
          </a:p>
        </p:txBody>
      </p:sp>
      <p:sp>
        <p:nvSpPr>
          <p:cNvPr id="12" name="">
            <a:extLst xmlns:a="http://schemas.openxmlformats.org/drawingml/2006/main">
              <a:ext uri="{FF2B5EF4-FFF2-40B4-BE49-F238E27FC236}">
                <a16:creationId xmlns:a16="http://schemas.microsoft.com/office/drawing/2014/main" id="{6ECA876F-BB49-437A-AE2C-955E5F06B714}"/>
              </a:ext>
            </a:extLst>
          </p:cNvPr>
          <p:cNvSpPr>
            <a:spLocks xmlns:a="http://schemas.openxmlformats.org/drawingml/2006/main" noGrp="1"/>
          </p:cNvSpPr>
          <p:nvPr/>
        </p:nvSpPr>
        <p:spPr>
          <a:xfrm xmlns:a="http://schemas.openxmlformats.org/drawingml/2006/main">
            <a:off x="4676775" y="2028825"/>
            <a:ext cx="28384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Critic first checks citations. It then scores source support, consistency, materiality, and resilience. A branch must reach 0.60 to pass.</a:t>
            </a:r>
          </a:p>
        </p:txBody>
      </p:sp>
      <p:sp>
        <p:nvSpPr>
          <p:cNvPr id="13" name="">
            <a:extLst xmlns:a="http://schemas.openxmlformats.org/drawingml/2006/main">
              <a:ext uri="{FF2B5EF4-FFF2-40B4-BE49-F238E27FC236}">
                <a16:creationId xmlns:a16="http://schemas.microsoft.com/office/drawing/2014/main" id="{C8D295C1-2611-4752-8856-78829B6C0BB9}"/>
              </a:ext>
            </a:extLst>
          </p:cNvPr>
          <p:cNvSpPr>
            <a:spLocks xmlns:a="http://schemas.openxmlformats.org/drawingml/2006/main" noGrp="1"/>
          </p:cNvSpPr>
          <p:nvPr/>
        </p:nvSpPr>
        <p:spPr>
          <a:xfrm xmlns:a="http://schemas.openxmlformats.org/drawingml/2006/main">
            <a:off x="8382000" y="1619250"/>
            <a:ext cx="3143250" cy="2381250"/>
          </a:xfrm>
          <a:prstGeom xmlns:a="http://schemas.openxmlformats.org/drawingml/2006/main" prst="roundRect">
            <a:avLst>
              <a:gd name="adj" fmla="val 5600"/>
            </a:avLst>
          </a:prstGeom>
          <a:solidFill xmlns:a="http://schemas.openxmlformats.org/drawingml/2006/main">
            <a:srgbClr val="2F8B5B"/>
          </a:solidFill>
          <a:ln xmlns:a="http://schemas.openxmlformats.org/drawingml/2006/main" w="0">
            <a:solidFill>
              <a:srgbClr val="2F8B5B"/>
            </a:solidFill>
            <a:prstDash val="solid"/>
          </a:ln>
        </p:spPr>
      </p:sp>
      <p:sp>
        <p:nvSpPr>
          <p:cNvPr id="14" name="">
            <a:extLst xmlns:a="http://schemas.openxmlformats.org/drawingml/2006/main">
              <a:ext uri="{FF2B5EF4-FFF2-40B4-BE49-F238E27FC236}">
                <a16:creationId xmlns:a16="http://schemas.microsoft.com/office/drawing/2014/main" id="{64BA1F14-359A-4356-8AAF-654BD53B2DDD}"/>
              </a:ext>
            </a:extLst>
          </p:cNvPr>
          <p:cNvSpPr>
            <a:spLocks xmlns:a="http://schemas.openxmlformats.org/drawingml/2006/main" noGrp="1"/>
          </p:cNvSpPr>
          <p:nvPr/>
        </p:nvSpPr>
        <p:spPr>
          <a:xfrm xmlns:a="http://schemas.openxmlformats.org/drawingml/2006/main">
            <a:off x="8505825" y="1733550"/>
            <a:ext cx="289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9  Editor</a:t>
            </a:r>
          </a:p>
        </p:txBody>
      </p:sp>
      <p:sp>
        <p:nvSpPr>
          <p:cNvPr id="15" name="">
            <a:extLst xmlns:a="http://schemas.openxmlformats.org/drawingml/2006/main">
              <a:ext uri="{FF2B5EF4-FFF2-40B4-BE49-F238E27FC236}">
                <a16:creationId xmlns:a16="http://schemas.microsoft.com/office/drawing/2014/main" id="{FDE525CE-2999-444C-86EA-B95A71BC3BC6}"/>
              </a:ext>
            </a:extLst>
          </p:cNvPr>
          <p:cNvSpPr>
            <a:spLocks xmlns:a="http://schemas.openxmlformats.org/drawingml/2006/main" noGrp="1"/>
          </p:cNvSpPr>
          <p:nvPr/>
        </p:nvSpPr>
        <p:spPr>
          <a:xfrm xmlns:a="http://schemas.openxmlformats.org/drawingml/2006/main">
            <a:off x="8534400" y="2028825"/>
            <a:ext cx="28384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The Editor assembles the approved evidence and calculations into the report schema. Topic controls keep the strongest branch when two same-side cases rely on the same primary driver.</a:t>
            </a:r>
          </a:p>
        </p:txBody>
      </p:sp>
      <p:cxnSp>
        <p:nvCxnSpPr>
          <p:cNvPr id="53" name=""/>
          <p:cNvCxnSpPr>
            <a:stCxn xmlns:a="http://schemas.openxmlformats.org/drawingml/2006/main" id="7" idx="3"/>
            <a:endCxn xmlns:a="http://schemas.openxmlformats.org/drawingml/2006/main" id="10" idx="1"/>
          </p:cNvCxnSpPr>
          <p:nvPr/>
        </p:nvCxnSpPr>
        <p:spPr>
          <a:xfrm xmlns:a="http://schemas.openxmlformats.org/drawingml/2006/main">
            <a:off x="3810000" y="2809875"/>
            <a:ext cx="714375"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54" name=""/>
          <p:cNvCxnSpPr>
            <a:stCxn xmlns:a="http://schemas.openxmlformats.org/drawingml/2006/main" id="10" idx="3"/>
            <a:endCxn xmlns:a="http://schemas.openxmlformats.org/drawingml/2006/main" id="13" idx="1"/>
          </p:cNvCxnSpPr>
          <p:nvPr/>
        </p:nvCxnSpPr>
        <p:spPr>
          <a:xfrm xmlns:a="http://schemas.openxmlformats.org/drawingml/2006/main">
            <a:off x="7667625" y="2809875"/>
            <a:ext cx="714375"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BF72ED96-481C-4602-A367-2F58A63CFE2A}"/>
              </a:ext>
            </a:extLst>
          </p:cNvPr>
          <p:cNvSpPr>
            <a:spLocks xmlns:a="http://schemas.openxmlformats.org/drawingml/2006/main" noGrp="1"/>
          </p:cNvSpPr>
          <p:nvPr/>
        </p:nvSpPr>
        <p:spPr>
          <a:xfrm xmlns:a="http://schemas.openxmlformats.org/drawingml/2006/main">
            <a:off x="876300" y="4619625"/>
            <a:ext cx="10420350" cy="1143000"/>
          </a:xfrm>
          <a:prstGeom xmlns:a="http://schemas.openxmlformats.org/drawingml/2006/main" prst="roundRect">
            <a:avLst>
              <a:gd name="adj" fmla="val 10000"/>
            </a:avLst>
          </a:prstGeom>
          <a:solidFill xmlns:a="http://schemas.openxmlformats.org/drawingml/2006/main">
            <a:srgbClr val="EAF3FB"/>
          </a:solidFill>
          <a:ln xmlns:a="http://schemas.openxmlformats.org/drawingml/2006/main" w="0">
            <a:solidFill>
              <a:srgbClr val="3976B9"/>
            </a:solidFill>
            <a:prstDash val="solid"/>
          </a:ln>
        </p:spPr>
      </p:sp>
      <p:sp>
        <p:nvSpPr>
          <p:cNvPr id="19" name="">
            <a:extLst xmlns:a="http://schemas.openxmlformats.org/drawingml/2006/main">
              <a:ext uri="{FF2B5EF4-FFF2-40B4-BE49-F238E27FC236}">
                <a16:creationId xmlns:a16="http://schemas.microsoft.com/office/drawing/2014/main" id="{7C22CB58-752C-4FEE-9335-B036209BCAC4}"/>
              </a:ext>
            </a:extLst>
          </p:cNvPr>
          <p:cNvSpPr>
            <a:spLocks xmlns:a="http://schemas.openxmlformats.org/drawingml/2006/main" noGrp="1"/>
          </p:cNvSpPr>
          <p:nvPr/>
        </p:nvSpPr>
        <p:spPr>
          <a:xfrm xmlns:a="http://schemas.openxmlformats.org/drawingml/2006/main">
            <a:off x="1095375" y="48101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3976B9"/>
                </a:solidFill>
                <a:latin typeface="Arial"/>
                <a:ea typeface="Arial"/>
                <a:cs typeface="Arial"/>
              </a:defRPr>
            </a:pPr>
            <a:r>
              <a:rPr sz="1350" b="1">
                <a:solidFill>
                  <a:srgbClr val="3976B9"/>
                </a:solidFill>
                <a:latin typeface="Arial"/>
                <a:ea typeface="Arial"/>
                <a:cs typeface="Arial"/>
              </a:rPr>
              <a:t>What readers receive</a:t>
            </a:r>
          </a:p>
        </p:txBody>
      </p:sp>
      <p:sp>
        <p:nvSpPr>
          <p:cNvPr id="20" name="">
            <a:extLst xmlns:a="http://schemas.openxmlformats.org/drawingml/2006/main">
              <a:ext uri="{FF2B5EF4-FFF2-40B4-BE49-F238E27FC236}">
                <a16:creationId xmlns:a16="http://schemas.microsoft.com/office/drawing/2014/main" id="{C419E0A4-67AE-4BB5-B0CC-89BC26BB6452}"/>
              </a:ext>
            </a:extLst>
          </p:cNvPr>
          <p:cNvSpPr>
            <a:spLocks xmlns:a="http://schemas.openxmlformats.org/drawingml/2006/main" noGrp="1"/>
          </p:cNvSpPr>
          <p:nvPr/>
        </p:nvSpPr>
        <p:spPr>
          <a:xfrm xmlns:a="http://schemas.openxmlformats.org/drawingml/2006/main">
            <a:off x="3190875" y="4772025"/>
            <a:ext cx="7810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l">
              <a:buNone/>
              <a:defRPr sz="1425" b="0">
                <a:solidFill>
                  <a:srgbClr val="17324D"/>
                </a:solidFill>
                <a:latin typeface="Arial"/>
                <a:ea typeface="Arial"/>
                <a:cs typeface="Arial"/>
              </a:defRPr>
            </a:pPr>
            <a:r>
              <a:rPr sz="1425" b="0">
                <a:solidFill>
                  <a:srgbClr val="17324D"/>
                </a:solidFill>
                <a:latin typeface="Arial"/>
                <a:ea typeface="Arial"/>
                <a:cs typeface="Arial"/>
              </a:rPr>
              <a:t>The report groups supporting evidence by business theme. Each thesis explains what could strengthen it, which measurable indicators matter, and what future observation would challenge the conclusion.</a:t>
            </a:r>
          </a:p>
        </p:txBody>
      </p:sp>
    </p:spTree>
    <p:extLst>
      <p:ext uri="{BB962C8B-B14F-4D97-AF65-F5344CB8AC3E}">
        <p14:creationId xmlns:p14="http://schemas.microsoft.com/office/powerpoint/2010/main" val="1871691788"/>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64F4C27-EEE5-4F2E-974D-79CFE1A44B3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B125472F-FBDA-4AFF-B4EF-B780B764131E}"/>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Nodes 10 to 12: controlling release</a:t>
            </a:r>
          </a:p>
        </p:txBody>
      </p:sp>
      <p:sp>
        <p:nvSpPr>
          <p:cNvPr id="3" name="">
            <a:extLst xmlns:a="http://schemas.openxmlformats.org/drawingml/2006/main">
              <a:ext uri="{FF2B5EF4-FFF2-40B4-BE49-F238E27FC236}">
                <a16:creationId xmlns:a16="http://schemas.microsoft.com/office/drawing/2014/main" id="{93101294-8816-47DE-A2F9-CCF08CC3F087}"/>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quality gate decides whether the report can publish, needs targeted repair, or requires human judgment.</a:t>
            </a:r>
          </a:p>
        </p:txBody>
      </p:sp>
      <p:sp>
        <p:nvSpPr>
          <p:cNvPr id="4" name="">
            <a:extLst xmlns:a="http://schemas.openxmlformats.org/drawingml/2006/main">
              <a:ext uri="{FF2B5EF4-FFF2-40B4-BE49-F238E27FC236}">
                <a16:creationId xmlns:a16="http://schemas.microsoft.com/office/drawing/2014/main" id="{BA437E27-EC99-47A4-9E60-CA8C12560A34}"/>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B4D5D551-3F7B-40EE-AD1A-078B67A94218}"/>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297CC8AA-969A-4180-A1DA-2190B9828196}"/>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C4204FD2-849A-4B20-A126-603B1FF8829E}"/>
              </a:ext>
            </a:extLst>
          </p:cNvPr>
          <p:cNvSpPr>
            <a:spLocks xmlns:a="http://schemas.openxmlformats.org/drawingml/2006/main" noGrp="1"/>
          </p:cNvSpPr>
          <p:nvPr/>
        </p:nvSpPr>
        <p:spPr>
          <a:xfrm xmlns:a="http://schemas.openxmlformats.org/drawingml/2006/main">
            <a:off x="666750" y="2381250"/>
            <a:ext cx="2619375" cy="1476375"/>
          </a:xfrm>
          <a:prstGeom xmlns:a="http://schemas.openxmlformats.org/drawingml/2006/main" prst="roundRect">
            <a:avLst>
              <a:gd name="adj" fmla="val 9032"/>
            </a:avLst>
          </a:prstGeom>
          <a:solidFill xmlns:a="http://schemas.openxmlformats.org/drawingml/2006/main">
            <a:srgbClr val="103A5C"/>
          </a:solidFill>
          <a:ln xmlns:a="http://schemas.openxmlformats.org/drawingml/2006/main" w="0">
            <a:solidFill>
              <a:srgbClr val="103A5C"/>
            </a:solidFill>
            <a:prstDash val="solid"/>
          </a:ln>
        </p:spPr>
      </p:sp>
      <p:sp>
        <p:nvSpPr>
          <p:cNvPr id="8" name="">
            <a:extLst xmlns:a="http://schemas.openxmlformats.org/drawingml/2006/main">
              <a:ext uri="{FF2B5EF4-FFF2-40B4-BE49-F238E27FC236}">
                <a16:creationId xmlns:a16="http://schemas.microsoft.com/office/drawing/2014/main" id="{46272E42-4B5F-4B9C-B557-CDB9397489A8}"/>
              </a:ext>
            </a:extLst>
          </p:cNvPr>
          <p:cNvSpPr>
            <a:spLocks xmlns:a="http://schemas.openxmlformats.org/drawingml/2006/main" noGrp="1"/>
          </p:cNvSpPr>
          <p:nvPr/>
        </p:nvSpPr>
        <p:spPr>
          <a:xfrm xmlns:a="http://schemas.openxmlformats.org/drawingml/2006/main">
            <a:off x="790575" y="2495550"/>
            <a:ext cx="2371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10  Quality gate</a:t>
            </a:r>
          </a:p>
        </p:txBody>
      </p:sp>
      <p:sp>
        <p:nvSpPr>
          <p:cNvPr id="9" name="">
            <a:extLst xmlns:a="http://schemas.openxmlformats.org/drawingml/2006/main">
              <a:ext uri="{FF2B5EF4-FFF2-40B4-BE49-F238E27FC236}">
                <a16:creationId xmlns:a16="http://schemas.microsoft.com/office/drawing/2014/main" id="{D940326F-9004-4C93-BBB6-204EEF6EC626}"/>
              </a:ext>
            </a:extLst>
          </p:cNvPr>
          <p:cNvSpPr>
            <a:spLocks xmlns:a="http://schemas.openxmlformats.org/drawingml/2006/main" noGrp="1"/>
          </p:cNvSpPr>
          <p:nvPr/>
        </p:nvSpPr>
        <p:spPr>
          <a:xfrm xmlns:a="http://schemas.openxmlformats.org/drawingml/2006/main">
            <a:off x="819150" y="2790825"/>
            <a:ext cx="23145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Runs the release checks for evidence support, completeness, confidence, transcript coverage, and monitoring signals.</a:t>
            </a:r>
          </a:p>
        </p:txBody>
      </p:sp>
      <p:sp>
        <p:nvSpPr>
          <p:cNvPr id="10" name="">
            <a:extLst xmlns:a="http://schemas.openxmlformats.org/drawingml/2006/main">
              <a:ext uri="{FF2B5EF4-FFF2-40B4-BE49-F238E27FC236}">
                <a16:creationId xmlns:a16="http://schemas.microsoft.com/office/drawing/2014/main" id="{338BDEF6-44BA-4776-B138-236ED0B09AA5}"/>
              </a:ext>
            </a:extLst>
          </p:cNvPr>
          <p:cNvSpPr>
            <a:spLocks xmlns:a="http://schemas.openxmlformats.org/drawingml/2006/main" noGrp="1"/>
          </p:cNvSpPr>
          <p:nvPr/>
        </p:nvSpPr>
        <p:spPr>
          <a:xfrm xmlns:a="http://schemas.openxmlformats.org/drawingml/2006/main">
            <a:off x="4524375" y="2476500"/>
            <a:ext cx="2238375" cy="1285875"/>
          </a:xfrm>
          <a:prstGeom xmlns:a="http://schemas.openxmlformats.org/drawingml/2006/main" prst="roundRect">
            <a:avLst>
              <a:gd name="adj" fmla="val 10370"/>
            </a:avLst>
          </a:prstGeom>
          <a:solidFill xmlns:a="http://schemas.openxmlformats.org/drawingml/2006/main">
            <a:srgbClr val="103A5C"/>
          </a:solidFill>
          <a:ln xmlns:a="http://schemas.openxmlformats.org/drawingml/2006/main" w="0">
            <a:solidFill>
              <a:srgbClr val="103A5C"/>
            </a:solidFill>
            <a:prstDash val="solid"/>
          </a:ln>
        </p:spPr>
      </p:sp>
      <p:sp>
        <p:nvSpPr>
          <p:cNvPr id="11" name="">
            <a:extLst xmlns:a="http://schemas.openxmlformats.org/drawingml/2006/main">
              <a:ext uri="{FF2B5EF4-FFF2-40B4-BE49-F238E27FC236}">
                <a16:creationId xmlns:a16="http://schemas.microsoft.com/office/drawing/2014/main" id="{7CEDC2E6-D058-48DB-8A85-8652F79DCE17}"/>
              </a:ext>
            </a:extLst>
          </p:cNvPr>
          <p:cNvSpPr>
            <a:spLocks xmlns:a="http://schemas.openxmlformats.org/drawingml/2006/main" noGrp="1"/>
          </p:cNvSpPr>
          <p:nvPr/>
        </p:nvSpPr>
        <p:spPr>
          <a:xfrm xmlns:a="http://schemas.openxmlformats.org/drawingml/2006/main">
            <a:off x="4648200" y="2590800"/>
            <a:ext cx="19907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Routing inside Node 10</a:t>
            </a:r>
          </a:p>
        </p:txBody>
      </p:sp>
      <p:sp>
        <p:nvSpPr>
          <p:cNvPr id="12" name="">
            <a:extLst xmlns:a="http://schemas.openxmlformats.org/drawingml/2006/main">
              <a:ext uri="{FF2B5EF4-FFF2-40B4-BE49-F238E27FC236}">
                <a16:creationId xmlns:a16="http://schemas.microsoft.com/office/drawing/2014/main" id="{5FAAEC03-4203-4FBA-9464-FFFF290E549B}"/>
              </a:ext>
            </a:extLst>
          </p:cNvPr>
          <p:cNvSpPr>
            <a:spLocks xmlns:a="http://schemas.openxmlformats.org/drawingml/2006/main" noGrp="1"/>
          </p:cNvSpPr>
          <p:nvPr/>
        </p:nvSpPr>
        <p:spPr>
          <a:xfrm xmlns:a="http://schemas.openxmlformats.org/drawingml/2006/main">
            <a:off x="4676775" y="2886075"/>
            <a:ext cx="19335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Selects exactly one result from deterministic release rules.</a:t>
            </a:r>
          </a:p>
        </p:txBody>
      </p:sp>
      <p:sp>
        <p:nvSpPr>
          <p:cNvPr id="13" name="">
            <a:extLst xmlns:a="http://schemas.openxmlformats.org/drawingml/2006/main">
              <a:ext uri="{FF2B5EF4-FFF2-40B4-BE49-F238E27FC236}">
                <a16:creationId xmlns:a16="http://schemas.microsoft.com/office/drawing/2014/main" id="{5B8BB73F-B77D-45C0-B96A-9680FEF03FEC}"/>
              </a:ext>
            </a:extLst>
          </p:cNvPr>
          <p:cNvSpPr>
            <a:spLocks xmlns:a="http://schemas.openxmlformats.org/drawingml/2006/main" noGrp="1"/>
          </p:cNvSpPr>
          <p:nvPr/>
        </p:nvSpPr>
        <p:spPr>
          <a:xfrm xmlns:a="http://schemas.openxmlformats.org/drawingml/2006/main">
            <a:off x="8382000" y="1333500"/>
            <a:ext cx="2952750" cy="1095375"/>
          </a:xfrm>
          <a:prstGeom xmlns:a="http://schemas.openxmlformats.org/drawingml/2006/main" prst="roundRect">
            <a:avLst>
              <a:gd name="adj" fmla="val 12174"/>
            </a:avLst>
          </a:prstGeom>
          <a:solidFill xmlns:a="http://schemas.openxmlformats.org/drawingml/2006/main">
            <a:srgbClr val="103A5C"/>
          </a:solidFill>
          <a:ln xmlns:a="http://schemas.openxmlformats.org/drawingml/2006/main" w="0">
            <a:solidFill>
              <a:srgbClr val="103A5C"/>
            </a:solidFill>
            <a:prstDash val="solid"/>
          </a:ln>
        </p:spPr>
      </p:sp>
      <p:sp>
        <p:nvSpPr>
          <p:cNvPr id="14" name="">
            <a:extLst xmlns:a="http://schemas.openxmlformats.org/drawingml/2006/main">
              <a:ext uri="{FF2B5EF4-FFF2-40B4-BE49-F238E27FC236}">
                <a16:creationId xmlns:a16="http://schemas.microsoft.com/office/drawing/2014/main" id="{92F0ECD5-D50A-4310-9776-142222AA8390}"/>
              </a:ext>
            </a:extLst>
          </p:cNvPr>
          <p:cNvSpPr>
            <a:spLocks xmlns:a="http://schemas.openxmlformats.org/drawingml/2006/main" noGrp="1"/>
          </p:cNvSpPr>
          <p:nvPr/>
        </p:nvSpPr>
        <p:spPr>
          <a:xfrm xmlns:a="http://schemas.openxmlformats.org/drawingml/2006/main">
            <a:off x="8505825" y="144780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12  Finalize and publish</a:t>
            </a:r>
          </a:p>
        </p:txBody>
      </p:sp>
      <p:sp>
        <p:nvSpPr>
          <p:cNvPr id="15" name="">
            <a:extLst xmlns:a="http://schemas.openxmlformats.org/drawingml/2006/main">
              <a:ext uri="{FF2B5EF4-FFF2-40B4-BE49-F238E27FC236}">
                <a16:creationId xmlns:a16="http://schemas.microsoft.com/office/drawing/2014/main" id="{BB071CDE-A2ED-4C9D-925F-310B82346310}"/>
              </a:ext>
            </a:extLst>
          </p:cNvPr>
          <p:cNvSpPr>
            <a:spLocks xmlns:a="http://schemas.openxmlformats.org/drawingml/2006/main" noGrp="1"/>
          </p:cNvSpPr>
          <p:nvPr/>
        </p:nvSpPr>
        <p:spPr>
          <a:xfrm xmlns:a="http://schemas.openxmlformats.org/drawingml/2006/main">
            <a:off x="8534400" y="1743075"/>
            <a:ext cx="26479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Validates the report schema and releases an allowed report.</a:t>
            </a:r>
          </a:p>
        </p:txBody>
      </p:sp>
      <p:sp>
        <p:nvSpPr>
          <p:cNvPr id="16" name="">
            <a:extLst xmlns:a="http://schemas.openxmlformats.org/drawingml/2006/main">
              <a:ext uri="{FF2B5EF4-FFF2-40B4-BE49-F238E27FC236}">
                <a16:creationId xmlns:a16="http://schemas.microsoft.com/office/drawing/2014/main" id="{71D9CD15-D886-49D1-A0E9-258BE5DD2F2F}"/>
              </a:ext>
            </a:extLst>
          </p:cNvPr>
          <p:cNvSpPr>
            <a:spLocks xmlns:a="http://schemas.openxmlformats.org/drawingml/2006/main" noGrp="1"/>
          </p:cNvSpPr>
          <p:nvPr/>
        </p:nvSpPr>
        <p:spPr>
          <a:xfrm xmlns:a="http://schemas.openxmlformats.org/drawingml/2006/main">
            <a:off x="8382000" y="2905125"/>
            <a:ext cx="2952750" cy="1190625"/>
          </a:xfrm>
          <a:prstGeom xmlns:a="http://schemas.openxmlformats.org/drawingml/2006/main" prst="roundRect">
            <a:avLst>
              <a:gd name="adj" fmla="val 11200"/>
            </a:avLst>
          </a:prstGeom>
          <a:solidFill xmlns:a="http://schemas.openxmlformats.org/drawingml/2006/main">
            <a:srgbClr val="103A5C"/>
          </a:solidFill>
          <a:ln xmlns:a="http://schemas.openxmlformats.org/drawingml/2006/main" w="0">
            <a:solidFill>
              <a:srgbClr val="103A5C"/>
            </a:solidFill>
            <a:prstDash val="solid"/>
          </a:ln>
        </p:spPr>
      </p:sp>
      <p:sp>
        <p:nvSpPr>
          <p:cNvPr id="17" name="">
            <a:extLst xmlns:a="http://schemas.openxmlformats.org/drawingml/2006/main">
              <a:ext uri="{FF2B5EF4-FFF2-40B4-BE49-F238E27FC236}">
                <a16:creationId xmlns:a16="http://schemas.microsoft.com/office/drawing/2014/main" id="{37E8757C-111A-4970-A458-FDE508043FD8}"/>
              </a:ext>
            </a:extLst>
          </p:cNvPr>
          <p:cNvSpPr>
            <a:spLocks xmlns:a="http://schemas.openxmlformats.org/drawingml/2006/main" noGrp="1"/>
          </p:cNvSpPr>
          <p:nvPr/>
        </p:nvSpPr>
        <p:spPr>
          <a:xfrm xmlns:a="http://schemas.openxmlformats.org/drawingml/2006/main">
            <a:off x="8505825" y="3019425"/>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Targeted research</a:t>
            </a:r>
          </a:p>
        </p:txBody>
      </p:sp>
      <p:sp>
        <p:nvSpPr>
          <p:cNvPr id="18" name="">
            <a:extLst xmlns:a="http://schemas.openxmlformats.org/drawingml/2006/main">
              <a:ext uri="{FF2B5EF4-FFF2-40B4-BE49-F238E27FC236}">
                <a16:creationId xmlns:a16="http://schemas.microsoft.com/office/drawing/2014/main" id="{2D188FC7-5020-4149-BB1A-1FE9F3AFF925}"/>
              </a:ext>
            </a:extLst>
          </p:cNvPr>
          <p:cNvSpPr>
            <a:spLocks xmlns:a="http://schemas.openxmlformats.org/drawingml/2006/main" noGrp="1"/>
          </p:cNvSpPr>
          <p:nvPr/>
        </p:nvSpPr>
        <p:spPr>
          <a:xfrm xmlns:a="http://schemas.openxmlformats.org/drawingml/2006/main">
            <a:off x="8534400" y="3314700"/>
            <a:ext cx="26479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Reopens the missing task. After one bounded pass, the report returns to Node 10 for another check.</a:t>
            </a:r>
          </a:p>
        </p:txBody>
      </p:sp>
      <p:sp>
        <p:nvSpPr>
          <p:cNvPr id="19" name="">
            <a:extLst xmlns:a="http://schemas.openxmlformats.org/drawingml/2006/main">
              <a:ext uri="{FF2B5EF4-FFF2-40B4-BE49-F238E27FC236}">
                <a16:creationId xmlns:a16="http://schemas.microsoft.com/office/drawing/2014/main" id="{1F10B422-CFFB-457E-8B96-D403B6D19BF1}"/>
              </a:ext>
            </a:extLst>
          </p:cNvPr>
          <p:cNvSpPr>
            <a:spLocks xmlns:a="http://schemas.openxmlformats.org/drawingml/2006/main" noGrp="1"/>
          </p:cNvSpPr>
          <p:nvPr/>
        </p:nvSpPr>
        <p:spPr>
          <a:xfrm xmlns:a="http://schemas.openxmlformats.org/drawingml/2006/main">
            <a:off x="8382000" y="4572000"/>
            <a:ext cx="2952750" cy="1190625"/>
          </a:xfrm>
          <a:prstGeom xmlns:a="http://schemas.openxmlformats.org/drawingml/2006/main" prst="roundRect">
            <a:avLst>
              <a:gd name="adj" fmla="val 11200"/>
            </a:avLst>
          </a:prstGeom>
          <a:solidFill xmlns:a="http://schemas.openxmlformats.org/drawingml/2006/main">
            <a:srgbClr val="103A5C"/>
          </a:solidFill>
          <a:ln xmlns:a="http://schemas.openxmlformats.org/drawingml/2006/main" w="0">
            <a:solidFill>
              <a:srgbClr val="103A5C"/>
            </a:solidFill>
            <a:prstDash val="solid"/>
          </a:ln>
        </p:spPr>
      </p:sp>
      <p:sp>
        <p:nvSpPr>
          <p:cNvPr id="20" name="">
            <a:extLst xmlns:a="http://schemas.openxmlformats.org/drawingml/2006/main">
              <a:ext uri="{FF2B5EF4-FFF2-40B4-BE49-F238E27FC236}">
                <a16:creationId xmlns:a16="http://schemas.microsoft.com/office/drawing/2014/main" id="{DA558938-0AC1-482D-8F79-0CB0932C1A56}"/>
              </a:ext>
            </a:extLst>
          </p:cNvPr>
          <p:cNvSpPr>
            <a:spLocks xmlns:a="http://schemas.openxmlformats.org/drawingml/2006/main" noGrp="1"/>
          </p:cNvSpPr>
          <p:nvPr/>
        </p:nvSpPr>
        <p:spPr>
          <a:xfrm xmlns:a="http://schemas.openxmlformats.org/drawingml/2006/main">
            <a:off x="8505825" y="4686300"/>
            <a:ext cx="2705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11  Human review</a:t>
            </a:r>
          </a:p>
        </p:txBody>
      </p:sp>
      <p:sp>
        <p:nvSpPr>
          <p:cNvPr id="21" name="">
            <a:extLst xmlns:a="http://schemas.openxmlformats.org/drawingml/2006/main">
              <a:ext uri="{FF2B5EF4-FFF2-40B4-BE49-F238E27FC236}">
                <a16:creationId xmlns:a16="http://schemas.microsoft.com/office/drawing/2014/main" id="{8822A226-CC45-4ECF-8040-D9AA544993D6}"/>
              </a:ext>
            </a:extLst>
          </p:cNvPr>
          <p:cNvSpPr>
            <a:spLocks xmlns:a="http://schemas.openxmlformats.org/drawingml/2006/main" noGrp="1"/>
          </p:cNvSpPr>
          <p:nvPr/>
        </p:nvSpPr>
        <p:spPr>
          <a:xfrm xmlns:a="http://schemas.openxmlformats.org/drawingml/2006/main">
            <a:off x="8534400" y="4981575"/>
            <a:ext cx="26479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Pauses with the reason and evidence context. The reviewer can allow, revise, or block the report.</a:t>
            </a:r>
          </a:p>
        </p:txBody>
      </p:sp>
      <p:cxnSp>
        <p:nvCxnSpPr>
          <p:cNvPr id="86" name=""/>
          <p:cNvCxnSpPr>
            <a:stCxn xmlns:a="http://schemas.openxmlformats.org/drawingml/2006/main" id="7" idx="3"/>
            <a:endCxn xmlns:a="http://schemas.openxmlformats.org/drawingml/2006/main" id="10" idx="1"/>
          </p:cNvCxnSpPr>
          <p:nvPr/>
        </p:nvCxnSpPr>
        <p:spPr>
          <a:xfrm xmlns:a="http://schemas.openxmlformats.org/drawingml/2006/main">
            <a:off x="3286125" y="3119438"/>
            <a:ext cx="1238250" cy="0"/>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cxnSp>
        <p:nvCxnSpPr>
          <p:cNvPr id="87" name=""/>
          <p:cNvCxnSpPr>
            <a:stCxn xmlns:a="http://schemas.openxmlformats.org/drawingml/2006/main" id="10" idx="3"/>
            <a:endCxn xmlns:a="http://schemas.openxmlformats.org/drawingml/2006/main" id="13" idx="1"/>
          </p:cNvCxnSpPr>
          <p:nvPr/>
        </p:nvCxnSpPr>
        <p:spPr>
          <a:xfrm xmlns:a="http://schemas.openxmlformats.org/drawingml/2006/main" flipV="1">
            <a:off x="6762750" y="1881188"/>
            <a:ext cx="1619250" cy="1238250"/>
          </a:xfrm>
          <a:prstGeom xmlns:a="http://schemas.openxmlformats.org/drawingml/2006/main" prst="bentConnector3">
            <a:avLst>
              <a:gd name="adj1" fmla="val 50000"/>
            </a:avLst>
          </a:prstGeom>
          <a:ln xmlns:a="http://schemas.openxmlformats.org/drawingml/2006/main" w="28575">
            <a:solidFill>
              <a:srgbClr val="009B96"/>
            </a:solidFill>
            <a:prstDash val="solid"/>
            <a:tailEnd type="triangle" w="med" len="med"/>
          </a:ln>
        </p:spPr>
      </p:cxnSp>
      <p:cxnSp>
        <p:nvCxnSpPr>
          <p:cNvPr id="88" name=""/>
          <p:cNvCxnSpPr>
            <a:stCxn xmlns:a="http://schemas.openxmlformats.org/drawingml/2006/main" id="10" idx="3"/>
            <a:endCxn xmlns:a="http://schemas.openxmlformats.org/drawingml/2006/main" id="16" idx="1"/>
          </p:cNvCxnSpPr>
          <p:nvPr/>
        </p:nvCxnSpPr>
        <p:spPr>
          <a:xfrm xmlns:a="http://schemas.openxmlformats.org/drawingml/2006/main">
            <a:off x="6762750" y="3119438"/>
            <a:ext cx="1619250" cy="381000"/>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cxnSp>
        <p:nvCxnSpPr>
          <p:cNvPr id="89" name=""/>
          <p:cNvCxnSpPr>
            <a:stCxn xmlns:a="http://schemas.openxmlformats.org/drawingml/2006/main" id="10" idx="3"/>
            <a:endCxn xmlns:a="http://schemas.openxmlformats.org/drawingml/2006/main" id="19" idx="1"/>
          </p:cNvCxnSpPr>
          <p:nvPr/>
        </p:nvCxnSpPr>
        <p:spPr>
          <a:xfrm xmlns:a="http://schemas.openxmlformats.org/drawingml/2006/main">
            <a:off x="6762750" y="3119438"/>
            <a:ext cx="1619250" cy="2047875"/>
          </a:xfrm>
          <a:prstGeom xmlns:a="http://schemas.openxmlformats.org/drawingml/2006/main" prst="bentConnector3">
            <a:avLst>
              <a:gd name="adj1" fmla="val 50000"/>
            </a:avLst>
          </a:prstGeom>
          <a:ln xmlns:a="http://schemas.openxmlformats.org/drawingml/2006/main" w="28575">
            <a:solidFill>
              <a:srgbClr val="009B96"/>
            </a:solidFill>
            <a:prstDash val="solid"/>
            <a:tailEnd type="triangle" w="med" len="med"/>
          </a:ln>
        </p:spPr>
      </p:cxnSp>
      <p:sp>
        <p:nvSpPr>
          <p:cNvPr id="26" name="">
            <a:extLst xmlns:a="http://schemas.openxmlformats.org/drawingml/2006/main">
              <a:ext uri="{FF2B5EF4-FFF2-40B4-BE49-F238E27FC236}">
                <a16:creationId xmlns:a16="http://schemas.microsoft.com/office/drawing/2014/main" id="{07E4E0A4-53D8-4EF8-B064-B42FF4DFC556}"/>
              </a:ext>
            </a:extLst>
          </p:cNvPr>
          <p:cNvSpPr>
            <a:spLocks xmlns:a="http://schemas.openxmlformats.org/drawingml/2006/main" noGrp="1"/>
          </p:cNvSpPr>
          <p:nvPr/>
        </p:nvSpPr>
        <p:spPr>
          <a:xfrm xmlns:a="http://schemas.openxmlformats.org/drawingml/2006/main">
            <a:off x="3352800" y="2924175"/>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27" name="">
            <a:extLst xmlns:a="http://schemas.openxmlformats.org/drawingml/2006/main">
              <a:ext uri="{FF2B5EF4-FFF2-40B4-BE49-F238E27FC236}">
                <a16:creationId xmlns:a16="http://schemas.microsoft.com/office/drawing/2014/main" id="{FB926B31-6049-40CA-9773-9837EDF9C24C}"/>
              </a:ext>
            </a:extLst>
          </p:cNvPr>
          <p:cNvSpPr>
            <a:spLocks xmlns:a="http://schemas.openxmlformats.org/drawingml/2006/main" noGrp="1"/>
          </p:cNvSpPr>
          <p:nvPr/>
        </p:nvSpPr>
        <p:spPr>
          <a:xfrm xmlns:a="http://schemas.openxmlformats.org/drawingml/2006/main">
            <a:off x="3352800" y="29432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28" name="">
            <a:extLst xmlns:a="http://schemas.openxmlformats.org/drawingml/2006/main">
              <a:ext uri="{FF2B5EF4-FFF2-40B4-BE49-F238E27FC236}">
                <a16:creationId xmlns:a16="http://schemas.microsoft.com/office/drawing/2014/main" id="{DA24B5CC-FAC1-4636-A7F9-1C7EC4776B97}"/>
              </a:ext>
            </a:extLst>
          </p:cNvPr>
          <p:cNvSpPr>
            <a:spLocks xmlns:a="http://schemas.openxmlformats.org/drawingml/2006/main" noGrp="1"/>
          </p:cNvSpPr>
          <p:nvPr/>
        </p:nvSpPr>
        <p:spPr>
          <a:xfrm xmlns:a="http://schemas.openxmlformats.org/drawingml/2006/main">
            <a:off x="3676650" y="2933700"/>
            <a:ext cx="81915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76048"/>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CHECK RESULT</a:t>
            </a:r>
          </a:p>
        </p:txBody>
      </p:sp>
      <p:sp>
        <p:nvSpPr>
          <p:cNvPr id="29" name="">
            <a:extLst xmlns:a="http://schemas.openxmlformats.org/drawingml/2006/main">
              <a:ext uri="{FF2B5EF4-FFF2-40B4-BE49-F238E27FC236}">
                <a16:creationId xmlns:a16="http://schemas.microsoft.com/office/drawing/2014/main" id="{3A712954-D94D-45FA-BB0E-51838ADE5A22}"/>
              </a:ext>
            </a:extLst>
          </p:cNvPr>
          <p:cNvSpPr>
            <a:spLocks xmlns:a="http://schemas.openxmlformats.org/drawingml/2006/main" noGrp="1"/>
          </p:cNvSpPr>
          <p:nvPr/>
        </p:nvSpPr>
        <p:spPr>
          <a:xfrm xmlns:a="http://schemas.openxmlformats.org/drawingml/2006/main">
            <a:off x="7000875" y="167640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0" name="">
            <a:extLst xmlns:a="http://schemas.openxmlformats.org/drawingml/2006/main">
              <a:ext uri="{FF2B5EF4-FFF2-40B4-BE49-F238E27FC236}">
                <a16:creationId xmlns:a16="http://schemas.microsoft.com/office/drawing/2014/main" id="{DBA9868E-AB1E-4D51-B61C-66AAB6596F8C}"/>
              </a:ext>
            </a:extLst>
          </p:cNvPr>
          <p:cNvSpPr>
            <a:spLocks xmlns:a="http://schemas.openxmlformats.org/drawingml/2006/main" noGrp="1"/>
          </p:cNvSpPr>
          <p:nvPr/>
        </p:nvSpPr>
        <p:spPr>
          <a:xfrm xmlns:a="http://schemas.openxmlformats.org/drawingml/2006/main">
            <a:off x="7000875" y="16954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282C901B-B76F-41C0-8015-69637F5D2BF6}"/>
              </a:ext>
            </a:extLst>
          </p:cNvPr>
          <p:cNvSpPr>
            <a:spLocks xmlns:a="http://schemas.openxmlformats.org/drawingml/2006/main" noGrp="1"/>
          </p:cNvSpPr>
          <p:nvPr/>
        </p:nvSpPr>
        <p:spPr>
          <a:xfrm xmlns:a="http://schemas.openxmlformats.org/drawingml/2006/main">
            <a:off x="7324725" y="1685925"/>
            <a:ext cx="53340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PASS</a:t>
            </a:r>
          </a:p>
        </p:txBody>
      </p:sp>
      <p:sp>
        <p:nvSpPr>
          <p:cNvPr id="32" name="">
            <a:extLst xmlns:a="http://schemas.openxmlformats.org/drawingml/2006/main">
              <a:ext uri="{FF2B5EF4-FFF2-40B4-BE49-F238E27FC236}">
                <a16:creationId xmlns:a16="http://schemas.microsoft.com/office/drawing/2014/main" id="{C8198025-FBE7-43BE-A997-5B67E2F869E5}"/>
              </a:ext>
            </a:extLst>
          </p:cNvPr>
          <p:cNvSpPr>
            <a:spLocks xmlns:a="http://schemas.openxmlformats.org/drawingml/2006/main" noGrp="1"/>
          </p:cNvSpPr>
          <p:nvPr/>
        </p:nvSpPr>
        <p:spPr>
          <a:xfrm xmlns:a="http://schemas.openxmlformats.org/drawingml/2006/main">
            <a:off x="7000875" y="3209925"/>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3" name="">
            <a:extLst xmlns:a="http://schemas.openxmlformats.org/drawingml/2006/main">
              <a:ext uri="{FF2B5EF4-FFF2-40B4-BE49-F238E27FC236}">
                <a16:creationId xmlns:a16="http://schemas.microsoft.com/office/drawing/2014/main" id="{B2C71CFC-3BB2-43C6-A80E-EDF5E1F6F24F}"/>
              </a:ext>
            </a:extLst>
          </p:cNvPr>
          <p:cNvSpPr>
            <a:spLocks xmlns:a="http://schemas.openxmlformats.org/drawingml/2006/main" noGrp="1"/>
          </p:cNvSpPr>
          <p:nvPr/>
        </p:nvSpPr>
        <p:spPr>
          <a:xfrm xmlns:a="http://schemas.openxmlformats.org/drawingml/2006/main">
            <a:off x="7000875" y="32289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34" name="">
            <a:extLst xmlns:a="http://schemas.openxmlformats.org/drawingml/2006/main">
              <a:ext uri="{FF2B5EF4-FFF2-40B4-BE49-F238E27FC236}">
                <a16:creationId xmlns:a16="http://schemas.microsoft.com/office/drawing/2014/main" id="{04A00381-E281-4069-A8C5-56CB1C0BAD31}"/>
              </a:ext>
            </a:extLst>
          </p:cNvPr>
          <p:cNvSpPr>
            <a:spLocks xmlns:a="http://schemas.openxmlformats.org/drawingml/2006/main" noGrp="1"/>
          </p:cNvSpPr>
          <p:nvPr/>
        </p:nvSpPr>
        <p:spPr>
          <a:xfrm xmlns:a="http://schemas.openxmlformats.org/drawingml/2006/main">
            <a:off x="7324725" y="3219450"/>
            <a:ext cx="676275"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REPAIR</a:t>
            </a:r>
          </a:p>
        </p:txBody>
      </p:sp>
      <p:sp>
        <p:nvSpPr>
          <p:cNvPr id="35" name="">
            <a:extLst xmlns:a="http://schemas.openxmlformats.org/drawingml/2006/main">
              <a:ext uri="{FF2B5EF4-FFF2-40B4-BE49-F238E27FC236}">
                <a16:creationId xmlns:a16="http://schemas.microsoft.com/office/drawing/2014/main" id="{4C4AB24F-3097-47E5-ACCE-229F3B243321}"/>
              </a:ext>
            </a:extLst>
          </p:cNvPr>
          <p:cNvSpPr>
            <a:spLocks xmlns:a="http://schemas.openxmlformats.org/drawingml/2006/main" noGrp="1"/>
          </p:cNvSpPr>
          <p:nvPr/>
        </p:nvSpPr>
        <p:spPr>
          <a:xfrm xmlns:a="http://schemas.openxmlformats.org/drawingml/2006/main">
            <a:off x="7000875" y="487680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6" name="">
            <a:extLst xmlns:a="http://schemas.openxmlformats.org/drawingml/2006/main">
              <a:ext uri="{FF2B5EF4-FFF2-40B4-BE49-F238E27FC236}">
                <a16:creationId xmlns:a16="http://schemas.microsoft.com/office/drawing/2014/main" id="{17E1B1A8-70F3-4B52-B347-C301965A52E1}"/>
              </a:ext>
            </a:extLst>
          </p:cNvPr>
          <p:cNvSpPr>
            <a:spLocks xmlns:a="http://schemas.openxmlformats.org/drawingml/2006/main" noGrp="1"/>
          </p:cNvSpPr>
          <p:nvPr/>
        </p:nvSpPr>
        <p:spPr>
          <a:xfrm xmlns:a="http://schemas.openxmlformats.org/drawingml/2006/main">
            <a:off x="7000875" y="489585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4</a:t>
            </a:r>
          </a:p>
        </p:txBody>
      </p:sp>
      <p:sp>
        <p:nvSpPr>
          <p:cNvPr id="37" name="">
            <a:extLst xmlns:a="http://schemas.openxmlformats.org/drawingml/2006/main">
              <a:ext uri="{FF2B5EF4-FFF2-40B4-BE49-F238E27FC236}">
                <a16:creationId xmlns:a16="http://schemas.microsoft.com/office/drawing/2014/main" id="{7C14961B-48F7-478C-A3AA-E2193931CB08}"/>
              </a:ext>
            </a:extLst>
          </p:cNvPr>
          <p:cNvSpPr>
            <a:spLocks xmlns:a="http://schemas.openxmlformats.org/drawingml/2006/main" noGrp="1"/>
          </p:cNvSpPr>
          <p:nvPr/>
        </p:nvSpPr>
        <p:spPr>
          <a:xfrm xmlns:a="http://schemas.openxmlformats.org/drawingml/2006/main">
            <a:off x="7324725" y="4886325"/>
            <a:ext cx="72390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REVIEW</a:t>
            </a:r>
          </a:p>
        </p:txBody>
      </p:sp>
      <p:sp>
        <p:nvSpPr>
          <p:cNvPr id="38" name="">
            <a:extLst xmlns:a="http://schemas.openxmlformats.org/drawingml/2006/main">
              <a:ext uri="{FF2B5EF4-FFF2-40B4-BE49-F238E27FC236}">
                <a16:creationId xmlns:a16="http://schemas.microsoft.com/office/drawing/2014/main" id="{C55DB9CF-8F17-4B1B-978C-6E10961C0045}"/>
              </a:ext>
            </a:extLst>
          </p:cNvPr>
          <p:cNvSpPr>
            <a:spLocks xmlns:a="http://schemas.openxmlformats.org/drawingml/2006/main" noGrp="1"/>
          </p:cNvSpPr>
          <p:nvPr/>
        </p:nvSpPr>
        <p:spPr>
          <a:xfrm xmlns:a="http://schemas.openxmlformats.org/drawingml/2006/main">
            <a:off x="666750" y="5953125"/>
            <a:ext cx="10668000" cy="323850"/>
          </a:xfrm>
          <a:prstGeom xmlns:a="http://schemas.openxmlformats.org/drawingml/2006/main" prst="roundRect">
            <a:avLst>
              <a:gd name="adj" fmla="val 20588"/>
            </a:avLst>
          </a:prstGeom>
          <a:solidFill xmlns:a="http://schemas.openxmlformats.org/drawingml/2006/main">
            <a:srgbClr val="E6F6F4"/>
          </a:solidFill>
          <a:ln xmlns:a="http://schemas.openxmlformats.org/drawingml/2006/main" w="0">
            <a:solidFill>
              <a:srgbClr val="009B96"/>
            </a:solidFill>
            <a:prstDash val="solid"/>
          </a:ln>
        </p:spPr>
      </p:sp>
      <p:sp>
        <p:nvSpPr>
          <p:cNvPr id="39" name="">
            <a:extLst xmlns:a="http://schemas.openxmlformats.org/drawingml/2006/main">
              <a:ext uri="{FF2B5EF4-FFF2-40B4-BE49-F238E27FC236}">
                <a16:creationId xmlns:a16="http://schemas.microsoft.com/office/drawing/2014/main" id="{3AFE5E10-B3ED-498F-A490-DFA95E7F89E5}"/>
              </a:ext>
            </a:extLst>
          </p:cNvPr>
          <p:cNvSpPr>
            <a:spLocks xmlns:a="http://schemas.openxmlformats.org/drawingml/2006/main" noGrp="1"/>
          </p:cNvSpPr>
          <p:nvPr/>
        </p:nvSpPr>
        <p:spPr>
          <a:xfrm xmlns:a="http://schemas.openxmlformats.org/drawingml/2006/main">
            <a:off x="876300" y="6000750"/>
            <a:ext cx="1026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6733"/>
          </a:bodyPr>
          <a:lstStyle xmlns:a="http://schemas.openxmlformats.org/drawingml/2006/main"/>
          <a:p xmlns:a="http://schemas.openxmlformats.org/drawingml/2006/main">
            <a:pPr algn="ctr">
              <a:buNone/>
              <a:defRPr sz="1163" b="1">
                <a:solidFill>
                  <a:srgbClr val="103A5C"/>
                </a:solidFill>
                <a:latin typeface="Arial"/>
                <a:ea typeface="Arial"/>
                <a:cs typeface="Arial"/>
              </a:defRPr>
            </a:pPr>
            <a:r>
              <a:rPr sz="1163" b="1">
                <a:solidFill>
                  <a:srgbClr val="103A5C"/>
                </a:solidFill>
                <a:latin typeface="Arial"/>
                <a:ea typeface="Arial"/>
                <a:cs typeface="Arial"/>
              </a:rPr>
              <a:t>Pass publishes. Repair gathers only the missing evidence and checks again. Review continues through the human decision flow on slide 19.</a:t>
            </a:r>
          </a:p>
        </p:txBody>
      </p:sp>
    </p:spTree>
    <p:extLst>
      <p:ext uri="{BB962C8B-B14F-4D97-AF65-F5344CB8AC3E}">
        <p14:creationId xmlns:p14="http://schemas.microsoft.com/office/powerpoint/2010/main" val="157655828"/>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6BA128-CC24-45BC-ACD3-81D49402653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A67D3738-A9F6-4510-8E9F-2EFDED5A5595}"/>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Deterministic code and language model responsibilities</a:t>
            </a:r>
          </a:p>
        </p:txBody>
      </p:sp>
      <p:sp>
        <p:nvSpPr>
          <p:cNvPr id="3" name="">
            <a:extLst xmlns:a="http://schemas.openxmlformats.org/drawingml/2006/main">
              <a:ext uri="{FF2B5EF4-FFF2-40B4-BE49-F238E27FC236}">
                <a16:creationId xmlns:a16="http://schemas.microsoft.com/office/drawing/2014/main" id="{712A6439-DD9C-4BE1-AB69-51F356C8DD98}"/>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system uses model judgment for meaning and deterministic code for exact, repeatable controls.</a:t>
            </a:r>
          </a:p>
        </p:txBody>
      </p:sp>
      <p:sp>
        <p:nvSpPr>
          <p:cNvPr id="4" name="">
            <a:extLst xmlns:a="http://schemas.openxmlformats.org/drawingml/2006/main">
              <a:ext uri="{FF2B5EF4-FFF2-40B4-BE49-F238E27FC236}">
                <a16:creationId xmlns:a16="http://schemas.microsoft.com/office/drawing/2014/main" id="{065720FC-559A-4A5C-BCE4-AD5E65039F26}"/>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CAD36070-D852-430B-8653-03A641011DCF}"/>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9E4417A7-A617-4484-8D34-9947978B5319}"/>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25A2957E-94C8-4649-ADA2-56FDF5992235}"/>
              </a:ext>
            </a:extLst>
          </p:cNvPr>
          <p:cNvSpPr>
            <a:spLocks xmlns:a="http://schemas.openxmlformats.org/drawingml/2006/main" noGrp="1"/>
          </p:cNvSpPr>
          <p:nvPr/>
        </p:nvSpPr>
        <p:spPr>
          <a:xfrm xmlns:a="http://schemas.openxmlformats.org/drawingml/2006/main">
            <a:off x="647700" y="1352550"/>
            <a:ext cx="5191125" cy="4552950"/>
          </a:xfrm>
          <a:prstGeom xmlns:a="http://schemas.openxmlformats.org/drawingml/2006/main" prst="roundRect">
            <a:avLst>
              <a:gd name="adj" fmla="val 2929"/>
            </a:avLst>
          </a:prstGeom>
          <a:solidFill xmlns:a="http://schemas.openxmlformats.org/drawingml/2006/main">
            <a:srgbClr val="EAF3FB"/>
          </a:solidFill>
          <a:ln xmlns:a="http://schemas.openxmlformats.org/drawingml/2006/main" w="9525">
            <a:solidFill>
              <a:srgbClr val="3976B9"/>
            </a:solidFill>
            <a:prstDash val="solid"/>
          </a:ln>
        </p:spPr>
      </p:sp>
      <p:sp>
        <p:nvSpPr>
          <p:cNvPr id="8" name="">
            <a:extLst xmlns:a="http://schemas.openxmlformats.org/drawingml/2006/main">
              <a:ext uri="{FF2B5EF4-FFF2-40B4-BE49-F238E27FC236}">
                <a16:creationId xmlns:a16="http://schemas.microsoft.com/office/drawing/2014/main" id="{53718439-320C-4BA1-923D-59A6A64B7FF8}"/>
              </a:ext>
            </a:extLst>
          </p:cNvPr>
          <p:cNvSpPr>
            <a:spLocks xmlns:a="http://schemas.openxmlformats.org/drawingml/2006/main" noGrp="1"/>
          </p:cNvSpPr>
          <p:nvPr/>
        </p:nvSpPr>
        <p:spPr>
          <a:xfrm xmlns:a="http://schemas.openxmlformats.org/drawingml/2006/main">
            <a:off x="6353175" y="1352550"/>
            <a:ext cx="5191125" cy="4552950"/>
          </a:xfrm>
          <a:prstGeom xmlns:a="http://schemas.openxmlformats.org/drawingml/2006/main" prst="roundRect">
            <a:avLst>
              <a:gd name="adj" fmla="val 2929"/>
            </a:avLst>
          </a:prstGeom>
          <a:solidFill xmlns:a="http://schemas.openxmlformats.org/drawingml/2006/main">
            <a:srgbClr val="E6F6F4"/>
          </a:solidFill>
          <a:ln xmlns:a="http://schemas.openxmlformats.org/drawingml/2006/main" w="9525">
            <a:solidFill>
              <a:srgbClr val="009B96"/>
            </a:solidFill>
            <a:prstDash val="solid"/>
          </a:ln>
        </p:spPr>
      </p:sp>
      <p:sp>
        <p:nvSpPr>
          <p:cNvPr id="9" name="">
            <a:extLst xmlns:a="http://schemas.openxmlformats.org/drawingml/2006/main">
              <a:ext uri="{FF2B5EF4-FFF2-40B4-BE49-F238E27FC236}">
                <a16:creationId xmlns:a16="http://schemas.microsoft.com/office/drawing/2014/main" id="{DA5691F1-04BE-4F8D-A632-8CB1F8DA5B2C}"/>
              </a:ext>
            </a:extLst>
          </p:cNvPr>
          <p:cNvSpPr>
            <a:spLocks xmlns:a="http://schemas.openxmlformats.org/drawingml/2006/main" noGrp="1"/>
          </p:cNvSpPr>
          <p:nvPr/>
        </p:nvSpPr>
        <p:spPr>
          <a:xfrm xmlns:a="http://schemas.openxmlformats.org/drawingml/2006/main">
            <a:off x="914400" y="1571625"/>
            <a:ext cx="4619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875" b="1">
                <a:solidFill>
                  <a:srgbClr val="3976B9"/>
                </a:solidFill>
                <a:latin typeface="Arial"/>
                <a:ea typeface="Arial"/>
                <a:cs typeface="Arial"/>
              </a:defRPr>
            </a:pPr>
            <a:r>
              <a:rPr sz="1875" b="1">
                <a:solidFill>
                  <a:srgbClr val="3976B9"/>
                </a:solidFill>
                <a:latin typeface="Arial"/>
                <a:ea typeface="Arial"/>
                <a:cs typeface="Arial"/>
              </a:rPr>
              <a:t>Deterministic code</a:t>
            </a:r>
          </a:p>
        </p:txBody>
      </p:sp>
      <p:sp>
        <p:nvSpPr>
          <p:cNvPr id="10" name="">
            <a:extLst xmlns:a="http://schemas.openxmlformats.org/drawingml/2006/main">
              <a:ext uri="{FF2B5EF4-FFF2-40B4-BE49-F238E27FC236}">
                <a16:creationId xmlns:a16="http://schemas.microsoft.com/office/drawing/2014/main" id="{3D1AF2B7-7E5F-4197-80A0-2C3E95F026EB}"/>
              </a:ext>
            </a:extLst>
          </p:cNvPr>
          <p:cNvSpPr>
            <a:spLocks xmlns:a="http://schemas.openxmlformats.org/drawingml/2006/main" noGrp="1"/>
          </p:cNvSpPr>
          <p:nvPr/>
        </p:nvSpPr>
        <p:spPr>
          <a:xfrm xmlns:a="http://schemas.openxmlformats.org/drawingml/2006/main">
            <a:off x="914400" y="2095500"/>
            <a:ext cx="4524375"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Code validates the ticker, advice boundary, analysis window, and source coverage.</a:t>
            </a:r>
          </a:p>
          <a:p xmlns:a="http://schemas.openxmlformats.org/drawingml/2006/main">
            <a:r>
              <a:t/>
            </a:r>
          </a:p>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Code selects the next uncovered task and restricts execution to approved tools.</a:t>
            </a:r>
          </a:p>
          <a:p xmlns:a="http://schemas.openxmlformats.org/drawingml/2006/main">
            <a:r>
              <a:t/>
            </a:r>
          </a:p>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Code calculates ratios and period comparisons from statement values.</a:t>
            </a:r>
          </a:p>
          <a:p xmlns:a="http://schemas.openxmlformats.org/drawingml/2006/main">
            <a:r>
              <a:t/>
            </a:r>
          </a:p>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Code enforces evidence identifiers, citation gates, loop budgets, score thresholds, topic diversity, schema validation, and the final release route.</a:t>
            </a:r>
          </a:p>
        </p:txBody>
      </p:sp>
      <p:sp>
        <p:nvSpPr>
          <p:cNvPr id="11" name="">
            <a:extLst xmlns:a="http://schemas.openxmlformats.org/drawingml/2006/main">
              <a:ext uri="{FF2B5EF4-FFF2-40B4-BE49-F238E27FC236}">
                <a16:creationId xmlns:a16="http://schemas.microsoft.com/office/drawing/2014/main" id="{F49C4788-7806-41F2-9559-DF9A15F55732}"/>
              </a:ext>
            </a:extLst>
          </p:cNvPr>
          <p:cNvSpPr>
            <a:spLocks xmlns:a="http://schemas.openxmlformats.org/drawingml/2006/main" noGrp="1"/>
          </p:cNvSpPr>
          <p:nvPr/>
        </p:nvSpPr>
        <p:spPr>
          <a:xfrm xmlns:a="http://schemas.openxmlformats.org/drawingml/2006/main">
            <a:off x="6619875" y="1571625"/>
            <a:ext cx="4619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875" b="1">
                <a:solidFill>
                  <a:srgbClr val="009B96"/>
                </a:solidFill>
                <a:latin typeface="Arial"/>
                <a:ea typeface="Arial"/>
                <a:cs typeface="Arial"/>
              </a:defRPr>
            </a:pPr>
            <a:r>
              <a:rPr sz="1875" b="1">
                <a:solidFill>
                  <a:srgbClr val="009B96"/>
                </a:solidFill>
                <a:latin typeface="Arial"/>
                <a:ea typeface="Arial"/>
                <a:cs typeface="Arial"/>
              </a:rPr>
              <a:t>Language model</a:t>
            </a:r>
          </a:p>
        </p:txBody>
      </p:sp>
      <p:sp>
        <p:nvSpPr>
          <p:cNvPr id="12" name="">
            <a:extLst xmlns:a="http://schemas.openxmlformats.org/drawingml/2006/main">
              <a:ext uri="{FF2B5EF4-FFF2-40B4-BE49-F238E27FC236}">
                <a16:creationId xmlns:a16="http://schemas.microsoft.com/office/drawing/2014/main" id="{B2FD9371-C5F1-426C-8DE7-C3F9752AE5A6}"/>
              </a:ext>
            </a:extLst>
          </p:cNvPr>
          <p:cNvSpPr>
            <a:spLocks xmlns:a="http://schemas.openxmlformats.org/drawingml/2006/main" noGrp="1"/>
          </p:cNvSpPr>
          <p:nvPr/>
        </p:nvSpPr>
        <p:spPr>
          <a:xfrm xmlns:a="http://schemas.openxmlformats.org/drawingml/2006/main">
            <a:off x="6619875" y="2095500"/>
            <a:ext cx="4524375"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The Planner translates the question into structured evidence tasks.</a:t>
            </a:r>
          </a:p>
          <a:p xmlns:a="http://schemas.openxmlformats.org/drawingml/2006/main">
            <a:r>
              <a:t/>
            </a:r>
          </a:p>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The Researcher extracts a concise claim from a selected passage and must point to the supporting passage.</a:t>
            </a:r>
          </a:p>
          <a:p xmlns:a="http://schemas.openxmlformats.org/drawingml/2006/main">
            <a:r>
              <a:t/>
            </a:r>
          </a:p>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The Thesis Analyst writes alternative, conditional explanations from the collected evidence.</a:t>
            </a:r>
          </a:p>
          <a:p xmlns:a="http://schemas.openxmlformats.org/drawingml/2006/main">
            <a:r>
              <a:t/>
            </a:r>
          </a:p>
          <a:p xmlns:a="http://schemas.openxmlformats.org/drawingml/2006/main">
            <a:pPr algn="l">
              <a:lnSpc>
                <a:spcPct val="105000"/>
              </a:lnSpc>
              <a:buNone/>
              <a:defRPr sz="1388" b="0">
                <a:solidFill>
                  <a:srgbClr val="17324D"/>
                </a:solidFill>
                <a:latin typeface="Arial"/>
                <a:ea typeface="Arial"/>
                <a:cs typeface="Arial"/>
              </a:defRPr>
            </a:pPr>
            <a:r>
              <a:rPr sz="1388" b="0">
                <a:solidFill>
                  <a:srgbClr val="17324D"/>
                </a:solidFill>
                <a:latin typeface="Arial"/>
                <a:ea typeface="Arial"/>
                <a:cs typeface="Arial"/>
              </a:rPr>
              <a:t>The Critic evaluates semantic support and robustness. A model may also polish the report's confidence rationale, but it cannot create citation objects or change the release route.</a:t>
            </a:r>
          </a:p>
        </p:txBody>
      </p:sp>
    </p:spTree>
    <p:extLst>
      <p:ext uri="{BB962C8B-B14F-4D97-AF65-F5344CB8AC3E}">
        <p14:creationId xmlns:p14="http://schemas.microsoft.com/office/powerpoint/2010/main" val="1659970823"/>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0254119-D1BA-413A-B462-D8A0C71ECC9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511E7DE8-C75B-4715-9FB9-9E41BD434C0D}"/>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Retrieval-augmented generation and stored records</a:t>
            </a:r>
          </a:p>
        </p:txBody>
      </p:sp>
      <p:sp>
        <p:nvSpPr>
          <p:cNvPr id="3" name="">
            <a:extLst xmlns:a="http://schemas.openxmlformats.org/drawingml/2006/main">
              <a:ext uri="{FF2B5EF4-FFF2-40B4-BE49-F238E27FC236}">
                <a16:creationId xmlns:a16="http://schemas.microsoft.com/office/drawing/2014/main" id="{F05D562F-9E0D-4C24-AB68-6D57DA93FCD3}"/>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RAG turns long source documents into filtered, citation-preserving evidence for the current question.</a:t>
            </a:r>
          </a:p>
        </p:txBody>
      </p:sp>
      <p:sp>
        <p:nvSpPr>
          <p:cNvPr id="4" name="">
            <a:extLst xmlns:a="http://schemas.openxmlformats.org/drawingml/2006/main">
              <a:ext uri="{FF2B5EF4-FFF2-40B4-BE49-F238E27FC236}">
                <a16:creationId xmlns:a16="http://schemas.microsoft.com/office/drawing/2014/main" id="{D6604395-997F-437A-8888-FE521013E131}"/>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3F1F7477-FFD6-4409-9217-9D4FC36D9D07}"/>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D493CC14-BFB2-443C-BBDA-F7005098C5FB}"/>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246AB614-D559-4F19-B1FC-A08305D81765}"/>
              </a:ext>
            </a:extLst>
          </p:cNvPr>
          <p:cNvSpPr>
            <a:spLocks xmlns:a="http://schemas.openxmlformats.org/drawingml/2006/main" noGrp="1"/>
          </p:cNvSpPr>
          <p:nvPr/>
        </p:nvSpPr>
        <p:spPr>
          <a:xfrm xmlns:a="http://schemas.openxmlformats.org/drawingml/2006/main">
            <a:off x="523875" y="1381125"/>
            <a:ext cx="1981200" cy="1123950"/>
          </a:xfrm>
          <a:prstGeom xmlns:a="http://schemas.openxmlformats.org/drawingml/2006/main" prst="roundRect">
            <a:avLst>
              <a:gd name="adj" fmla="val 11864"/>
            </a:avLst>
          </a:prstGeom>
          <a:solidFill xmlns:a="http://schemas.openxmlformats.org/drawingml/2006/main">
            <a:srgbClr val="2F8B5B"/>
          </a:solidFill>
          <a:ln xmlns:a="http://schemas.openxmlformats.org/drawingml/2006/main" w="0">
            <a:solidFill>
              <a:srgbClr val="2F8B5B"/>
            </a:solidFill>
            <a:prstDash val="solid"/>
          </a:ln>
        </p:spPr>
      </p:sp>
      <p:sp>
        <p:nvSpPr>
          <p:cNvPr id="8" name="">
            <a:extLst xmlns:a="http://schemas.openxmlformats.org/drawingml/2006/main">
              <a:ext uri="{FF2B5EF4-FFF2-40B4-BE49-F238E27FC236}">
                <a16:creationId xmlns:a16="http://schemas.microsoft.com/office/drawing/2014/main" id="{3EE2F611-1E3A-41FC-B9FB-3BC35AC97C57}"/>
              </a:ext>
            </a:extLst>
          </p:cNvPr>
          <p:cNvSpPr>
            <a:spLocks xmlns:a="http://schemas.openxmlformats.org/drawingml/2006/main" noGrp="1"/>
          </p:cNvSpPr>
          <p:nvPr/>
        </p:nvSpPr>
        <p:spPr>
          <a:xfrm xmlns:a="http://schemas.openxmlformats.org/drawingml/2006/main">
            <a:off x="647700" y="1495425"/>
            <a:ext cx="1733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  Source</a:t>
            </a:r>
          </a:p>
        </p:txBody>
      </p:sp>
      <p:sp>
        <p:nvSpPr>
          <p:cNvPr id="9" name="">
            <a:extLst xmlns:a="http://schemas.openxmlformats.org/drawingml/2006/main">
              <a:ext uri="{FF2B5EF4-FFF2-40B4-BE49-F238E27FC236}">
                <a16:creationId xmlns:a16="http://schemas.microsoft.com/office/drawing/2014/main" id="{92AE5A7B-BD77-4E20-853B-71AD4779FADF}"/>
              </a:ext>
            </a:extLst>
          </p:cNvPr>
          <p:cNvSpPr>
            <a:spLocks xmlns:a="http://schemas.openxmlformats.org/drawingml/2006/main" noGrp="1"/>
          </p:cNvSpPr>
          <p:nvPr/>
        </p:nvSpPr>
        <p:spPr>
          <a:xfrm xmlns:a="http://schemas.openxmlformats.org/drawingml/2006/main">
            <a:off x="676275" y="1790700"/>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Filings and earnings call transcripts</a:t>
            </a:r>
          </a:p>
        </p:txBody>
      </p:sp>
      <p:sp>
        <p:nvSpPr>
          <p:cNvPr id="10" name="">
            <a:extLst xmlns:a="http://schemas.openxmlformats.org/drawingml/2006/main">
              <a:ext uri="{FF2B5EF4-FFF2-40B4-BE49-F238E27FC236}">
                <a16:creationId xmlns:a16="http://schemas.microsoft.com/office/drawing/2014/main" id="{5FFEAE44-9B20-4F1E-A68C-53E9F587C98E}"/>
              </a:ext>
            </a:extLst>
          </p:cNvPr>
          <p:cNvSpPr>
            <a:spLocks xmlns:a="http://schemas.openxmlformats.org/drawingml/2006/main" noGrp="1"/>
          </p:cNvSpPr>
          <p:nvPr/>
        </p:nvSpPr>
        <p:spPr>
          <a:xfrm xmlns:a="http://schemas.openxmlformats.org/drawingml/2006/main">
            <a:off x="2867025" y="1381125"/>
            <a:ext cx="1981200" cy="1123950"/>
          </a:xfrm>
          <a:prstGeom xmlns:a="http://schemas.openxmlformats.org/drawingml/2006/main" prst="roundRect">
            <a:avLst>
              <a:gd name="adj" fmla="val 11864"/>
            </a:avLst>
          </a:prstGeom>
          <a:solidFill xmlns:a="http://schemas.openxmlformats.org/drawingml/2006/main">
            <a:srgbClr val="3976B9"/>
          </a:solidFill>
          <a:ln xmlns:a="http://schemas.openxmlformats.org/drawingml/2006/main" w="0">
            <a:solidFill>
              <a:srgbClr val="3976B9"/>
            </a:solidFill>
            <a:prstDash val="solid"/>
          </a:ln>
        </p:spPr>
      </p:sp>
      <p:sp>
        <p:nvSpPr>
          <p:cNvPr id="11" name="">
            <a:extLst xmlns:a="http://schemas.openxmlformats.org/drawingml/2006/main">
              <a:ext uri="{FF2B5EF4-FFF2-40B4-BE49-F238E27FC236}">
                <a16:creationId xmlns:a16="http://schemas.microsoft.com/office/drawing/2014/main" id="{74473445-DD1F-410C-8CDD-F52601265940}"/>
              </a:ext>
            </a:extLst>
          </p:cNvPr>
          <p:cNvSpPr>
            <a:spLocks xmlns:a="http://schemas.openxmlformats.org/drawingml/2006/main" noGrp="1"/>
          </p:cNvSpPr>
          <p:nvPr/>
        </p:nvSpPr>
        <p:spPr>
          <a:xfrm xmlns:a="http://schemas.openxmlformats.org/drawingml/2006/main">
            <a:off x="2990850" y="1495425"/>
            <a:ext cx="1733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2  Prepare</a:t>
            </a:r>
          </a:p>
        </p:txBody>
      </p:sp>
      <p:sp>
        <p:nvSpPr>
          <p:cNvPr id="12" name="">
            <a:extLst xmlns:a="http://schemas.openxmlformats.org/drawingml/2006/main">
              <a:ext uri="{FF2B5EF4-FFF2-40B4-BE49-F238E27FC236}">
                <a16:creationId xmlns:a16="http://schemas.microsoft.com/office/drawing/2014/main" id="{95BE3A13-1292-44F6-9151-FEA858795799}"/>
              </a:ext>
            </a:extLst>
          </p:cNvPr>
          <p:cNvSpPr>
            <a:spLocks xmlns:a="http://schemas.openxmlformats.org/drawingml/2006/main" noGrp="1"/>
          </p:cNvSpPr>
          <p:nvPr/>
        </p:nvSpPr>
        <p:spPr>
          <a:xfrm xmlns:a="http://schemas.openxmlformats.org/drawingml/2006/main">
            <a:off x="3019425" y="1790700"/>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Clean text and split it into passages</a:t>
            </a:r>
          </a:p>
        </p:txBody>
      </p:sp>
      <p:sp>
        <p:nvSpPr>
          <p:cNvPr id="13" name="">
            <a:extLst xmlns:a="http://schemas.openxmlformats.org/drawingml/2006/main">
              <a:ext uri="{FF2B5EF4-FFF2-40B4-BE49-F238E27FC236}">
                <a16:creationId xmlns:a16="http://schemas.microsoft.com/office/drawing/2014/main" id="{DE3B0FC5-BAAD-4AB1-8C3B-4291C6D92D00}"/>
              </a:ext>
            </a:extLst>
          </p:cNvPr>
          <p:cNvSpPr>
            <a:spLocks xmlns:a="http://schemas.openxmlformats.org/drawingml/2006/main" noGrp="1"/>
          </p:cNvSpPr>
          <p:nvPr/>
        </p:nvSpPr>
        <p:spPr>
          <a:xfrm xmlns:a="http://schemas.openxmlformats.org/drawingml/2006/main">
            <a:off x="5210175" y="1381125"/>
            <a:ext cx="1981200" cy="1123950"/>
          </a:xfrm>
          <a:prstGeom xmlns:a="http://schemas.openxmlformats.org/drawingml/2006/main" prst="roundRect">
            <a:avLst>
              <a:gd name="adj" fmla="val 11864"/>
            </a:avLst>
          </a:prstGeom>
          <a:solidFill xmlns:a="http://schemas.openxmlformats.org/drawingml/2006/main">
            <a:srgbClr val="009B96"/>
          </a:solidFill>
          <a:ln xmlns:a="http://schemas.openxmlformats.org/drawingml/2006/main" w="0">
            <a:solidFill>
              <a:srgbClr val="009B96"/>
            </a:solidFill>
            <a:prstDash val="solid"/>
          </a:ln>
        </p:spPr>
      </p:sp>
      <p:sp>
        <p:nvSpPr>
          <p:cNvPr id="14" name="">
            <a:extLst xmlns:a="http://schemas.openxmlformats.org/drawingml/2006/main">
              <a:ext uri="{FF2B5EF4-FFF2-40B4-BE49-F238E27FC236}">
                <a16:creationId xmlns:a16="http://schemas.microsoft.com/office/drawing/2014/main" id="{568A7CD3-6F84-45C4-8810-A5BA44528CB2}"/>
              </a:ext>
            </a:extLst>
          </p:cNvPr>
          <p:cNvSpPr>
            <a:spLocks xmlns:a="http://schemas.openxmlformats.org/drawingml/2006/main" noGrp="1"/>
          </p:cNvSpPr>
          <p:nvPr/>
        </p:nvSpPr>
        <p:spPr>
          <a:xfrm xmlns:a="http://schemas.openxmlformats.org/drawingml/2006/main">
            <a:off x="5334000" y="1495425"/>
            <a:ext cx="1733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3  Store</a:t>
            </a:r>
          </a:p>
        </p:txBody>
      </p:sp>
      <p:sp>
        <p:nvSpPr>
          <p:cNvPr id="15" name="">
            <a:extLst xmlns:a="http://schemas.openxmlformats.org/drawingml/2006/main">
              <a:ext uri="{FF2B5EF4-FFF2-40B4-BE49-F238E27FC236}">
                <a16:creationId xmlns:a16="http://schemas.microsoft.com/office/drawing/2014/main" id="{E9C5A507-2EF4-4715-8194-FB320D9A66B6}"/>
              </a:ext>
            </a:extLst>
          </p:cNvPr>
          <p:cNvSpPr>
            <a:spLocks xmlns:a="http://schemas.openxmlformats.org/drawingml/2006/main" noGrp="1"/>
          </p:cNvSpPr>
          <p:nvPr/>
        </p:nvSpPr>
        <p:spPr>
          <a:xfrm xmlns:a="http://schemas.openxmlformats.org/drawingml/2006/main">
            <a:off x="5362575" y="1790700"/>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Save passage, metadata, and embedding</a:t>
            </a:r>
          </a:p>
        </p:txBody>
      </p:sp>
      <p:sp>
        <p:nvSpPr>
          <p:cNvPr id="16" name="">
            <a:extLst xmlns:a="http://schemas.openxmlformats.org/drawingml/2006/main">
              <a:ext uri="{FF2B5EF4-FFF2-40B4-BE49-F238E27FC236}">
                <a16:creationId xmlns:a16="http://schemas.microsoft.com/office/drawing/2014/main" id="{12F58B70-FFA2-496E-83F2-D8BFB763842D}"/>
              </a:ext>
            </a:extLst>
          </p:cNvPr>
          <p:cNvSpPr>
            <a:spLocks xmlns:a="http://schemas.openxmlformats.org/drawingml/2006/main" noGrp="1"/>
          </p:cNvSpPr>
          <p:nvPr/>
        </p:nvSpPr>
        <p:spPr>
          <a:xfrm xmlns:a="http://schemas.openxmlformats.org/drawingml/2006/main">
            <a:off x="7553325" y="1381125"/>
            <a:ext cx="1981200" cy="1123950"/>
          </a:xfrm>
          <a:prstGeom xmlns:a="http://schemas.openxmlformats.org/drawingml/2006/main" prst="roundRect">
            <a:avLst>
              <a:gd name="adj" fmla="val 11864"/>
            </a:avLst>
          </a:prstGeom>
          <a:solidFill xmlns:a="http://schemas.openxmlformats.org/drawingml/2006/main">
            <a:srgbClr val="D28A1D"/>
          </a:solidFill>
          <a:ln xmlns:a="http://schemas.openxmlformats.org/drawingml/2006/main" w="0">
            <a:solidFill>
              <a:srgbClr val="D28A1D"/>
            </a:solidFill>
            <a:prstDash val="solid"/>
          </a:ln>
        </p:spPr>
      </p:sp>
      <p:sp>
        <p:nvSpPr>
          <p:cNvPr id="17" name="">
            <a:extLst xmlns:a="http://schemas.openxmlformats.org/drawingml/2006/main">
              <a:ext uri="{FF2B5EF4-FFF2-40B4-BE49-F238E27FC236}">
                <a16:creationId xmlns:a16="http://schemas.microsoft.com/office/drawing/2014/main" id="{E7D14C99-98DB-443E-80DB-19ABE6BE10C2}"/>
              </a:ext>
            </a:extLst>
          </p:cNvPr>
          <p:cNvSpPr>
            <a:spLocks xmlns:a="http://schemas.openxmlformats.org/drawingml/2006/main" noGrp="1"/>
          </p:cNvSpPr>
          <p:nvPr/>
        </p:nvSpPr>
        <p:spPr>
          <a:xfrm xmlns:a="http://schemas.openxmlformats.org/drawingml/2006/main">
            <a:off x="7677150" y="1495425"/>
            <a:ext cx="1733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4  Retrieve</a:t>
            </a:r>
          </a:p>
        </p:txBody>
      </p:sp>
      <p:sp>
        <p:nvSpPr>
          <p:cNvPr id="18" name="">
            <a:extLst xmlns:a="http://schemas.openxmlformats.org/drawingml/2006/main">
              <a:ext uri="{FF2B5EF4-FFF2-40B4-BE49-F238E27FC236}">
                <a16:creationId xmlns:a16="http://schemas.microsoft.com/office/drawing/2014/main" id="{6CA01A61-F05C-4D62-BB8F-5D83DB18871E}"/>
              </a:ext>
            </a:extLst>
          </p:cNvPr>
          <p:cNvSpPr>
            <a:spLocks xmlns:a="http://schemas.openxmlformats.org/drawingml/2006/main" noGrp="1"/>
          </p:cNvSpPr>
          <p:nvPr/>
        </p:nvSpPr>
        <p:spPr>
          <a:xfrm xmlns:a="http://schemas.openxmlformats.org/drawingml/2006/main">
            <a:off x="7705725" y="1790700"/>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Filter by company, type, and period</a:t>
            </a:r>
          </a:p>
        </p:txBody>
      </p:sp>
      <p:sp>
        <p:nvSpPr>
          <p:cNvPr id="19" name="">
            <a:extLst xmlns:a="http://schemas.openxmlformats.org/drawingml/2006/main">
              <a:ext uri="{FF2B5EF4-FFF2-40B4-BE49-F238E27FC236}">
                <a16:creationId xmlns:a16="http://schemas.microsoft.com/office/drawing/2014/main" id="{C2C59895-9A98-4BC5-85B5-3C4F8E3E5AAF}"/>
              </a:ext>
            </a:extLst>
          </p:cNvPr>
          <p:cNvSpPr>
            <a:spLocks xmlns:a="http://schemas.openxmlformats.org/drawingml/2006/main" noGrp="1"/>
          </p:cNvSpPr>
          <p:nvPr/>
        </p:nvSpPr>
        <p:spPr>
          <a:xfrm xmlns:a="http://schemas.openxmlformats.org/drawingml/2006/main">
            <a:off x="9896475" y="1381125"/>
            <a:ext cx="1981200" cy="1123950"/>
          </a:xfrm>
          <a:prstGeom xmlns:a="http://schemas.openxmlformats.org/drawingml/2006/main" prst="roundRect">
            <a:avLst>
              <a:gd name="adj" fmla="val 11864"/>
            </a:avLst>
          </a:prstGeom>
          <a:solidFill xmlns:a="http://schemas.openxmlformats.org/drawingml/2006/main">
            <a:srgbClr val="103A5C"/>
          </a:solidFill>
          <a:ln xmlns:a="http://schemas.openxmlformats.org/drawingml/2006/main" w="0">
            <a:solidFill>
              <a:srgbClr val="103A5C"/>
            </a:solidFill>
            <a:prstDash val="solid"/>
          </a:ln>
        </p:spPr>
      </p:sp>
      <p:sp>
        <p:nvSpPr>
          <p:cNvPr id="20" name="">
            <a:extLst xmlns:a="http://schemas.openxmlformats.org/drawingml/2006/main">
              <a:ext uri="{FF2B5EF4-FFF2-40B4-BE49-F238E27FC236}">
                <a16:creationId xmlns:a16="http://schemas.microsoft.com/office/drawing/2014/main" id="{924704B5-A609-4567-97EB-CA9B217CE60F}"/>
              </a:ext>
            </a:extLst>
          </p:cNvPr>
          <p:cNvSpPr>
            <a:spLocks xmlns:a="http://schemas.openxmlformats.org/drawingml/2006/main" noGrp="1"/>
          </p:cNvSpPr>
          <p:nvPr/>
        </p:nvSpPr>
        <p:spPr>
          <a:xfrm xmlns:a="http://schemas.openxmlformats.org/drawingml/2006/main">
            <a:off x="10020300" y="1495425"/>
            <a:ext cx="1733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5  Cite</a:t>
            </a:r>
          </a:p>
        </p:txBody>
      </p:sp>
      <p:sp>
        <p:nvSpPr>
          <p:cNvPr id="21" name="">
            <a:extLst xmlns:a="http://schemas.openxmlformats.org/drawingml/2006/main">
              <a:ext uri="{FF2B5EF4-FFF2-40B4-BE49-F238E27FC236}">
                <a16:creationId xmlns:a16="http://schemas.microsoft.com/office/drawing/2014/main" id="{E1CB2EFF-8661-4A45-AC27-0EA1ABADC05D}"/>
              </a:ext>
            </a:extLst>
          </p:cNvPr>
          <p:cNvSpPr>
            <a:spLocks xmlns:a="http://schemas.openxmlformats.org/drawingml/2006/main" noGrp="1"/>
          </p:cNvSpPr>
          <p:nvPr/>
        </p:nvSpPr>
        <p:spPr>
          <a:xfrm xmlns:a="http://schemas.openxmlformats.org/drawingml/2006/main">
            <a:off x="10048875" y="1790700"/>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Return the selected passage with its source</a:t>
            </a:r>
          </a:p>
        </p:txBody>
      </p:sp>
      <p:cxnSp>
        <p:nvCxnSpPr>
          <p:cNvPr id="77" name=""/>
          <p:cNvCxnSpPr>
            <a:stCxn xmlns:a="http://schemas.openxmlformats.org/drawingml/2006/main" id="7" idx="3"/>
            <a:endCxn xmlns:a="http://schemas.openxmlformats.org/drawingml/2006/main" id="10" idx="1"/>
          </p:cNvCxnSpPr>
          <p:nvPr/>
        </p:nvCxnSpPr>
        <p:spPr>
          <a:xfrm xmlns:a="http://schemas.openxmlformats.org/drawingml/2006/main">
            <a:off x="2505075" y="1943100"/>
            <a:ext cx="3619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78" name=""/>
          <p:cNvCxnSpPr>
            <a:stCxn xmlns:a="http://schemas.openxmlformats.org/drawingml/2006/main" id="10" idx="3"/>
            <a:endCxn xmlns:a="http://schemas.openxmlformats.org/drawingml/2006/main" id="13" idx="1"/>
          </p:cNvCxnSpPr>
          <p:nvPr/>
        </p:nvCxnSpPr>
        <p:spPr>
          <a:xfrm xmlns:a="http://schemas.openxmlformats.org/drawingml/2006/main">
            <a:off x="4848225" y="1943100"/>
            <a:ext cx="3619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79" name=""/>
          <p:cNvCxnSpPr>
            <a:stCxn xmlns:a="http://schemas.openxmlformats.org/drawingml/2006/main" id="13" idx="3"/>
            <a:endCxn xmlns:a="http://schemas.openxmlformats.org/drawingml/2006/main" id="16" idx="1"/>
          </p:cNvCxnSpPr>
          <p:nvPr/>
        </p:nvCxnSpPr>
        <p:spPr>
          <a:xfrm xmlns:a="http://schemas.openxmlformats.org/drawingml/2006/main">
            <a:off x="7191375" y="1943100"/>
            <a:ext cx="3619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cxnSp>
        <p:nvCxnSpPr>
          <p:cNvPr id="80" name=""/>
          <p:cNvCxnSpPr>
            <a:stCxn xmlns:a="http://schemas.openxmlformats.org/drawingml/2006/main" id="16" idx="3"/>
            <a:endCxn xmlns:a="http://schemas.openxmlformats.org/drawingml/2006/main" id="19" idx="1"/>
          </p:cNvCxnSpPr>
          <p:nvPr/>
        </p:nvCxnSpPr>
        <p:spPr>
          <a:xfrm xmlns:a="http://schemas.openxmlformats.org/drawingml/2006/main">
            <a:off x="9534525" y="1943100"/>
            <a:ext cx="361950" cy="0"/>
          </a:xfrm>
          <a:prstGeom xmlns:a="http://schemas.openxmlformats.org/drawingml/2006/main" prst="straightConnector1">
            <a:avLst/>
          </a:prstGeom>
          <a:ln xmlns:a="http://schemas.openxmlformats.org/drawingml/2006/main" w="19050">
            <a:solidFill>
              <a:srgbClr val="5E748A"/>
            </a:solidFill>
            <a:prstDash val="solid"/>
            <a:tailEnd type="triangle" w="sm" len="sm"/>
          </a:ln>
        </p:spPr>
      </p:cxnSp>
      <p:sp>
        <p:nvSpPr>
          <p:cNvPr id="26" name="">
            <a:extLst xmlns:a="http://schemas.openxmlformats.org/drawingml/2006/main">
              <a:ext uri="{FF2B5EF4-FFF2-40B4-BE49-F238E27FC236}">
                <a16:creationId xmlns:a16="http://schemas.microsoft.com/office/drawing/2014/main" id="{F37C68C1-0C13-4E1E-BB5E-316DC7F535BB}"/>
              </a:ext>
            </a:extLst>
          </p:cNvPr>
          <p:cNvSpPr>
            <a:spLocks xmlns:a="http://schemas.openxmlformats.org/drawingml/2006/main" noGrp="1"/>
          </p:cNvSpPr>
          <p:nvPr/>
        </p:nvSpPr>
        <p:spPr>
          <a:xfrm xmlns:a="http://schemas.openxmlformats.org/drawingml/2006/main">
            <a:off x="666750" y="27813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425" b="1">
                <a:solidFill>
                  <a:srgbClr val="103A5C"/>
                </a:solidFill>
                <a:latin typeface="Arial"/>
                <a:ea typeface="Arial"/>
                <a:cs typeface="Arial"/>
              </a:defRPr>
            </a:pPr>
            <a:r>
              <a:rPr sz="1425" b="1">
                <a:solidFill>
                  <a:srgbClr val="103A5C"/>
                </a:solidFill>
                <a:latin typeface="Arial"/>
                <a:ea typeface="Arial"/>
                <a:cs typeface="Arial"/>
              </a:rPr>
              <a:t>Representative record from the local NVDA Chroma collection</a:t>
            </a:r>
          </a:p>
        </p:txBody>
      </p:sp>
      <p:sp>
        <p:nvSpPr>
          <p:cNvPr id="27" name="">
            <a:extLst xmlns:a="http://schemas.openxmlformats.org/drawingml/2006/main">
              <a:ext uri="{FF2B5EF4-FFF2-40B4-BE49-F238E27FC236}">
                <a16:creationId xmlns:a16="http://schemas.microsoft.com/office/drawing/2014/main" id="{2B3AD2EF-49F5-4060-8760-7A86C8EC4F3F}"/>
              </a:ext>
            </a:extLst>
          </p:cNvPr>
          <p:cNvSpPr>
            <a:spLocks xmlns:a="http://schemas.openxmlformats.org/drawingml/2006/main" noGrp="1"/>
          </p:cNvSpPr>
          <p:nvPr/>
        </p:nvSpPr>
        <p:spPr>
          <a:xfrm xmlns:a="http://schemas.openxmlformats.org/drawingml/2006/main">
            <a:off x="666750" y="3057525"/>
            <a:ext cx="857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5E748A"/>
                </a:solidFill>
                <a:latin typeface="Arial"/>
                <a:ea typeface="Arial"/>
                <a:cs typeface="Arial"/>
              </a:defRPr>
            </a:pPr>
            <a:r>
              <a:rPr sz="1088" b="0">
                <a:solidFill>
                  <a:srgbClr val="5E748A"/>
                </a:solidFill>
                <a:latin typeface="Arial"/>
                <a:ea typeface="Arial"/>
                <a:cs typeface="Arial"/>
              </a:rPr>
              <a:t>The table shows the logical record exposed through LangChain. Chroma manages its physical index internally.</a:t>
            </a:r>
          </a:p>
        </p:txBody>
      </p:sp>
      <p:graphicFrame>
        <p:nvGraphicFramePr>
          <p:cNvPr id="83" name=""/>
          <p:cNvGraphicFramePr/>
          <p:nvPr/>
        </p:nvGraphicFramePr>
        <p:xfrm>
          <a:off xmlns:a="http://schemas.openxmlformats.org/drawingml/2006/main" x="666750" y="3362325"/>
          <a:ext xmlns:a="http://schemas.openxmlformats.org/drawingml/2006/main" cx="10858500" cy="2552700"/>
        </p:xfrm>
        <a:graphic xmlns:a="http://schemas.openxmlformats.org/drawingml/2006/main">
          <a:graphicData uri="http://schemas.openxmlformats.org/drawingml/2006/table">
            <a:tbl>
              <a:tblPr/>
              <a:tblGrid>
                <a:gridCol w="2333625"/>
                <a:gridCol w="8524875"/>
              </a:tblGrid>
              <a:tr h="266700">
                <a:tc>
                  <a:txBody>
                    <a:bodyPr/>
                    <a:lstStyle/>
                    <a:p>
                      <a:r>
                        <a:rPr sz="1050" b="1">
                          <a:solidFill>
                            <a:srgbClr val="FFFFFF"/>
                          </a:solidFill>
                          <a:latin typeface="Arial"/>
                          <a:ea typeface="Arial"/>
                          <a:cs typeface="Arial"/>
                        </a:rPr>
                        <a:t>Stored field</a:t>
                      </a:r>
                    </a:p>
                  </a:txBody>
                  <a:tcPr marL="76200" marR="76200" marT="47625" marB="47625" anchor="ctr">
                    <a:solidFill>
                      <a:srgbClr val="103A5C"/>
                    </a:solidFill>
                  </a:tcPr>
                </a:tc>
                <a:tc>
                  <a:txBody>
                    <a:bodyPr/>
                    <a:lstStyle/>
                    <a:p>
                      <a:r>
                        <a:rPr sz="1050" b="1">
                          <a:solidFill>
                            <a:srgbClr val="FFFFFF"/>
                          </a:solidFill>
                          <a:latin typeface="Arial"/>
                          <a:ea typeface="Arial"/>
                          <a:cs typeface="Arial"/>
                        </a:rPr>
                        <a:t>Representative stored value</a:t>
                      </a:r>
                    </a:p>
                  </a:txBody>
                  <a:tcPr marL="76200" marR="76200" marT="47625" marB="47625" anchor="ctr">
                    <a:solidFill>
                      <a:srgbClr val="103A5C"/>
                    </a:solidFill>
                  </a:tcPr>
                </a:tc>
              </a:tr>
              <a:tr h="247650">
                <a:tc>
                  <a:txBody>
                    <a:bodyPr/>
                    <a:lstStyle/>
                    <a:p>
                      <a:r>
                        <a:rPr sz="1013" b="1">
                          <a:solidFill>
                            <a:srgbClr val="103A5C"/>
                          </a:solidFill>
                          <a:latin typeface="Arial"/>
                          <a:ea typeface="Arial"/>
                          <a:cs typeface="Arial"/>
                        </a:rPr>
                        <a:t>record_id</a:t>
                      </a:r>
                    </a:p>
                  </a:txBody>
                  <a:tcPr marL="76200" marR="76200" marT="47625" marB="47625" anchor="ctr">
                    <a:solidFill>
                      <a:srgbClr val="EAF3FB"/>
                    </a:solidFill>
                  </a:tcPr>
                </a:tc>
                <a:tc>
                  <a:txBody>
                    <a:bodyPr/>
                    <a:lstStyle/>
                    <a:p>
                      <a:r>
                        <a:rPr sz="1013">
                          <a:solidFill>
                            <a:srgbClr val="17324D"/>
                          </a:solidFill>
                          <a:latin typeface="Arial"/>
                          <a:ea typeface="Arial"/>
                          <a:cs typeface="Arial"/>
                        </a:rPr>
                        <a:t>0fc47d6d...c6a50a</a:t>
                      </a:r>
                    </a:p>
                  </a:txBody>
                  <a:tcPr marL="76200" marR="76200" marT="47625" marB="47625" anchor="ctr">
                    <a:solidFill>
                      <a:srgbClr val="FFFFFF"/>
                    </a:solidFill>
                  </a:tcPr>
                </a:tc>
              </a:tr>
              <a:tr h="438150">
                <a:tc>
                  <a:txBody>
                    <a:bodyPr/>
                    <a:lstStyle/>
                    <a:p>
                      <a:r>
                        <a:rPr sz="1013" b="1">
                          <a:solidFill>
                            <a:srgbClr val="103A5C"/>
                          </a:solidFill>
                          <a:latin typeface="Arial"/>
                          <a:ea typeface="Arial"/>
                          <a:cs typeface="Arial"/>
                        </a:rPr>
                        <a:t>passage_text</a:t>
                      </a:r>
                    </a:p>
                  </a:txBody>
                  <a:tcPr marL="76200" marR="76200" marT="47625" marB="47625" anchor="ctr">
                    <a:solidFill>
                      <a:srgbClr val="EAF3FB"/>
                    </a:solidFill>
                  </a:tcPr>
                </a:tc>
                <a:tc>
                  <a:txBody>
                    <a:bodyPr/>
                    <a:lstStyle/>
                    <a:p>
                      <a:r>
                        <a:rPr sz="1013">
                          <a:solidFill>
                            <a:srgbClr val="17324D"/>
                          </a:solidFill>
                          <a:latin typeface="Arial"/>
                          <a:ea typeface="Arial"/>
                          <a:cs typeface="Arial"/>
                        </a:rPr>
                        <a:t>Hyperscale revenue of $49 billion grew 13% sequentially, driven by sustained strength in Blackwell.</a:t>
                      </a:r>
                    </a:p>
                  </a:txBody>
                  <a:tcPr marL="76200" marR="76200" marT="47625" marB="47625" anchor="ctr">
                    <a:solidFill>
                      <a:srgbClr val="FFFFFF"/>
                    </a:solidFill>
                  </a:tcPr>
                </a:tc>
              </a:tr>
              <a:tr h="304800">
                <a:tc>
                  <a:txBody>
                    <a:bodyPr/>
                    <a:lstStyle/>
                    <a:p>
                      <a:r>
                        <a:rPr sz="1013" b="1">
                          <a:solidFill>
                            <a:srgbClr val="103A5C"/>
                          </a:solidFill>
                          <a:latin typeface="Arial"/>
                          <a:ea typeface="Arial"/>
                          <a:cs typeface="Arial"/>
                        </a:rPr>
                        <a:t>company and period</a:t>
                      </a:r>
                    </a:p>
                  </a:txBody>
                  <a:tcPr marL="76200" marR="76200" marT="47625" marB="47625" anchor="ctr">
                    <a:solidFill>
                      <a:srgbClr val="EAF3FB"/>
                    </a:solidFill>
                  </a:tcPr>
                </a:tc>
                <a:tc>
                  <a:txBody>
                    <a:bodyPr/>
                    <a:lstStyle/>
                    <a:p>
                      <a:r>
                        <a:rPr sz="1013">
                          <a:solidFill>
                            <a:srgbClr val="17324D"/>
                          </a:solidFill>
                          <a:latin typeface="Arial"/>
                          <a:ea typeface="Arial"/>
                          <a:cs typeface="Arial"/>
                        </a:rPr>
                        <a:t>NVDA; period=Q2-2027; transcript_period=Q2-2027</a:t>
                      </a:r>
                    </a:p>
                  </a:txBody>
                  <a:tcPr marL="76200" marR="76200" marT="47625" marB="47625" anchor="ctr">
                    <a:solidFill>
                      <a:srgbClr val="FFFFFF"/>
                    </a:solidFill>
                  </a:tcPr>
                </a:tc>
              </a:tr>
              <a:tr h="266700">
                <a:tc>
                  <a:txBody>
                    <a:bodyPr/>
                    <a:lstStyle/>
                    <a:p>
                      <a:r>
                        <a:rPr sz="1013" b="1">
                          <a:solidFill>
                            <a:srgbClr val="103A5C"/>
                          </a:solidFill>
                          <a:latin typeface="Arial"/>
                          <a:ea typeface="Arial"/>
                          <a:cs typeface="Arial"/>
                        </a:rPr>
                        <a:t>document_type</a:t>
                      </a:r>
                    </a:p>
                  </a:txBody>
                  <a:tcPr marL="76200" marR="76200" marT="47625" marB="47625" anchor="ctr">
                    <a:solidFill>
                      <a:srgbClr val="EAF3FB"/>
                    </a:solidFill>
                  </a:tcPr>
                </a:tc>
                <a:tc>
                  <a:txBody>
                    <a:bodyPr/>
                    <a:lstStyle/>
                    <a:p>
                      <a:r>
                        <a:rPr sz="1013">
                          <a:solidFill>
                            <a:srgbClr val="17324D"/>
                          </a:solidFill>
                          <a:latin typeface="Arial"/>
                          <a:ea typeface="Arial"/>
                          <a:cs typeface="Arial"/>
                        </a:rPr>
                        <a:t>earnings_call_transcript</a:t>
                      </a:r>
                    </a:p>
                  </a:txBody>
                  <a:tcPr marL="76200" marR="76200" marT="47625" marB="47625" anchor="ctr">
                    <a:solidFill>
                      <a:srgbClr val="FFFFFF"/>
                    </a:solidFill>
                  </a:tcPr>
                </a:tc>
              </a:tr>
              <a:tr h="304800">
                <a:tc>
                  <a:txBody>
                    <a:bodyPr/>
                    <a:lstStyle/>
                    <a:p>
                      <a:r>
                        <a:rPr sz="1013" b="1">
                          <a:solidFill>
                            <a:srgbClr val="103A5C"/>
                          </a:solidFill>
                          <a:latin typeface="Arial"/>
                          <a:ea typeface="Arial"/>
                          <a:cs typeface="Arial"/>
                        </a:rPr>
                        <a:t>section and chunk</a:t>
                      </a:r>
                    </a:p>
                  </a:txBody>
                  <a:tcPr marL="76200" marR="76200" marT="47625" marB="47625" anchor="ctr">
                    <a:solidFill>
                      <a:srgbClr val="EAF3FB"/>
                    </a:solidFill>
                  </a:tcPr>
                </a:tc>
                <a:tc>
                  <a:txBody>
                    <a:bodyPr/>
                    <a:lstStyle/>
                    <a:p>
                      <a:r>
                        <a:rPr sz="1013">
                          <a:solidFill>
                            <a:srgbClr val="17324D"/>
                          </a:solidFill>
                          <a:latin typeface="Arial"/>
                          <a:ea typeface="Arial"/>
                          <a:cs typeface="Arial"/>
                        </a:rPr>
                        <a:t>Operator; section_part and chunk are stored as integers</a:t>
                      </a:r>
                    </a:p>
                  </a:txBody>
                  <a:tcPr marL="76200" marR="76200" marT="47625" marB="47625" anchor="ctr">
                    <a:solidFill>
                      <a:srgbClr val="FFFFFF"/>
                    </a:solidFill>
                  </a:tcPr>
                </a:tc>
              </a:tr>
              <a:tr h="381000">
                <a:tc>
                  <a:txBody>
                    <a:bodyPr/>
                    <a:lstStyle/>
                    <a:p>
                      <a:r>
                        <a:rPr sz="1013" b="1">
                          <a:solidFill>
                            <a:srgbClr val="103A5C"/>
                          </a:solidFill>
                          <a:latin typeface="Arial"/>
                          <a:ea typeface="Arial"/>
                          <a:cs typeface="Arial"/>
                        </a:rPr>
                        <a:t>source and URL</a:t>
                      </a:r>
                    </a:p>
                  </a:txBody>
                  <a:tcPr marL="76200" marR="76200" marT="47625" marB="47625" anchor="ctr">
                    <a:solidFill>
                      <a:srgbClr val="EAF3FB"/>
                    </a:solidFill>
                  </a:tcPr>
                </a:tc>
                <a:tc>
                  <a:txBody>
                    <a:bodyPr/>
                    <a:lstStyle/>
                    <a:p>
                      <a:r>
                        <a:rPr sz="1013">
                          <a:solidFill>
                            <a:srgbClr val="17324D"/>
                          </a:solidFill>
                          <a:latin typeface="Arial"/>
                          <a:ea typeface="Arial"/>
                          <a:cs typeface="Arial"/>
                        </a:rPr>
                        <a:t>Earnings call transcript Q2-2027 (MarketBeat); marketbeat.com/earnings/reports/...</a:t>
                      </a:r>
                    </a:p>
                  </a:txBody>
                  <a:tcPr marL="76200" marR="76200" marT="47625" marB="47625" anchor="ctr">
                    <a:solidFill>
                      <a:srgbClr val="FFFFFF"/>
                    </a:solidFill>
                  </a:tcPr>
                </a:tc>
              </a:tr>
              <a:tr h="266700">
                <a:tc>
                  <a:txBody>
                    <a:bodyPr/>
                    <a:lstStyle/>
                    <a:p>
                      <a:r>
                        <a:rPr sz="1013" b="1">
                          <a:solidFill>
                            <a:srgbClr val="103A5C"/>
                          </a:solidFill>
                          <a:latin typeface="Arial"/>
                          <a:ea typeface="Arial"/>
                          <a:cs typeface="Arial"/>
                        </a:rPr>
                        <a:t>embedding</a:t>
                      </a:r>
                    </a:p>
                  </a:txBody>
                  <a:tcPr marL="76200" marR="76200" marT="47625" marB="47625" anchor="ctr">
                    <a:solidFill>
                      <a:srgbClr val="EAF3FB"/>
                    </a:solidFill>
                  </a:tcPr>
                </a:tc>
                <a:tc>
                  <a:txBody>
                    <a:bodyPr/>
                    <a:lstStyle/>
                    <a:p>
                      <a:r>
                        <a:rPr sz="1013">
                          <a:solidFill>
                            <a:srgbClr val="17324D"/>
                          </a:solidFill>
                          <a:latin typeface="Arial"/>
                          <a:ea typeface="Arial"/>
                          <a:cs typeface="Arial"/>
                        </a:rPr>
                        <a:t>384 numeric values used for similarity search; Chroma manages the vector</a:t>
                      </a:r>
                    </a:p>
                  </a:txBody>
                  <a:tcPr marL="76200" marR="76200" marT="47625" marB="47625" anchor="ctr">
                    <a:solidFill>
                      <a:srgbClr val="FFFFFF"/>
                    </a:solidFill>
                  </a:tcPr>
                </a:tc>
              </a:tr>
            </a:tbl>
          </a:graphicData>
        </a:graphic>
      </p:graphicFrame>
      <p:sp>
        <p:nvSpPr>
          <p:cNvPr id="29" name="">
            <a:extLst xmlns:a="http://schemas.openxmlformats.org/drawingml/2006/main">
              <a:ext uri="{FF2B5EF4-FFF2-40B4-BE49-F238E27FC236}">
                <a16:creationId xmlns:a16="http://schemas.microsoft.com/office/drawing/2014/main" id="{C835AD66-304A-4859-89D8-993C01CE4CAA}"/>
              </a:ext>
            </a:extLst>
          </p:cNvPr>
          <p:cNvSpPr>
            <a:spLocks xmlns:a="http://schemas.openxmlformats.org/drawingml/2006/main" noGrp="1"/>
          </p:cNvSpPr>
          <p:nvPr/>
        </p:nvSpPr>
        <p:spPr>
          <a:xfrm xmlns:a="http://schemas.openxmlformats.org/drawingml/2006/main">
            <a:off x="781050" y="6153150"/>
            <a:ext cx="1057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088" b="1">
                <a:solidFill>
                  <a:srgbClr val="009B96"/>
                </a:solidFill>
                <a:latin typeface="Arial"/>
                <a:ea typeface="Arial"/>
                <a:cs typeface="Arial"/>
              </a:defRPr>
            </a:pPr>
            <a:r>
              <a:rPr sz="1088" b="1">
                <a:solidFill>
                  <a:srgbClr val="009B96"/>
                </a:solidFill>
                <a:latin typeface="Arial"/>
                <a:ea typeface="Arial"/>
                <a:cs typeface="Arial"/>
              </a:rPr>
              <a:t>Exact statement values and calculated ratios follow the market-data path, not semantic vector retrieval.</a:t>
            </a:r>
          </a:p>
        </p:txBody>
      </p:sp>
    </p:spTree>
    <p:extLst>
      <p:ext uri="{BB962C8B-B14F-4D97-AF65-F5344CB8AC3E}">
        <p14:creationId xmlns:p14="http://schemas.microsoft.com/office/powerpoint/2010/main" val="1199141209"/>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4E15588-0561-480F-8EFD-36CB232567E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65EE57B5-251B-4EA1-B974-27E6D1F9E7B8}"/>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How repeated queries are handled</a:t>
            </a:r>
          </a:p>
        </p:txBody>
      </p:sp>
      <p:sp>
        <p:nvSpPr>
          <p:cNvPr id="3" name="">
            <a:extLst xmlns:a="http://schemas.openxmlformats.org/drawingml/2006/main">
              <a:ext uri="{FF2B5EF4-FFF2-40B4-BE49-F238E27FC236}">
                <a16:creationId xmlns:a16="http://schemas.microsoft.com/office/drawing/2014/main" id="{F8FBDA4F-FD2C-4BCC-9AC5-CBE87FEE5A27}"/>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current source cache saves document work. A future exact-report cache can save the remaining reasoning work.</a:t>
            </a:r>
          </a:p>
        </p:txBody>
      </p:sp>
      <p:sp>
        <p:nvSpPr>
          <p:cNvPr id="4" name="">
            <a:extLst xmlns:a="http://schemas.openxmlformats.org/drawingml/2006/main">
              <a:ext uri="{FF2B5EF4-FFF2-40B4-BE49-F238E27FC236}">
                <a16:creationId xmlns:a16="http://schemas.microsoft.com/office/drawing/2014/main" id="{D6CC7898-9ABF-4687-872D-5135B89F6EC8}"/>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FC1BE8EA-EDB5-45AF-B549-0ED4028C2D96}"/>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DCD783F7-7366-46F8-9AEF-CFC560493B88}"/>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E30C073F-002D-4803-8FAA-D4BCC7257B01}"/>
              </a:ext>
            </a:extLst>
          </p:cNvPr>
          <p:cNvSpPr>
            <a:spLocks xmlns:a="http://schemas.openxmlformats.org/drawingml/2006/main" noGrp="1"/>
          </p:cNvSpPr>
          <p:nvPr/>
        </p:nvSpPr>
        <p:spPr>
          <a:xfrm xmlns:a="http://schemas.openxmlformats.org/drawingml/2006/main">
            <a:off x="685800" y="1371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1">
                <a:solidFill>
                  <a:srgbClr val="2F8B5B"/>
                </a:solidFill>
                <a:latin typeface="Arial"/>
                <a:ea typeface="Arial"/>
                <a:cs typeface="Arial"/>
              </a:defRPr>
            </a:pPr>
            <a:r>
              <a:rPr sz="1725" b="1">
                <a:solidFill>
                  <a:srgbClr val="2F8B5B"/>
                </a:solidFill>
                <a:latin typeface="Arial"/>
                <a:ea typeface="Arial"/>
                <a:cs typeface="Arial"/>
              </a:rPr>
              <a:t>Current behavior</a:t>
            </a:r>
          </a:p>
        </p:txBody>
      </p:sp>
      <p:sp>
        <p:nvSpPr>
          <p:cNvPr id="8" name="">
            <a:extLst xmlns:a="http://schemas.openxmlformats.org/drawingml/2006/main">
              <a:ext uri="{FF2B5EF4-FFF2-40B4-BE49-F238E27FC236}">
                <a16:creationId xmlns:a16="http://schemas.microsoft.com/office/drawing/2014/main" id="{F5AC6925-13D4-4AB2-8CA0-EFBEE11DE600}"/>
              </a:ext>
            </a:extLst>
          </p:cNvPr>
          <p:cNvSpPr>
            <a:spLocks xmlns:a="http://schemas.openxmlformats.org/drawingml/2006/main" noGrp="1"/>
          </p:cNvSpPr>
          <p:nvPr/>
        </p:nvSpPr>
        <p:spPr>
          <a:xfrm xmlns:a="http://schemas.openxmlformats.org/drawingml/2006/main">
            <a:off x="685800" y="1866900"/>
            <a:ext cx="66675" cy="800100"/>
          </a:xfrm>
          <a:prstGeom xmlns:a="http://schemas.openxmlformats.org/drawingml/2006/main" prst="roundRect">
            <a:avLst>
              <a:gd name="adj" fmla="val 42857"/>
            </a:avLst>
          </a:prstGeom>
          <a:solidFill xmlns:a="http://schemas.openxmlformats.org/drawingml/2006/main">
            <a:srgbClr val="2F8B5B"/>
          </a:solidFill>
          <a:ln xmlns:a="http://schemas.openxmlformats.org/drawingml/2006/main" w="0">
            <a:solidFill>
              <a:srgbClr val="2F8B5B"/>
            </a:solidFill>
            <a:prstDash val="solid"/>
          </a:ln>
        </p:spPr>
      </p:sp>
      <p:sp>
        <p:nvSpPr>
          <p:cNvPr id="9" name="">
            <a:extLst xmlns:a="http://schemas.openxmlformats.org/drawingml/2006/main">
              <a:ext uri="{FF2B5EF4-FFF2-40B4-BE49-F238E27FC236}">
                <a16:creationId xmlns:a16="http://schemas.microsoft.com/office/drawing/2014/main" id="{2C3FDA5C-8953-444C-97BF-2E991AB80FEF}"/>
              </a:ext>
            </a:extLst>
          </p:cNvPr>
          <p:cNvSpPr>
            <a:spLocks xmlns:a="http://schemas.openxmlformats.org/drawingml/2006/main" noGrp="1"/>
          </p:cNvSpPr>
          <p:nvPr/>
        </p:nvSpPr>
        <p:spPr>
          <a:xfrm xmlns:a="http://schemas.openxmlformats.org/drawingml/2006/main">
            <a:off x="876300" y="1847850"/>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2F8B5B"/>
                </a:solidFill>
                <a:latin typeface="Arial"/>
                <a:ea typeface="Arial"/>
                <a:cs typeface="Arial"/>
              </a:defRPr>
            </a:pPr>
            <a:r>
              <a:rPr sz="1050" b="1">
                <a:solidFill>
                  <a:srgbClr val="2F8B5B"/>
                </a:solidFill>
                <a:latin typeface="Arial"/>
                <a:ea typeface="Arial"/>
                <a:cs typeface="Arial"/>
              </a:rPr>
              <a:t>Coverage check</a:t>
            </a:r>
          </a:p>
        </p:txBody>
      </p:sp>
      <p:sp>
        <p:nvSpPr>
          <p:cNvPr id="10" name="">
            <a:extLst xmlns:a="http://schemas.openxmlformats.org/drawingml/2006/main">
              <a:ext uri="{FF2B5EF4-FFF2-40B4-BE49-F238E27FC236}">
                <a16:creationId xmlns:a16="http://schemas.microsoft.com/office/drawing/2014/main" id="{6767F443-C148-481E-9A8C-3E7EE6B1D3E8}"/>
              </a:ext>
            </a:extLst>
          </p:cNvPr>
          <p:cNvSpPr>
            <a:spLocks xmlns:a="http://schemas.openxmlformats.org/drawingml/2006/main" noGrp="1"/>
          </p:cNvSpPr>
          <p:nvPr/>
        </p:nvSpPr>
        <p:spPr>
          <a:xfrm xmlns:a="http://schemas.openxmlformats.org/drawingml/2006/main">
            <a:off x="876300" y="2114550"/>
            <a:ext cx="4743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The system checks whether the requested filing and transcript periods already exist in Chroma.</a:t>
            </a:r>
          </a:p>
        </p:txBody>
      </p:sp>
      <p:sp>
        <p:nvSpPr>
          <p:cNvPr id="11" name="">
            <a:extLst xmlns:a="http://schemas.openxmlformats.org/drawingml/2006/main">
              <a:ext uri="{FF2B5EF4-FFF2-40B4-BE49-F238E27FC236}">
                <a16:creationId xmlns:a16="http://schemas.microsoft.com/office/drawing/2014/main" id="{57962925-09FA-4952-88A1-3169119F21CE}"/>
              </a:ext>
            </a:extLst>
          </p:cNvPr>
          <p:cNvSpPr>
            <a:spLocks xmlns:a="http://schemas.openxmlformats.org/drawingml/2006/main" noGrp="1"/>
          </p:cNvSpPr>
          <p:nvPr/>
        </p:nvSpPr>
        <p:spPr>
          <a:xfrm xmlns:a="http://schemas.openxmlformats.org/drawingml/2006/main">
            <a:off x="685800" y="2838450"/>
            <a:ext cx="66675" cy="800100"/>
          </a:xfrm>
          <a:prstGeom xmlns:a="http://schemas.openxmlformats.org/drawingml/2006/main" prst="roundRect">
            <a:avLst>
              <a:gd name="adj" fmla="val 42857"/>
            </a:avLst>
          </a:prstGeom>
          <a:solidFill xmlns:a="http://schemas.openxmlformats.org/drawingml/2006/main">
            <a:srgbClr val="2F8B5B"/>
          </a:solidFill>
          <a:ln xmlns:a="http://schemas.openxmlformats.org/drawingml/2006/main" w="0">
            <a:solidFill>
              <a:srgbClr val="2F8B5B"/>
            </a:solidFill>
            <a:prstDash val="solid"/>
          </a:ln>
        </p:spPr>
      </p:sp>
      <p:sp>
        <p:nvSpPr>
          <p:cNvPr id="12" name="">
            <a:extLst xmlns:a="http://schemas.openxmlformats.org/drawingml/2006/main">
              <a:ext uri="{FF2B5EF4-FFF2-40B4-BE49-F238E27FC236}">
                <a16:creationId xmlns:a16="http://schemas.microsoft.com/office/drawing/2014/main" id="{26F4BB7F-F07F-4C1D-AE39-A669B111E9A7}"/>
              </a:ext>
            </a:extLst>
          </p:cNvPr>
          <p:cNvSpPr>
            <a:spLocks xmlns:a="http://schemas.openxmlformats.org/drawingml/2006/main" noGrp="1"/>
          </p:cNvSpPr>
          <p:nvPr/>
        </p:nvSpPr>
        <p:spPr>
          <a:xfrm xmlns:a="http://schemas.openxmlformats.org/drawingml/2006/main">
            <a:off x="876300" y="2819400"/>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2F8B5B"/>
                </a:solidFill>
                <a:latin typeface="Arial"/>
                <a:ea typeface="Arial"/>
                <a:cs typeface="Arial"/>
              </a:defRPr>
            </a:pPr>
            <a:r>
              <a:rPr sz="1050" b="1">
                <a:solidFill>
                  <a:srgbClr val="2F8B5B"/>
                </a:solidFill>
                <a:latin typeface="Arial"/>
                <a:ea typeface="Arial"/>
                <a:cs typeface="Arial"/>
              </a:rPr>
              <a:t>Reuse source passages</a:t>
            </a:r>
          </a:p>
        </p:txBody>
      </p:sp>
      <p:sp>
        <p:nvSpPr>
          <p:cNvPr id="13" name="">
            <a:extLst xmlns:a="http://schemas.openxmlformats.org/drawingml/2006/main">
              <a:ext uri="{FF2B5EF4-FFF2-40B4-BE49-F238E27FC236}">
                <a16:creationId xmlns:a16="http://schemas.microsoft.com/office/drawing/2014/main" id="{C4F7B784-A84E-4847-BC3C-F8E9ADB2DE15}"/>
              </a:ext>
            </a:extLst>
          </p:cNvPr>
          <p:cNvSpPr>
            <a:spLocks xmlns:a="http://schemas.openxmlformats.org/drawingml/2006/main" noGrp="1"/>
          </p:cNvSpPr>
          <p:nvPr/>
        </p:nvSpPr>
        <p:spPr>
          <a:xfrm xmlns:a="http://schemas.openxmlformats.org/drawingml/2006/main">
            <a:off x="876300" y="3086100"/>
            <a:ext cx="4743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Complete cached passages skip downloading, text extraction, chunking, and embedding.</a:t>
            </a:r>
          </a:p>
        </p:txBody>
      </p:sp>
      <p:sp>
        <p:nvSpPr>
          <p:cNvPr id="14" name="">
            <a:extLst xmlns:a="http://schemas.openxmlformats.org/drawingml/2006/main">
              <a:ext uri="{FF2B5EF4-FFF2-40B4-BE49-F238E27FC236}">
                <a16:creationId xmlns:a16="http://schemas.microsoft.com/office/drawing/2014/main" id="{EF3F58D4-34E4-4C59-82DA-501458B52F82}"/>
              </a:ext>
            </a:extLst>
          </p:cNvPr>
          <p:cNvSpPr>
            <a:spLocks xmlns:a="http://schemas.openxmlformats.org/drawingml/2006/main" noGrp="1"/>
          </p:cNvSpPr>
          <p:nvPr/>
        </p:nvSpPr>
        <p:spPr>
          <a:xfrm xmlns:a="http://schemas.openxmlformats.org/drawingml/2006/main">
            <a:off x="685800" y="3810000"/>
            <a:ext cx="66675" cy="800100"/>
          </a:xfrm>
          <a:prstGeom xmlns:a="http://schemas.openxmlformats.org/drawingml/2006/main" prst="roundRect">
            <a:avLst>
              <a:gd name="adj" fmla="val 42857"/>
            </a:avLst>
          </a:prstGeom>
          <a:solidFill xmlns:a="http://schemas.openxmlformats.org/drawingml/2006/main">
            <a:srgbClr val="2F8B5B"/>
          </a:solidFill>
          <a:ln xmlns:a="http://schemas.openxmlformats.org/drawingml/2006/main" w="0">
            <a:solidFill>
              <a:srgbClr val="2F8B5B"/>
            </a:solidFill>
            <a:prstDash val="solid"/>
          </a:ln>
        </p:spPr>
      </p:sp>
      <p:sp>
        <p:nvSpPr>
          <p:cNvPr id="15" name="">
            <a:extLst xmlns:a="http://schemas.openxmlformats.org/drawingml/2006/main">
              <a:ext uri="{FF2B5EF4-FFF2-40B4-BE49-F238E27FC236}">
                <a16:creationId xmlns:a16="http://schemas.microsoft.com/office/drawing/2014/main" id="{DC1CDC72-2646-4792-8242-C8699123B878}"/>
              </a:ext>
            </a:extLst>
          </p:cNvPr>
          <p:cNvSpPr>
            <a:spLocks xmlns:a="http://schemas.openxmlformats.org/drawingml/2006/main" noGrp="1"/>
          </p:cNvSpPr>
          <p:nvPr/>
        </p:nvSpPr>
        <p:spPr>
          <a:xfrm xmlns:a="http://schemas.openxmlformats.org/drawingml/2006/main">
            <a:off x="876300" y="3790950"/>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2F8B5B"/>
                </a:solidFill>
                <a:latin typeface="Arial"/>
                <a:ea typeface="Arial"/>
                <a:cs typeface="Arial"/>
              </a:defRPr>
            </a:pPr>
            <a:r>
              <a:rPr sz="1050" b="1">
                <a:solidFill>
                  <a:srgbClr val="2F8B5B"/>
                </a:solidFill>
                <a:latin typeface="Arial"/>
                <a:ea typeface="Arial"/>
                <a:cs typeface="Arial"/>
              </a:rPr>
              <a:t>Refresh changing data</a:t>
            </a:r>
          </a:p>
        </p:txBody>
      </p:sp>
      <p:sp>
        <p:nvSpPr>
          <p:cNvPr id="16" name="">
            <a:extLst xmlns:a="http://schemas.openxmlformats.org/drawingml/2006/main">
              <a:ext uri="{FF2B5EF4-FFF2-40B4-BE49-F238E27FC236}">
                <a16:creationId xmlns:a16="http://schemas.microsoft.com/office/drawing/2014/main" id="{6121D650-BB49-4DA6-BCF8-E7BB04EA6E5A}"/>
              </a:ext>
            </a:extLst>
          </p:cNvPr>
          <p:cNvSpPr>
            <a:spLocks xmlns:a="http://schemas.openxmlformats.org/drawingml/2006/main" noGrp="1"/>
          </p:cNvSpPr>
          <p:nvPr/>
        </p:nvSpPr>
        <p:spPr>
          <a:xfrm xmlns:a="http://schemas.openxmlformats.org/drawingml/2006/main">
            <a:off x="876300" y="4057650"/>
            <a:ext cx="4743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Market data and current news are collected again because they may have changed.</a:t>
            </a:r>
          </a:p>
        </p:txBody>
      </p:sp>
      <p:sp>
        <p:nvSpPr>
          <p:cNvPr id="17" name="">
            <a:extLst xmlns:a="http://schemas.openxmlformats.org/drawingml/2006/main">
              <a:ext uri="{FF2B5EF4-FFF2-40B4-BE49-F238E27FC236}">
                <a16:creationId xmlns:a16="http://schemas.microsoft.com/office/drawing/2014/main" id="{7BD49E6E-CA8F-4F4C-930F-C477166A93B5}"/>
              </a:ext>
            </a:extLst>
          </p:cNvPr>
          <p:cNvSpPr>
            <a:spLocks xmlns:a="http://schemas.openxmlformats.org/drawingml/2006/main" noGrp="1"/>
          </p:cNvSpPr>
          <p:nvPr/>
        </p:nvSpPr>
        <p:spPr>
          <a:xfrm xmlns:a="http://schemas.openxmlformats.org/drawingml/2006/main">
            <a:off x="685800" y="4781550"/>
            <a:ext cx="66675" cy="800100"/>
          </a:xfrm>
          <a:prstGeom xmlns:a="http://schemas.openxmlformats.org/drawingml/2006/main" prst="roundRect">
            <a:avLst>
              <a:gd name="adj" fmla="val 42857"/>
            </a:avLst>
          </a:prstGeom>
          <a:solidFill xmlns:a="http://schemas.openxmlformats.org/drawingml/2006/main">
            <a:srgbClr val="2F8B5B"/>
          </a:solidFill>
          <a:ln xmlns:a="http://schemas.openxmlformats.org/drawingml/2006/main" w="0">
            <a:solidFill>
              <a:srgbClr val="2F8B5B"/>
            </a:solidFill>
            <a:prstDash val="solid"/>
          </a:ln>
        </p:spPr>
      </p:sp>
      <p:sp>
        <p:nvSpPr>
          <p:cNvPr id="18" name="">
            <a:extLst xmlns:a="http://schemas.openxmlformats.org/drawingml/2006/main">
              <a:ext uri="{FF2B5EF4-FFF2-40B4-BE49-F238E27FC236}">
                <a16:creationId xmlns:a16="http://schemas.microsoft.com/office/drawing/2014/main" id="{5A78B709-EC15-4AFC-92BC-E68A6EF7B726}"/>
              </a:ext>
            </a:extLst>
          </p:cNvPr>
          <p:cNvSpPr>
            <a:spLocks xmlns:a="http://schemas.openxmlformats.org/drawingml/2006/main" noGrp="1"/>
          </p:cNvSpPr>
          <p:nvPr/>
        </p:nvSpPr>
        <p:spPr>
          <a:xfrm xmlns:a="http://schemas.openxmlformats.org/drawingml/2006/main">
            <a:off x="876300" y="4762500"/>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2F8B5B"/>
                </a:solidFill>
                <a:latin typeface="Arial"/>
                <a:ea typeface="Arial"/>
                <a:cs typeface="Arial"/>
              </a:defRPr>
            </a:pPr>
            <a:r>
              <a:rPr sz="1050" b="1">
                <a:solidFill>
                  <a:srgbClr val="2F8B5B"/>
                </a:solidFill>
                <a:latin typeface="Arial"/>
                <a:ea typeface="Arial"/>
                <a:cs typeface="Arial"/>
              </a:rPr>
              <a:t>Rerun analysis</a:t>
            </a:r>
          </a:p>
        </p:txBody>
      </p:sp>
      <p:sp>
        <p:nvSpPr>
          <p:cNvPr id="19" name="">
            <a:extLst xmlns:a="http://schemas.openxmlformats.org/drawingml/2006/main">
              <a:ext uri="{FF2B5EF4-FFF2-40B4-BE49-F238E27FC236}">
                <a16:creationId xmlns:a16="http://schemas.microsoft.com/office/drawing/2014/main" id="{E897093D-D0AE-40CF-B798-D4CA476D6052}"/>
              </a:ext>
            </a:extLst>
          </p:cNvPr>
          <p:cNvSpPr>
            <a:spLocks xmlns:a="http://schemas.openxmlformats.org/drawingml/2006/main" noGrp="1"/>
          </p:cNvSpPr>
          <p:nvPr/>
        </p:nvSpPr>
        <p:spPr>
          <a:xfrm xmlns:a="http://schemas.openxmlformats.org/drawingml/2006/main">
            <a:off x="876300" y="5029200"/>
            <a:ext cx="4743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Planning, retrieval, thesis generation, criticism, report assembly, and quality checks run again.</a:t>
            </a:r>
          </a:p>
        </p:txBody>
      </p:sp>
      <p:sp>
        <p:nvSpPr>
          <p:cNvPr id="20" name="">
            <a:extLst xmlns:a="http://schemas.openxmlformats.org/drawingml/2006/main">
              <a:ext uri="{FF2B5EF4-FFF2-40B4-BE49-F238E27FC236}">
                <a16:creationId xmlns:a16="http://schemas.microsoft.com/office/drawing/2014/main" id="{FC75ED62-C486-46F1-88BE-53BBDCF4F5CF}"/>
              </a:ext>
            </a:extLst>
          </p:cNvPr>
          <p:cNvSpPr>
            <a:spLocks xmlns:a="http://schemas.openxmlformats.org/drawingml/2006/main" noGrp="1"/>
          </p:cNvSpPr>
          <p:nvPr/>
        </p:nvSpPr>
        <p:spPr>
          <a:xfrm xmlns:a="http://schemas.openxmlformats.org/drawingml/2006/main">
            <a:off x="6286500" y="1371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1">
                <a:solidFill>
                  <a:srgbClr val="3976B9"/>
                </a:solidFill>
                <a:latin typeface="Arial"/>
                <a:ea typeface="Arial"/>
                <a:cs typeface="Arial"/>
              </a:defRPr>
            </a:pPr>
            <a:r>
              <a:rPr sz="1725" b="1">
                <a:solidFill>
                  <a:srgbClr val="3976B9"/>
                </a:solidFill>
                <a:latin typeface="Arial"/>
                <a:ea typeface="Arial"/>
                <a:cs typeface="Arial"/>
              </a:rPr>
              <a:t>Future exact-report cache</a:t>
            </a:r>
          </a:p>
        </p:txBody>
      </p:sp>
      <p:sp>
        <p:nvSpPr>
          <p:cNvPr id="21" name="">
            <a:extLst xmlns:a="http://schemas.openxmlformats.org/drawingml/2006/main">
              <a:ext uri="{FF2B5EF4-FFF2-40B4-BE49-F238E27FC236}">
                <a16:creationId xmlns:a16="http://schemas.microsoft.com/office/drawing/2014/main" id="{EFE4AD82-FC81-4B65-90F8-553606074855}"/>
              </a:ext>
            </a:extLst>
          </p:cNvPr>
          <p:cNvSpPr>
            <a:spLocks xmlns:a="http://schemas.openxmlformats.org/drawingml/2006/main" noGrp="1"/>
          </p:cNvSpPr>
          <p:nvPr/>
        </p:nvSpPr>
        <p:spPr>
          <a:xfrm xmlns:a="http://schemas.openxmlformats.org/drawingml/2006/main">
            <a:off x="6286500" y="1952625"/>
            <a:ext cx="4762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00" b="0">
                <a:solidFill>
                  <a:srgbClr val="17324D"/>
                </a:solidFill>
                <a:latin typeface="Arial"/>
                <a:ea typeface="Arial"/>
                <a:cs typeface="Arial"/>
              </a:defRPr>
            </a:pPr>
            <a:r>
              <a:rPr sz="1500" b="0">
                <a:solidFill>
                  <a:srgbClr val="17324D"/>
                </a:solidFill>
                <a:latin typeface="Arial"/>
                <a:ea typeface="Arial"/>
                <a:cs typeface="Arial"/>
              </a:rPr>
              <a:t>A validated final report can be reused only when all dependencies still match. The cache key must include the normalized question, resolved dates, source fingerprint, market snapshot, model, prompt, schema, and application version.</a:t>
            </a:r>
          </a:p>
        </p:txBody>
      </p:sp>
      <p:sp>
        <p:nvSpPr>
          <p:cNvPr id="22" name="">
            <a:extLst xmlns:a="http://schemas.openxmlformats.org/drawingml/2006/main">
              <a:ext uri="{FF2B5EF4-FFF2-40B4-BE49-F238E27FC236}">
                <a16:creationId xmlns:a16="http://schemas.microsoft.com/office/drawing/2014/main" id="{47590465-34D6-4280-B33D-884759F91764}"/>
              </a:ext>
            </a:extLst>
          </p:cNvPr>
          <p:cNvSpPr>
            <a:spLocks xmlns:a="http://schemas.openxmlformats.org/drawingml/2006/main" noGrp="1"/>
          </p:cNvSpPr>
          <p:nvPr/>
        </p:nvSpPr>
        <p:spPr>
          <a:xfrm xmlns:a="http://schemas.openxmlformats.org/drawingml/2006/main">
            <a:off x="6286500" y="3619500"/>
            <a:ext cx="4762500" cy="1000125"/>
          </a:xfrm>
          <a:prstGeom xmlns:a="http://schemas.openxmlformats.org/drawingml/2006/main" prst="roundRect">
            <a:avLst>
              <a:gd name="adj" fmla="val 13333"/>
            </a:avLst>
          </a:prstGeom>
          <a:solidFill xmlns:a="http://schemas.openxmlformats.org/drawingml/2006/main">
            <a:srgbClr val="EAF3FB"/>
          </a:solidFill>
          <a:ln xmlns:a="http://schemas.openxmlformats.org/drawingml/2006/main" w="9525">
            <a:solidFill>
              <a:srgbClr val="3976B9"/>
            </a:solidFill>
            <a:prstDash val="solid"/>
          </a:ln>
        </p:spPr>
      </p:sp>
      <p:sp>
        <p:nvSpPr>
          <p:cNvPr id="23" name="">
            <a:extLst xmlns:a="http://schemas.openxmlformats.org/drawingml/2006/main">
              <a:ext uri="{FF2B5EF4-FFF2-40B4-BE49-F238E27FC236}">
                <a16:creationId xmlns:a16="http://schemas.microsoft.com/office/drawing/2014/main" id="{0E2EF107-B38E-4A90-9804-B673CEEF81B5}"/>
              </a:ext>
            </a:extLst>
          </p:cNvPr>
          <p:cNvSpPr>
            <a:spLocks xmlns:a="http://schemas.openxmlformats.org/drawingml/2006/main" noGrp="1"/>
          </p:cNvSpPr>
          <p:nvPr/>
        </p:nvSpPr>
        <p:spPr>
          <a:xfrm xmlns:a="http://schemas.openxmlformats.org/drawingml/2006/main">
            <a:off x="6496050" y="380047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3976B9"/>
                </a:solidFill>
                <a:latin typeface="Arial"/>
                <a:ea typeface="Arial"/>
                <a:cs typeface="Arial"/>
              </a:defRPr>
            </a:pPr>
            <a:r>
              <a:rPr sz="1275" b="1">
                <a:solidFill>
                  <a:srgbClr val="3976B9"/>
                </a:solidFill>
                <a:latin typeface="Arial"/>
                <a:ea typeface="Arial"/>
                <a:cs typeface="Arial"/>
              </a:rPr>
              <a:t>Historical request</a:t>
            </a:r>
          </a:p>
        </p:txBody>
      </p:sp>
      <p:sp>
        <p:nvSpPr>
          <p:cNvPr id="24" name="">
            <a:extLst xmlns:a="http://schemas.openxmlformats.org/drawingml/2006/main">
              <a:ext uri="{FF2B5EF4-FFF2-40B4-BE49-F238E27FC236}">
                <a16:creationId xmlns:a16="http://schemas.microsoft.com/office/drawing/2014/main" id="{D52B2ABF-85E7-4F46-BF13-1705A2E90D41}"/>
              </a:ext>
            </a:extLst>
          </p:cNvPr>
          <p:cNvSpPr>
            <a:spLocks xmlns:a="http://schemas.openxmlformats.org/drawingml/2006/main" noGrp="1"/>
          </p:cNvSpPr>
          <p:nvPr/>
        </p:nvSpPr>
        <p:spPr>
          <a:xfrm xmlns:a="http://schemas.openxmlformats.org/drawingml/2006/main">
            <a:off x="8286750" y="3752850"/>
            <a:ext cx="252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4771"/>
          </a:bodyPr>
          <a:lstStyle xmlns:a="http://schemas.openxmlformats.org/drawingml/2006/main"/>
          <a:p xmlns:a="http://schemas.openxmlformats.org/drawingml/2006/main">
            <a:pPr algn="l">
              <a:buNone/>
              <a:defRPr sz="1275" b="0">
                <a:solidFill>
                  <a:srgbClr val="17324D"/>
                </a:solidFill>
                <a:latin typeface="Arial"/>
                <a:ea typeface="Arial"/>
                <a:cs typeface="Arial"/>
              </a:defRPr>
            </a:pPr>
            <a:r>
              <a:rPr sz="1275" b="0">
                <a:solidFill>
                  <a:srgbClr val="17324D"/>
                </a:solidFill>
                <a:latin typeface="Arial"/>
                <a:ea typeface="Arial"/>
                <a:cs typeface="Arial"/>
              </a:rPr>
              <a:t>An immutable historical request can return quickly after the dependency key is verified.</a:t>
            </a:r>
          </a:p>
        </p:txBody>
      </p:sp>
      <p:sp>
        <p:nvSpPr>
          <p:cNvPr id="25" name="">
            <a:extLst xmlns:a="http://schemas.openxmlformats.org/drawingml/2006/main">
              <a:ext uri="{FF2B5EF4-FFF2-40B4-BE49-F238E27FC236}">
                <a16:creationId xmlns:a16="http://schemas.microsoft.com/office/drawing/2014/main" id="{9F6837E9-08F2-4ABD-9E4C-83723777A857}"/>
              </a:ext>
            </a:extLst>
          </p:cNvPr>
          <p:cNvSpPr>
            <a:spLocks xmlns:a="http://schemas.openxmlformats.org/drawingml/2006/main" noGrp="1"/>
          </p:cNvSpPr>
          <p:nvPr/>
        </p:nvSpPr>
        <p:spPr>
          <a:xfrm xmlns:a="http://schemas.openxmlformats.org/drawingml/2006/main">
            <a:off x="6286500" y="4810125"/>
            <a:ext cx="4762500" cy="1000125"/>
          </a:xfrm>
          <a:prstGeom xmlns:a="http://schemas.openxmlformats.org/drawingml/2006/main" prst="roundRect">
            <a:avLst>
              <a:gd name="adj" fmla="val 13333"/>
            </a:avLst>
          </a:prstGeom>
          <a:solidFill xmlns:a="http://schemas.openxmlformats.org/drawingml/2006/main">
            <a:srgbClr val="FFF3DE"/>
          </a:solidFill>
          <a:ln xmlns:a="http://schemas.openxmlformats.org/drawingml/2006/main" w="9525">
            <a:solidFill>
              <a:srgbClr val="D28A1D"/>
            </a:solidFill>
            <a:prstDash val="solid"/>
          </a:ln>
        </p:spPr>
      </p:sp>
      <p:sp>
        <p:nvSpPr>
          <p:cNvPr id="26" name="">
            <a:extLst xmlns:a="http://schemas.openxmlformats.org/drawingml/2006/main">
              <a:ext uri="{FF2B5EF4-FFF2-40B4-BE49-F238E27FC236}">
                <a16:creationId xmlns:a16="http://schemas.microsoft.com/office/drawing/2014/main" id="{834232FD-D399-4553-8493-D0EEBFFAAF8B}"/>
              </a:ext>
            </a:extLst>
          </p:cNvPr>
          <p:cNvSpPr>
            <a:spLocks xmlns:a="http://schemas.openxmlformats.org/drawingml/2006/main" noGrp="1"/>
          </p:cNvSpPr>
          <p:nvPr/>
        </p:nvSpPr>
        <p:spPr>
          <a:xfrm xmlns:a="http://schemas.openxmlformats.org/drawingml/2006/main">
            <a:off x="6496050" y="4991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D28A1D"/>
                </a:solidFill>
                <a:latin typeface="Arial"/>
                <a:ea typeface="Arial"/>
                <a:cs typeface="Arial"/>
              </a:defRPr>
            </a:pPr>
            <a:r>
              <a:rPr sz="1275" b="1">
                <a:solidFill>
                  <a:srgbClr val="D28A1D"/>
                </a:solidFill>
                <a:latin typeface="Arial"/>
                <a:ea typeface="Arial"/>
                <a:cs typeface="Arial"/>
              </a:rPr>
              <a:t>Latest request</a:t>
            </a:r>
          </a:p>
        </p:txBody>
      </p:sp>
      <p:sp>
        <p:nvSpPr>
          <p:cNvPr id="27" name="">
            <a:extLst xmlns:a="http://schemas.openxmlformats.org/drawingml/2006/main">
              <a:ext uri="{FF2B5EF4-FFF2-40B4-BE49-F238E27FC236}">
                <a16:creationId xmlns:a16="http://schemas.microsoft.com/office/drawing/2014/main" id="{770CA5D5-102A-47AB-B6CE-7028895DDBA3}"/>
              </a:ext>
            </a:extLst>
          </p:cNvPr>
          <p:cNvSpPr>
            <a:spLocks xmlns:a="http://schemas.openxmlformats.org/drawingml/2006/main" noGrp="1"/>
          </p:cNvSpPr>
          <p:nvPr/>
        </p:nvSpPr>
        <p:spPr>
          <a:xfrm xmlns:a="http://schemas.openxmlformats.org/drawingml/2006/main">
            <a:off x="8286750" y="4943475"/>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2521"/>
          </a:bodyPr>
          <a:lstStyle xmlns:a="http://schemas.openxmlformats.org/drawingml/2006/main"/>
          <a:p xmlns:a="http://schemas.openxmlformats.org/drawingml/2006/main">
            <a:pPr algn="l">
              <a:buNone/>
              <a:defRPr sz="1275" b="0">
                <a:solidFill>
                  <a:srgbClr val="17324D"/>
                </a:solidFill>
                <a:latin typeface="Arial"/>
                <a:ea typeface="Arial"/>
                <a:cs typeface="Arial"/>
              </a:defRPr>
            </a:pPr>
            <a:r>
              <a:rPr sz="1275" b="0">
                <a:solidFill>
                  <a:srgbClr val="17324D"/>
                </a:solidFill>
                <a:latin typeface="Arial"/>
                <a:ea typeface="Arial"/>
                <a:cs typeface="Arial"/>
              </a:rPr>
              <a:t>A request for the latest period must validate source coverage and current data before any report is reused.</a:t>
            </a:r>
          </a:p>
        </p:txBody>
      </p:sp>
    </p:spTree>
    <p:extLst>
      <p:ext uri="{BB962C8B-B14F-4D97-AF65-F5344CB8AC3E}">
        <p14:creationId xmlns:p14="http://schemas.microsoft.com/office/powerpoint/2010/main" val="149208666"/>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05A8770-055C-4AC5-9502-789DF6F1271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662F1790-A695-4AA3-8DA6-F3936F8C9FEE}"/>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NVDA example: one question moving through the graph</a:t>
            </a:r>
          </a:p>
        </p:txBody>
      </p:sp>
      <p:sp>
        <p:nvSpPr>
          <p:cNvPr id="3" name="">
            <a:extLst xmlns:a="http://schemas.openxmlformats.org/drawingml/2006/main">
              <a:ext uri="{FF2B5EF4-FFF2-40B4-BE49-F238E27FC236}">
                <a16:creationId xmlns:a16="http://schemas.microsoft.com/office/drawing/2014/main" id="{D154F0F5-539D-48C9-B88A-AF71695366EE}"/>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captured local run requested the latest quarter plus three prior quarters.</a:t>
            </a:r>
          </a:p>
        </p:txBody>
      </p:sp>
      <p:sp>
        <p:nvSpPr>
          <p:cNvPr id="4" name="">
            <a:extLst xmlns:a="http://schemas.openxmlformats.org/drawingml/2006/main">
              <a:ext uri="{FF2B5EF4-FFF2-40B4-BE49-F238E27FC236}">
                <a16:creationId xmlns:a16="http://schemas.microsoft.com/office/drawing/2014/main" id="{1FEEB947-C34E-4947-883B-293AC268F19A}"/>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A26BAF17-0F9B-4CEA-9EAB-9ED49E6786E5}"/>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357BFC5A-C614-4DBA-825B-9F97AF3CD394}"/>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EDC4DB2E-15AB-495B-9DD0-CE16BCC1760D}"/>
              </a:ext>
            </a:extLst>
          </p:cNvPr>
          <p:cNvSpPr>
            <a:spLocks xmlns:a="http://schemas.openxmlformats.org/drawingml/2006/main" noGrp="1"/>
          </p:cNvSpPr>
          <p:nvPr/>
        </p:nvSpPr>
        <p:spPr>
          <a:xfrm xmlns:a="http://schemas.openxmlformats.org/drawingml/2006/main">
            <a:off x="714375" y="1428750"/>
            <a:ext cx="400050" cy="400050"/>
          </a:xfrm>
          <a:prstGeom xmlns:a="http://schemas.openxmlformats.org/drawingml/2006/main" prst="roundRect">
            <a:avLst>
              <a:gd name="adj" fmla="val 50000"/>
            </a:avLst>
          </a:prstGeom>
          <a:solidFill xmlns:a="http://schemas.openxmlformats.org/drawingml/2006/main">
            <a:srgbClr val="C94A4A"/>
          </a:solidFill>
          <a:ln xmlns:a="http://schemas.openxmlformats.org/drawingml/2006/main" w="0">
            <a:noFill/>
            <a:prstDash val="solid"/>
          </a:ln>
        </p:spPr>
        <p:txBody>
          <a:bodyPr xmlns:a="http://schemas.openxmlformats.org/drawingml/2006/main" wrap="square" lIns="28575" tIns="28575" rIns="28575" bIns="28575" anchor="ctr">
            <a:normAutofit fontScale="98744"/>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BC28A290-FA0A-46C9-B36B-E756103B01D0}"/>
              </a:ext>
            </a:extLst>
          </p:cNvPr>
          <p:cNvSpPr>
            <a:spLocks xmlns:a="http://schemas.openxmlformats.org/drawingml/2006/main" noGrp="1"/>
          </p:cNvSpPr>
          <p:nvPr/>
        </p:nvSpPr>
        <p:spPr>
          <a:xfrm xmlns:a="http://schemas.openxmlformats.org/drawingml/2006/main">
            <a:off x="1333500" y="1409700"/>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Request</a:t>
            </a:r>
          </a:p>
        </p:txBody>
      </p:sp>
      <p:sp>
        <p:nvSpPr>
          <p:cNvPr id="9" name="">
            <a:extLst xmlns:a="http://schemas.openxmlformats.org/drawingml/2006/main">
              <a:ext uri="{FF2B5EF4-FFF2-40B4-BE49-F238E27FC236}">
                <a16:creationId xmlns:a16="http://schemas.microsoft.com/office/drawing/2014/main" id="{D24B4E04-8696-49F3-9810-2C91461FB79B}"/>
              </a:ext>
            </a:extLst>
          </p:cNvPr>
          <p:cNvSpPr>
            <a:spLocks xmlns:a="http://schemas.openxmlformats.org/drawingml/2006/main" noGrp="1"/>
          </p:cNvSpPr>
          <p:nvPr/>
        </p:nvSpPr>
        <p:spPr>
          <a:xfrm xmlns:a="http://schemas.openxmlformats.org/drawingml/2006/main">
            <a:off x="3190875" y="140017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input guard accepted NVDA as a neutral research request.</a:t>
            </a:r>
          </a:p>
        </p:txBody>
      </p:sp>
      <p:sp>
        <p:nvSpPr>
          <p:cNvPr id="10" name="">
            <a:extLst xmlns:a="http://schemas.openxmlformats.org/drawingml/2006/main">
              <a:ext uri="{FF2B5EF4-FFF2-40B4-BE49-F238E27FC236}">
                <a16:creationId xmlns:a16="http://schemas.microsoft.com/office/drawing/2014/main" id="{11B842F9-8AC4-437B-8173-79AA5AE6688C}"/>
              </a:ext>
            </a:extLst>
          </p:cNvPr>
          <p:cNvSpPr>
            <a:spLocks xmlns:a="http://schemas.openxmlformats.org/drawingml/2006/main" noGrp="1"/>
          </p:cNvSpPr>
          <p:nvPr/>
        </p:nvSpPr>
        <p:spPr>
          <a:xfrm xmlns:a="http://schemas.openxmlformats.org/drawingml/2006/main">
            <a:off x="714375" y="2276475"/>
            <a:ext cx="400050" cy="400050"/>
          </a:xfrm>
          <a:prstGeom xmlns:a="http://schemas.openxmlformats.org/drawingml/2006/main" prst="roundRect">
            <a:avLst>
              <a:gd name="adj" fmla="val 50000"/>
            </a:avLst>
          </a:prstGeom>
          <a:solidFill xmlns:a="http://schemas.openxmlformats.org/drawingml/2006/main">
            <a:srgbClr val="2F8B5B"/>
          </a:solidFill>
          <a:ln xmlns:a="http://schemas.openxmlformats.org/drawingml/2006/main" w="0">
            <a:noFill/>
            <a:prstDash val="solid"/>
          </a:ln>
        </p:spPr>
        <p:txBody>
          <a:bodyPr xmlns:a="http://schemas.openxmlformats.org/drawingml/2006/main" wrap="square" lIns="28575" tIns="28575" rIns="28575" bIns="28575" anchor="ctr">
            <a:normAutofit fontScale="98744"/>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58536059-6382-4B0B-AC27-4FBE65839813}"/>
              </a:ext>
            </a:extLst>
          </p:cNvPr>
          <p:cNvSpPr>
            <a:spLocks xmlns:a="http://schemas.openxmlformats.org/drawingml/2006/main" noGrp="1"/>
          </p:cNvSpPr>
          <p:nvPr/>
        </p:nvSpPr>
        <p:spPr>
          <a:xfrm xmlns:a="http://schemas.openxmlformats.org/drawingml/2006/main">
            <a:off x="1333500" y="2257425"/>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Sources</a:t>
            </a:r>
          </a:p>
        </p:txBody>
      </p:sp>
      <p:sp>
        <p:nvSpPr>
          <p:cNvPr id="12" name="">
            <a:extLst xmlns:a="http://schemas.openxmlformats.org/drawingml/2006/main">
              <a:ext uri="{FF2B5EF4-FFF2-40B4-BE49-F238E27FC236}">
                <a16:creationId xmlns:a16="http://schemas.microsoft.com/office/drawing/2014/main" id="{FC173E82-FDFD-4DEC-A193-27ABDD70F4DC}"/>
              </a:ext>
            </a:extLst>
          </p:cNvPr>
          <p:cNvSpPr>
            <a:spLocks xmlns:a="http://schemas.openxmlformats.org/drawingml/2006/main" noGrp="1"/>
          </p:cNvSpPr>
          <p:nvPr/>
        </p:nvSpPr>
        <p:spPr>
          <a:xfrm xmlns:a="http://schemas.openxmlformats.org/drawingml/2006/main">
            <a:off x="3190875" y="2247900"/>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Source setup resolved four quarters and reused complete filing and transcript passages.</a:t>
            </a:r>
          </a:p>
        </p:txBody>
      </p:sp>
      <p:sp>
        <p:nvSpPr>
          <p:cNvPr id="13" name="">
            <a:extLst xmlns:a="http://schemas.openxmlformats.org/drawingml/2006/main">
              <a:ext uri="{FF2B5EF4-FFF2-40B4-BE49-F238E27FC236}">
                <a16:creationId xmlns:a16="http://schemas.microsoft.com/office/drawing/2014/main" id="{05CD254C-862B-42C3-8769-511BD3A83E27}"/>
              </a:ext>
            </a:extLst>
          </p:cNvPr>
          <p:cNvSpPr>
            <a:spLocks xmlns:a="http://schemas.openxmlformats.org/drawingml/2006/main" noGrp="1"/>
          </p:cNvSpPr>
          <p:nvPr/>
        </p:nvSpPr>
        <p:spPr>
          <a:xfrm xmlns:a="http://schemas.openxmlformats.org/drawingml/2006/main">
            <a:off x="714375" y="3124200"/>
            <a:ext cx="400050" cy="400050"/>
          </a:xfrm>
          <a:prstGeom xmlns:a="http://schemas.openxmlformats.org/drawingml/2006/main" prst="roundRect">
            <a:avLst>
              <a:gd name="adj" fmla="val 50000"/>
            </a:avLst>
          </a:prstGeom>
          <a:solidFill xmlns:a="http://schemas.openxmlformats.org/drawingml/2006/main">
            <a:srgbClr val="3976B9"/>
          </a:solidFill>
          <a:ln xmlns:a="http://schemas.openxmlformats.org/drawingml/2006/main" w="0">
            <a:noFill/>
            <a:prstDash val="solid"/>
          </a:ln>
        </p:spPr>
        <p:txBody>
          <a:bodyPr xmlns:a="http://schemas.openxmlformats.org/drawingml/2006/main" wrap="square" lIns="28575" tIns="28575" rIns="28575" bIns="28575" anchor="ctr">
            <a:normAutofit fontScale="98744"/>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3F35B432-8AAD-4769-9319-83D23755DC2A}"/>
              </a:ext>
            </a:extLst>
          </p:cNvPr>
          <p:cNvSpPr>
            <a:spLocks xmlns:a="http://schemas.openxmlformats.org/drawingml/2006/main" noGrp="1"/>
          </p:cNvSpPr>
          <p:nvPr/>
        </p:nvSpPr>
        <p:spPr>
          <a:xfrm xmlns:a="http://schemas.openxmlformats.org/drawingml/2006/main">
            <a:off x="1333500" y="3105150"/>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Plan and research</a:t>
            </a:r>
          </a:p>
        </p:txBody>
      </p:sp>
      <p:sp>
        <p:nvSpPr>
          <p:cNvPr id="15" name="">
            <a:extLst xmlns:a="http://schemas.openxmlformats.org/drawingml/2006/main">
              <a:ext uri="{FF2B5EF4-FFF2-40B4-BE49-F238E27FC236}">
                <a16:creationId xmlns:a16="http://schemas.microsoft.com/office/drawing/2014/main" id="{5086E6EA-95CD-4FE8-B93C-A66EB13C5A14}"/>
              </a:ext>
            </a:extLst>
          </p:cNvPr>
          <p:cNvSpPr>
            <a:spLocks xmlns:a="http://schemas.openxmlformats.org/drawingml/2006/main" noGrp="1"/>
          </p:cNvSpPr>
          <p:nvPr/>
        </p:nvSpPr>
        <p:spPr>
          <a:xfrm xmlns:a="http://schemas.openxmlformats.org/drawingml/2006/main">
            <a:off x="3190875" y="309562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graph collected financial values, narrative evidence, company context, current news, and ratings.</a:t>
            </a:r>
          </a:p>
        </p:txBody>
      </p:sp>
      <p:sp>
        <p:nvSpPr>
          <p:cNvPr id="16" name="">
            <a:extLst xmlns:a="http://schemas.openxmlformats.org/drawingml/2006/main">
              <a:ext uri="{FF2B5EF4-FFF2-40B4-BE49-F238E27FC236}">
                <a16:creationId xmlns:a16="http://schemas.microsoft.com/office/drawing/2014/main" id="{2B7F562A-7E80-4587-AB6C-97FBDC3F6083}"/>
              </a:ext>
            </a:extLst>
          </p:cNvPr>
          <p:cNvSpPr>
            <a:spLocks xmlns:a="http://schemas.openxmlformats.org/drawingml/2006/main" noGrp="1"/>
          </p:cNvSpPr>
          <p:nvPr/>
        </p:nvSpPr>
        <p:spPr>
          <a:xfrm xmlns:a="http://schemas.openxmlformats.org/drawingml/2006/main">
            <a:off x="714375" y="3971925"/>
            <a:ext cx="400050" cy="400050"/>
          </a:xfrm>
          <a:prstGeom xmlns:a="http://schemas.openxmlformats.org/drawingml/2006/main" prst="roundRect">
            <a:avLst>
              <a:gd name="adj" fmla="val 50000"/>
            </a:avLst>
          </a:prstGeom>
          <a:solidFill xmlns:a="http://schemas.openxmlformats.org/drawingml/2006/main">
            <a:srgbClr val="009B96"/>
          </a:solidFill>
          <a:ln xmlns:a="http://schemas.openxmlformats.org/drawingml/2006/main" w="0">
            <a:noFill/>
            <a:prstDash val="solid"/>
          </a:ln>
        </p:spPr>
        <p:txBody>
          <a:bodyPr xmlns:a="http://schemas.openxmlformats.org/drawingml/2006/main" wrap="square" lIns="28575" tIns="28575" rIns="28575" bIns="28575" anchor="ctr">
            <a:normAutofit fontScale="98744"/>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20D5B1D1-F159-4C7E-8097-30B593FB8565}"/>
              </a:ext>
            </a:extLst>
          </p:cNvPr>
          <p:cNvSpPr>
            <a:spLocks xmlns:a="http://schemas.openxmlformats.org/drawingml/2006/main" noGrp="1"/>
          </p:cNvSpPr>
          <p:nvPr/>
        </p:nvSpPr>
        <p:spPr>
          <a:xfrm xmlns:a="http://schemas.openxmlformats.org/drawingml/2006/main">
            <a:off x="1333500" y="3952875"/>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Cases</a:t>
            </a:r>
          </a:p>
        </p:txBody>
      </p:sp>
      <p:sp>
        <p:nvSpPr>
          <p:cNvPr id="18" name="">
            <a:extLst xmlns:a="http://schemas.openxmlformats.org/drawingml/2006/main">
              <a:ext uri="{FF2B5EF4-FFF2-40B4-BE49-F238E27FC236}">
                <a16:creationId xmlns:a16="http://schemas.microsoft.com/office/drawing/2014/main" id="{B97748B8-C275-4426-A82B-900AFCC41ABD}"/>
              </a:ext>
            </a:extLst>
          </p:cNvPr>
          <p:cNvSpPr>
            <a:spLocks xmlns:a="http://schemas.openxmlformats.org/drawingml/2006/main" noGrp="1"/>
          </p:cNvSpPr>
          <p:nvPr/>
        </p:nvSpPr>
        <p:spPr>
          <a:xfrm xmlns:a="http://schemas.openxmlformats.org/drawingml/2006/main">
            <a:off x="3190875" y="3943350"/>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Analyst and Critic produced six surviving bull, bear, and risk branches.</a:t>
            </a:r>
          </a:p>
        </p:txBody>
      </p:sp>
      <p:sp>
        <p:nvSpPr>
          <p:cNvPr id="19" name="">
            <a:extLst xmlns:a="http://schemas.openxmlformats.org/drawingml/2006/main">
              <a:ext uri="{FF2B5EF4-FFF2-40B4-BE49-F238E27FC236}">
                <a16:creationId xmlns:a16="http://schemas.microsoft.com/office/drawing/2014/main" id="{ED400C02-A6A3-4B93-A3C8-781803B3556C}"/>
              </a:ext>
            </a:extLst>
          </p:cNvPr>
          <p:cNvSpPr>
            <a:spLocks xmlns:a="http://schemas.openxmlformats.org/drawingml/2006/main" noGrp="1"/>
          </p:cNvSpPr>
          <p:nvPr/>
        </p:nvSpPr>
        <p:spPr>
          <a:xfrm xmlns:a="http://schemas.openxmlformats.org/drawingml/2006/main">
            <a:off x="714375" y="4819650"/>
            <a:ext cx="400050" cy="400050"/>
          </a:xfrm>
          <a:prstGeom xmlns:a="http://schemas.openxmlformats.org/drawingml/2006/main" prst="roundRect">
            <a:avLst>
              <a:gd name="adj" fmla="val 50000"/>
            </a:avLst>
          </a:prstGeom>
          <a:solidFill xmlns:a="http://schemas.openxmlformats.org/drawingml/2006/main">
            <a:srgbClr val="103A5C"/>
          </a:solidFill>
          <a:ln xmlns:a="http://schemas.openxmlformats.org/drawingml/2006/main" w="0">
            <a:noFill/>
            <a:prstDash val="solid"/>
          </a:ln>
        </p:spPr>
        <p:txBody>
          <a:bodyPr xmlns:a="http://schemas.openxmlformats.org/drawingml/2006/main" wrap="square" lIns="28575" tIns="28575" rIns="28575" bIns="28575" anchor="ctr">
            <a:normAutofit fontScale="98744"/>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sp>
        <p:nvSpPr>
          <p:cNvPr id="20" name="">
            <a:extLst xmlns:a="http://schemas.openxmlformats.org/drawingml/2006/main">
              <a:ext uri="{FF2B5EF4-FFF2-40B4-BE49-F238E27FC236}">
                <a16:creationId xmlns:a16="http://schemas.microsoft.com/office/drawing/2014/main" id="{7D7EC361-6E3E-4742-858F-AA5FE2AD1030}"/>
              </a:ext>
            </a:extLst>
          </p:cNvPr>
          <p:cNvSpPr>
            <a:spLocks xmlns:a="http://schemas.openxmlformats.org/drawingml/2006/main" noGrp="1"/>
          </p:cNvSpPr>
          <p:nvPr/>
        </p:nvSpPr>
        <p:spPr>
          <a:xfrm xmlns:a="http://schemas.openxmlformats.org/drawingml/2006/main">
            <a:off x="1333500" y="4800600"/>
            <a:ext cx="1857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103A5C"/>
                </a:solidFill>
                <a:latin typeface="Arial"/>
                <a:ea typeface="Arial"/>
                <a:cs typeface="Arial"/>
              </a:defRPr>
            </a:pPr>
            <a:r>
              <a:rPr sz="1350" b="1">
                <a:solidFill>
                  <a:srgbClr val="103A5C"/>
                </a:solidFill>
                <a:latin typeface="Arial"/>
                <a:ea typeface="Arial"/>
                <a:cs typeface="Arial"/>
              </a:rPr>
              <a:t>Release</a:t>
            </a:r>
          </a:p>
        </p:txBody>
      </p:sp>
      <p:sp>
        <p:nvSpPr>
          <p:cNvPr id="21" name="">
            <a:extLst xmlns:a="http://schemas.openxmlformats.org/drawingml/2006/main">
              <a:ext uri="{FF2B5EF4-FFF2-40B4-BE49-F238E27FC236}">
                <a16:creationId xmlns:a16="http://schemas.microsoft.com/office/drawing/2014/main" id="{7437894A-F7F3-4083-901D-E89D7471E1C0}"/>
              </a:ext>
            </a:extLst>
          </p:cNvPr>
          <p:cNvSpPr>
            <a:spLocks xmlns:a="http://schemas.openxmlformats.org/drawingml/2006/main" noGrp="1"/>
          </p:cNvSpPr>
          <p:nvPr/>
        </p:nvSpPr>
        <p:spPr>
          <a:xfrm xmlns:a="http://schemas.openxmlformats.org/drawingml/2006/main">
            <a:off x="3190875" y="4791075"/>
            <a:ext cx="781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report retained 21 cited findings. The quality gate found no hard trigger that required human review.</a:t>
            </a:r>
          </a:p>
        </p:txBody>
      </p:sp>
      <p:sp>
        <p:nvSpPr>
          <p:cNvPr id="22" name="">
            <a:extLst xmlns:a="http://schemas.openxmlformats.org/drawingml/2006/main">
              <a:ext uri="{FF2B5EF4-FFF2-40B4-BE49-F238E27FC236}">
                <a16:creationId xmlns:a16="http://schemas.microsoft.com/office/drawing/2014/main" id="{5EFE87EA-A396-48DD-8EE1-24D1AAE4F7C4}"/>
              </a:ext>
            </a:extLst>
          </p:cNvPr>
          <p:cNvSpPr>
            <a:spLocks xmlns:a="http://schemas.openxmlformats.org/drawingml/2006/main" noGrp="1"/>
          </p:cNvSpPr>
          <p:nvPr/>
        </p:nvSpPr>
        <p:spPr>
          <a:xfrm xmlns:a="http://schemas.openxmlformats.org/drawingml/2006/main">
            <a:off x="1524000" y="5619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2400" b="1">
                <a:solidFill>
                  <a:srgbClr val="3976B9"/>
                </a:solidFill>
                <a:latin typeface="Arial"/>
                <a:ea typeface="Arial"/>
                <a:cs typeface="Arial"/>
              </a:defRPr>
            </a:pPr>
            <a:r>
              <a:rPr sz="2400" b="1">
                <a:solidFill>
                  <a:srgbClr val="3976B9"/>
                </a:solidFill>
                <a:latin typeface="Arial"/>
                <a:ea typeface="Arial"/>
                <a:cs typeface="Arial"/>
              </a:rPr>
              <a:t>21</a:t>
            </a:r>
          </a:p>
        </p:txBody>
      </p:sp>
      <p:sp>
        <p:nvSpPr>
          <p:cNvPr id="23" name="">
            <a:extLst xmlns:a="http://schemas.openxmlformats.org/drawingml/2006/main">
              <a:ext uri="{FF2B5EF4-FFF2-40B4-BE49-F238E27FC236}">
                <a16:creationId xmlns:a16="http://schemas.microsoft.com/office/drawing/2014/main" id="{55420709-5778-4973-9998-0D7A44348939}"/>
              </a:ext>
            </a:extLst>
          </p:cNvPr>
          <p:cNvSpPr>
            <a:spLocks xmlns:a="http://schemas.openxmlformats.org/drawingml/2006/main" noGrp="1"/>
          </p:cNvSpPr>
          <p:nvPr/>
        </p:nvSpPr>
        <p:spPr>
          <a:xfrm xmlns:a="http://schemas.openxmlformats.org/drawingml/2006/main">
            <a:off x="1524000" y="6115050"/>
            <a:ext cx="1476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050" b="0">
                <a:solidFill>
                  <a:srgbClr val="5E748A"/>
                </a:solidFill>
                <a:latin typeface="Arial"/>
                <a:ea typeface="Arial"/>
                <a:cs typeface="Arial"/>
              </a:defRPr>
            </a:pPr>
            <a:r>
              <a:rPr sz="1050" b="0">
                <a:solidFill>
                  <a:srgbClr val="5E748A"/>
                </a:solidFill>
                <a:latin typeface="Arial"/>
                <a:ea typeface="Arial"/>
                <a:cs typeface="Arial"/>
              </a:rPr>
              <a:t>cited findings</a:t>
            </a:r>
          </a:p>
        </p:txBody>
      </p:sp>
      <p:sp>
        <p:nvSpPr>
          <p:cNvPr id="24" name="">
            <a:extLst xmlns:a="http://schemas.openxmlformats.org/drawingml/2006/main">
              <a:ext uri="{FF2B5EF4-FFF2-40B4-BE49-F238E27FC236}">
                <a16:creationId xmlns:a16="http://schemas.microsoft.com/office/drawing/2014/main" id="{DCD56BEF-3196-403E-BED2-21A81B6A528C}"/>
              </a:ext>
            </a:extLst>
          </p:cNvPr>
          <p:cNvSpPr>
            <a:spLocks xmlns:a="http://schemas.openxmlformats.org/drawingml/2006/main" noGrp="1"/>
          </p:cNvSpPr>
          <p:nvPr/>
        </p:nvSpPr>
        <p:spPr>
          <a:xfrm xmlns:a="http://schemas.openxmlformats.org/drawingml/2006/main">
            <a:off x="3714750" y="5619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2400" b="1">
                <a:solidFill>
                  <a:srgbClr val="009B96"/>
                </a:solidFill>
                <a:latin typeface="Arial"/>
                <a:ea typeface="Arial"/>
                <a:cs typeface="Arial"/>
              </a:defRPr>
            </a:pPr>
            <a:r>
              <a:rPr sz="2400" b="1">
                <a:solidFill>
                  <a:srgbClr val="009B96"/>
                </a:solidFill>
                <a:latin typeface="Arial"/>
                <a:ea typeface="Arial"/>
                <a:cs typeface="Arial"/>
              </a:rPr>
              <a:t>6</a:t>
            </a:r>
          </a:p>
        </p:txBody>
      </p:sp>
      <p:sp>
        <p:nvSpPr>
          <p:cNvPr id="25" name="">
            <a:extLst xmlns:a="http://schemas.openxmlformats.org/drawingml/2006/main">
              <a:ext uri="{FF2B5EF4-FFF2-40B4-BE49-F238E27FC236}">
                <a16:creationId xmlns:a16="http://schemas.microsoft.com/office/drawing/2014/main" id="{9BB8F1CC-5CF5-41FB-B123-E1311FBD8E1F}"/>
              </a:ext>
            </a:extLst>
          </p:cNvPr>
          <p:cNvSpPr>
            <a:spLocks xmlns:a="http://schemas.openxmlformats.org/drawingml/2006/main" noGrp="1"/>
          </p:cNvSpPr>
          <p:nvPr/>
        </p:nvSpPr>
        <p:spPr>
          <a:xfrm xmlns:a="http://schemas.openxmlformats.org/drawingml/2006/main">
            <a:off x="3714750" y="6115050"/>
            <a:ext cx="1476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050" b="0">
                <a:solidFill>
                  <a:srgbClr val="5E748A"/>
                </a:solidFill>
                <a:latin typeface="Arial"/>
                <a:ea typeface="Arial"/>
                <a:cs typeface="Arial"/>
              </a:defRPr>
            </a:pPr>
            <a:r>
              <a:rPr sz="1050" b="0">
                <a:solidFill>
                  <a:srgbClr val="5E748A"/>
                </a:solidFill>
                <a:latin typeface="Arial"/>
                <a:ea typeface="Arial"/>
                <a:cs typeface="Arial"/>
              </a:rPr>
              <a:t>surviving branches</a:t>
            </a:r>
          </a:p>
        </p:txBody>
      </p:sp>
      <p:sp>
        <p:nvSpPr>
          <p:cNvPr id="26" name="">
            <a:extLst xmlns:a="http://schemas.openxmlformats.org/drawingml/2006/main">
              <a:ext uri="{FF2B5EF4-FFF2-40B4-BE49-F238E27FC236}">
                <a16:creationId xmlns:a16="http://schemas.microsoft.com/office/drawing/2014/main" id="{0CDD0ADC-1A00-4396-9345-E3B2F72CD6D0}"/>
              </a:ext>
            </a:extLst>
          </p:cNvPr>
          <p:cNvSpPr>
            <a:spLocks xmlns:a="http://schemas.openxmlformats.org/drawingml/2006/main" noGrp="1"/>
          </p:cNvSpPr>
          <p:nvPr/>
        </p:nvSpPr>
        <p:spPr>
          <a:xfrm xmlns:a="http://schemas.openxmlformats.org/drawingml/2006/main">
            <a:off x="5905500" y="5619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2400" b="1">
                <a:solidFill>
                  <a:srgbClr val="C94A4A"/>
                </a:solidFill>
                <a:latin typeface="Arial"/>
                <a:ea typeface="Arial"/>
                <a:cs typeface="Arial"/>
              </a:defRPr>
            </a:pPr>
            <a:r>
              <a:rPr sz="2400" b="1">
                <a:solidFill>
                  <a:srgbClr val="C94A4A"/>
                </a:solidFill>
                <a:latin typeface="Arial"/>
                <a:ea typeface="Arial"/>
                <a:cs typeface="Arial"/>
              </a:rPr>
              <a:t>25</a:t>
            </a:r>
          </a:p>
        </p:txBody>
      </p:sp>
      <p:sp>
        <p:nvSpPr>
          <p:cNvPr id="27" name="">
            <a:extLst xmlns:a="http://schemas.openxmlformats.org/drawingml/2006/main">
              <a:ext uri="{FF2B5EF4-FFF2-40B4-BE49-F238E27FC236}">
                <a16:creationId xmlns:a16="http://schemas.microsoft.com/office/drawing/2014/main" id="{7195BFB0-D323-40A5-B410-5AD8D4CC5517}"/>
              </a:ext>
            </a:extLst>
          </p:cNvPr>
          <p:cNvSpPr>
            <a:spLocks xmlns:a="http://schemas.openxmlformats.org/drawingml/2006/main" noGrp="1"/>
          </p:cNvSpPr>
          <p:nvPr/>
        </p:nvSpPr>
        <p:spPr>
          <a:xfrm xmlns:a="http://schemas.openxmlformats.org/drawingml/2006/main">
            <a:off x="5905500" y="6115050"/>
            <a:ext cx="1476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050" b="0">
                <a:solidFill>
                  <a:srgbClr val="5E748A"/>
                </a:solidFill>
                <a:latin typeface="Arial"/>
                <a:ea typeface="Arial"/>
                <a:cs typeface="Arial"/>
              </a:defRPr>
            </a:pPr>
            <a:r>
              <a:rPr sz="1050" b="0">
                <a:solidFill>
                  <a:srgbClr val="5E748A"/>
                </a:solidFill>
                <a:latin typeface="Arial"/>
                <a:ea typeface="Arial"/>
                <a:cs typeface="Arial"/>
              </a:rPr>
              <a:t>suspicion score</a:t>
            </a:r>
          </a:p>
        </p:txBody>
      </p:sp>
      <p:sp>
        <p:nvSpPr>
          <p:cNvPr id="28" name="">
            <a:extLst xmlns:a="http://schemas.openxmlformats.org/drawingml/2006/main">
              <a:ext uri="{FF2B5EF4-FFF2-40B4-BE49-F238E27FC236}">
                <a16:creationId xmlns:a16="http://schemas.microsoft.com/office/drawing/2014/main" id="{3B0D0027-5731-42C1-BAE6-B471B6088934}"/>
              </a:ext>
            </a:extLst>
          </p:cNvPr>
          <p:cNvSpPr>
            <a:spLocks xmlns:a="http://schemas.openxmlformats.org/drawingml/2006/main" noGrp="1"/>
          </p:cNvSpPr>
          <p:nvPr/>
        </p:nvSpPr>
        <p:spPr>
          <a:xfrm xmlns:a="http://schemas.openxmlformats.org/drawingml/2006/main">
            <a:off x="8096250" y="5619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2400" b="1">
                <a:solidFill>
                  <a:srgbClr val="D28A1D"/>
                </a:solidFill>
                <a:latin typeface="Arial"/>
                <a:ea typeface="Arial"/>
                <a:cs typeface="Arial"/>
              </a:defRPr>
            </a:pPr>
            <a:r>
              <a:rPr sz="2400" b="1">
                <a:solidFill>
                  <a:srgbClr val="D28A1D"/>
                </a:solidFill>
                <a:latin typeface="Arial"/>
                <a:ea typeface="Arial"/>
                <a:cs typeface="Arial"/>
              </a:rPr>
              <a:t>191.5s</a:t>
            </a:r>
          </a:p>
        </p:txBody>
      </p:sp>
      <p:sp>
        <p:nvSpPr>
          <p:cNvPr id="29" name="">
            <a:extLst xmlns:a="http://schemas.openxmlformats.org/drawingml/2006/main">
              <a:ext uri="{FF2B5EF4-FFF2-40B4-BE49-F238E27FC236}">
                <a16:creationId xmlns:a16="http://schemas.microsoft.com/office/drawing/2014/main" id="{C1B7C0B2-0852-4D57-85D5-3F0F426BA283}"/>
              </a:ext>
            </a:extLst>
          </p:cNvPr>
          <p:cNvSpPr>
            <a:spLocks xmlns:a="http://schemas.openxmlformats.org/drawingml/2006/main" noGrp="1"/>
          </p:cNvSpPr>
          <p:nvPr/>
        </p:nvSpPr>
        <p:spPr>
          <a:xfrm xmlns:a="http://schemas.openxmlformats.org/drawingml/2006/main">
            <a:off x="8096250" y="6115050"/>
            <a:ext cx="1476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050" b="0">
                <a:solidFill>
                  <a:srgbClr val="5E748A"/>
                </a:solidFill>
                <a:latin typeface="Arial"/>
                <a:ea typeface="Arial"/>
                <a:cs typeface="Arial"/>
              </a:defRPr>
            </a:pPr>
            <a:r>
              <a:rPr sz="1050" b="0">
                <a:solidFill>
                  <a:srgbClr val="5E748A"/>
                </a:solidFill>
                <a:latin typeface="Arial"/>
                <a:ea typeface="Arial"/>
                <a:cs typeface="Arial"/>
              </a:rPr>
              <a:t>observed runtime</a:t>
            </a:r>
          </a:p>
        </p:txBody>
      </p:sp>
    </p:spTree>
    <p:extLst>
      <p:ext uri="{BB962C8B-B14F-4D97-AF65-F5344CB8AC3E}">
        <p14:creationId xmlns:p14="http://schemas.microsoft.com/office/powerpoint/2010/main" val="278255293"/>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315102-7C5C-47E2-9E81-E5C3D56F60A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AAB46375-EF7B-4D52-9F21-EFC5EFEBEE82}"/>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NVDA financial example</a:t>
            </a:r>
          </a:p>
        </p:txBody>
      </p:sp>
      <p:sp>
        <p:nvSpPr>
          <p:cNvPr id="3" name="">
            <a:extLst xmlns:a="http://schemas.openxmlformats.org/drawingml/2006/main">
              <a:ext uri="{FF2B5EF4-FFF2-40B4-BE49-F238E27FC236}">
                <a16:creationId xmlns:a16="http://schemas.microsoft.com/office/drawing/2014/main" id="{0002BE76-272D-4D1C-AA61-F150A21C9D8E}"/>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charts use the same captured four-quarter values and deterministic calculation path as the report.</a:t>
            </a:r>
          </a:p>
        </p:txBody>
      </p:sp>
      <p:sp>
        <p:nvSpPr>
          <p:cNvPr id="4" name="">
            <a:extLst xmlns:a="http://schemas.openxmlformats.org/drawingml/2006/main">
              <a:ext uri="{FF2B5EF4-FFF2-40B4-BE49-F238E27FC236}">
                <a16:creationId xmlns:a16="http://schemas.microsoft.com/office/drawing/2014/main" id="{30DF30FD-0659-47DC-9EEF-68C79408E39E}"/>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C2FD4A3A-4840-4839-A2F9-483988BCA6CB}"/>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FA622165-199B-4E47-88C4-44FA58F8F026}"/>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14</a:t>
            </a:r>
          </a:p>
        </p:txBody>
      </p:sp>
      <p:graphicFrame>
        <p:nvGraphicFramePr>
          <p:cNvPr id="19" name="Chart"/>
          <p:cNvGraphicFramePr/>
          <p:nvPr/>
        </p:nvGraphicFramePr>
        <p:xfrm>
          <a:off xmlns:a="http://schemas.openxmlformats.org/drawingml/2006/main" x="666750" y="1428750"/>
          <a:ext xmlns:a="http://schemas.openxmlformats.org/drawingml/2006/main" cx="5095875" cy="3143250"/>
        </p:xfrm>
        <a:graphic xmlns:a="http://schemas.openxmlformats.org/drawingml/2006/main">
          <a:graphicData uri="http://schemas.openxmlformats.org/drawingml/2006/chart">
            <c:chart xmlns:r="http://schemas.openxmlformats.org/officeDocument/2006/relationships" xmlns:c="http://schemas.openxmlformats.org/drawingml/2006/chart" r:id="R1b637384fcaa4646"/>
          </a:graphicData>
        </a:graphic>
      </p:graphicFrame>
      <p:graphicFrame>
        <p:nvGraphicFramePr>
          <p:cNvPr id="20" name="Chart"/>
          <p:cNvGraphicFramePr/>
          <p:nvPr/>
        </p:nvGraphicFramePr>
        <p:xfrm>
          <a:off xmlns:a="http://schemas.openxmlformats.org/drawingml/2006/main" x="6143625" y="1428750"/>
          <a:ext xmlns:a="http://schemas.openxmlformats.org/drawingml/2006/main" cx="5381625" cy="3143250"/>
        </p:xfrm>
        <a:graphic xmlns:a="http://schemas.openxmlformats.org/drawingml/2006/main">
          <a:graphicData uri="http://schemas.openxmlformats.org/drawingml/2006/chart">
            <c:chart xmlns:r="http://schemas.openxmlformats.org/officeDocument/2006/relationships" xmlns:c="http://schemas.openxmlformats.org/drawingml/2006/chart" r:id="Rb5b2ffe6ca0445b2"/>
          </a:graphicData>
        </a:graphic>
      </p:graphicFrame>
      <p:sp>
        <p:nvSpPr>
          <p:cNvPr id="9" name="">
            <a:extLst xmlns:a="http://schemas.openxmlformats.org/drawingml/2006/main">
              <a:ext uri="{FF2B5EF4-FFF2-40B4-BE49-F238E27FC236}">
                <a16:creationId xmlns:a16="http://schemas.microsoft.com/office/drawing/2014/main" id="{F07B43FA-AE1B-4117-87A5-00BEA503CD9B}"/>
              </a:ext>
            </a:extLst>
          </p:cNvPr>
          <p:cNvSpPr>
            <a:spLocks xmlns:a="http://schemas.openxmlformats.org/drawingml/2006/main" noGrp="1"/>
          </p:cNvSpPr>
          <p:nvPr/>
        </p:nvSpPr>
        <p:spPr>
          <a:xfrm xmlns:a="http://schemas.openxmlformats.org/drawingml/2006/main">
            <a:off x="838200" y="4933950"/>
            <a:ext cx="1038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425" b="0">
                <a:solidFill>
                  <a:srgbClr val="17324D"/>
                </a:solidFill>
                <a:latin typeface="Arial"/>
                <a:ea typeface="Arial"/>
                <a:cs typeface="Arial"/>
              </a:defRPr>
            </a:pPr>
            <a:r>
              <a:rPr sz="1425" b="0">
                <a:solidFill>
                  <a:srgbClr val="17324D"/>
                </a:solidFill>
                <a:latin typeface="Arial"/>
                <a:ea typeface="Arial"/>
                <a:cs typeface="Arial"/>
              </a:rPr>
              <a:t>Revenue rose from $57.006 billion to $96.221 billion across the captured window. Gross margin remained near 75 percent, while operating margin increased. Net margin and free cash flow margin were more variable.</a:t>
            </a:r>
          </a:p>
        </p:txBody>
      </p:sp>
    </p:spTree>
    <p:extLst>
      <p:ext uri="{BB962C8B-B14F-4D97-AF65-F5344CB8AC3E}">
        <p14:creationId xmlns:p14="http://schemas.microsoft.com/office/powerpoint/2010/main" val="1139199670"/>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510A524-3DCF-4679-9530-65748A778CC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724C5F53-C7AA-4A90-B101-765730C6251E}"/>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How to read the final report</a:t>
            </a:r>
          </a:p>
        </p:txBody>
      </p:sp>
      <p:sp>
        <p:nvSpPr>
          <p:cNvPr id="3" name="">
            <a:extLst xmlns:a="http://schemas.openxmlformats.org/drawingml/2006/main">
              <a:ext uri="{FF2B5EF4-FFF2-40B4-BE49-F238E27FC236}">
                <a16:creationId xmlns:a16="http://schemas.microsoft.com/office/drawing/2014/main" id="{4F44E513-D818-4377-9F58-8A2777DCE8CF}"/>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report separates financial facts, competing explanations, monitoring guidance, and source evidence.</a:t>
            </a:r>
          </a:p>
        </p:txBody>
      </p:sp>
      <p:sp>
        <p:nvSpPr>
          <p:cNvPr id="4" name="">
            <a:extLst xmlns:a="http://schemas.openxmlformats.org/drawingml/2006/main">
              <a:ext uri="{FF2B5EF4-FFF2-40B4-BE49-F238E27FC236}">
                <a16:creationId xmlns:a16="http://schemas.microsoft.com/office/drawing/2014/main" id="{F6ADD590-5BBC-4C9C-98D6-2F79EE64F569}"/>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C2BB0AA0-65E0-43E2-8921-5B9924E924B0}"/>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1055513B-6C63-4711-A6E5-CD49B4DB6DE7}"/>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9223BF06-2191-4572-8AE4-E862D8731B48}"/>
              </a:ext>
            </a:extLst>
          </p:cNvPr>
          <p:cNvSpPr>
            <a:spLocks xmlns:a="http://schemas.openxmlformats.org/drawingml/2006/main" noGrp="1"/>
          </p:cNvSpPr>
          <p:nvPr/>
        </p:nvSpPr>
        <p:spPr>
          <a:xfrm xmlns:a="http://schemas.openxmlformats.org/drawingml/2006/main">
            <a:off x="647700" y="1400175"/>
            <a:ext cx="66675" cy="819150"/>
          </a:xfrm>
          <a:prstGeom xmlns:a="http://schemas.openxmlformats.org/drawingml/2006/main" prst="roundRect">
            <a:avLst>
              <a:gd name="adj" fmla="val 42857"/>
            </a:avLst>
          </a:prstGeom>
          <a:solidFill xmlns:a="http://schemas.openxmlformats.org/drawingml/2006/main">
            <a:srgbClr val="3976B9"/>
          </a:solidFill>
          <a:ln xmlns:a="http://schemas.openxmlformats.org/drawingml/2006/main" w="0">
            <a:solidFill>
              <a:srgbClr val="3976B9"/>
            </a:solidFill>
            <a:prstDash val="solid"/>
          </a:ln>
        </p:spPr>
      </p:sp>
      <p:sp>
        <p:nvSpPr>
          <p:cNvPr id="8" name="">
            <a:extLst xmlns:a="http://schemas.openxmlformats.org/drawingml/2006/main">
              <a:ext uri="{FF2B5EF4-FFF2-40B4-BE49-F238E27FC236}">
                <a16:creationId xmlns:a16="http://schemas.microsoft.com/office/drawing/2014/main" id="{D966E008-4C96-4882-9464-E721B0D1E1D3}"/>
              </a:ext>
            </a:extLst>
          </p:cNvPr>
          <p:cNvSpPr>
            <a:spLocks xmlns:a="http://schemas.openxmlformats.org/drawingml/2006/main" noGrp="1"/>
          </p:cNvSpPr>
          <p:nvPr/>
        </p:nvSpPr>
        <p:spPr>
          <a:xfrm xmlns:a="http://schemas.openxmlformats.org/drawingml/2006/main">
            <a:off x="838200" y="1381125"/>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3976B9"/>
                </a:solidFill>
                <a:latin typeface="Arial"/>
                <a:ea typeface="Arial"/>
                <a:cs typeface="Arial"/>
              </a:defRPr>
            </a:pPr>
            <a:r>
              <a:rPr sz="1050" b="1">
                <a:solidFill>
                  <a:srgbClr val="3976B9"/>
                </a:solidFill>
                <a:latin typeface="Arial"/>
                <a:ea typeface="Arial"/>
                <a:cs typeface="Arial"/>
              </a:rPr>
              <a:t>Financial analysis</a:t>
            </a:r>
          </a:p>
        </p:txBody>
      </p:sp>
      <p:sp>
        <p:nvSpPr>
          <p:cNvPr id="9" name="">
            <a:extLst xmlns:a="http://schemas.openxmlformats.org/drawingml/2006/main">
              <a:ext uri="{FF2B5EF4-FFF2-40B4-BE49-F238E27FC236}">
                <a16:creationId xmlns:a16="http://schemas.microsoft.com/office/drawing/2014/main" id="{8981CFEB-D0CE-45C4-B496-A4B77839E523}"/>
              </a:ext>
            </a:extLst>
          </p:cNvPr>
          <p:cNvSpPr>
            <a:spLocks xmlns:a="http://schemas.openxmlformats.org/drawingml/2006/main" noGrp="1"/>
          </p:cNvSpPr>
          <p:nvPr/>
        </p:nvSpPr>
        <p:spPr>
          <a:xfrm xmlns:a="http://schemas.openxmlformats.org/drawingml/2006/main">
            <a:off x="838200" y="1647825"/>
            <a:ext cx="531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A latest-period snapshot, quarter comparisons, and charts explain what changed.</a:t>
            </a:r>
          </a:p>
        </p:txBody>
      </p:sp>
      <p:sp>
        <p:nvSpPr>
          <p:cNvPr id="10" name="">
            <a:extLst xmlns:a="http://schemas.openxmlformats.org/drawingml/2006/main">
              <a:ext uri="{FF2B5EF4-FFF2-40B4-BE49-F238E27FC236}">
                <a16:creationId xmlns:a16="http://schemas.microsoft.com/office/drawing/2014/main" id="{A548BBC0-2B77-4AC1-978F-0AD3B6B3FF4F}"/>
              </a:ext>
            </a:extLst>
          </p:cNvPr>
          <p:cNvSpPr>
            <a:spLocks xmlns:a="http://schemas.openxmlformats.org/drawingml/2006/main" noGrp="1"/>
          </p:cNvSpPr>
          <p:nvPr/>
        </p:nvSpPr>
        <p:spPr>
          <a:xfrm xmlns:a="http://schemas.openxmlformats.org/drawingml/2006/main">
            <a:off x="647700" y="2390775"/>
            <a:ext cx="66675" cy="819150"/>
          </a:xfrm>
          <a:prstGeom xmlns:a="http://schemas.openxmlformats.org/drawingml/2006/main" prst="roundRect">
            <a:avLst>
              <a:gd name="adj" fmla="val 42857"/>
            </a:avLst>
          </a:prstGeom>
          <a:solidFill xmlns:a="http://schemas.openxmlformats.org/drawingml/2006/main">
            <a:srgbClr val="2F8B5B"/>
          </a:solidFill>
          <a:ln xmlns:a="http://schemas.openxmlformats.org/drawingml/2006/main" w="0">
            <a:solidFill>
              <a:srgbClr val="2F8B5B"/>
            </a:solidFill>
            <a:prstDash val="solid"/>
          </a:ln>
        </p:spPr>
      </p:sp>
      <p:sp>
        <p:nvSpPr>
          <p:cNvPr id="11" name="">
            <a:extLst xmlns:a="http://schemas.openxmlformats.org/drawingml/2006/main">
              <a:ext uri="{FF2B5EF4-FFF2-40B4-BE49-F238E27FC236}">
                <a16:creationId xmlns:a16="http://schemas.microsoft.com/office/drawing/2014/main" id="{DBC78E70-3353-4D9E-8576-285E4D61C605}"/>
              </a:ext>
            </a:extLst>
          </p:cNvPr>
          <p:cNvSpPr>
            <a:spLocks xmlns:a="http://schemas.openxmlformats.org/drawingml/2006/main" noGrp="1"/>
          </p:cNvSpPr>
          <p:nvPr/>
        </p:nvSpPr>
        <p:spPr>
          <a:xfrm xmlns:a="http://schemas.openxmlformats.org/drawingml/2006/main">
            <a:off x="838200" y="2371725"/>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2F8B5B"/>
                </a:solidFill>
                <a:latin typeface="Arial"/>
                <a:ea typeface="Arial"/>
                <a:cs typeface="Arial"/>
              </a:defRPr>
            </a:pPr>
            <a:r>
              <a:rPr sz="1050" b="1">
                <a:solidFill>
                  <a:srgbClr val="2F8B5B"/>
                </a:solidFill>
                <a:latin typeface="Arial"/>
                <a:ea typeface="Arial"/>
                <a:cs typeface="Arial"/>
              </a:rPr>
              <a:t>Bull case</a:t>
            </a:r>
          </a:p>
        </p:txBody>
      </p:sp>
      <p:sp>
        <p:nvSpPr>
          <p:cNvPr id="12" name="">
            <a:extLst xmlns:a="http://schemas.openxmlformats.org/drawingml/2006/main">
              <a:ext uri="{FF2B5EF4-FFF2-40B4-BE49-F238E27FC236}">
                <a16:creationId xmlns:a16="http://schemas.microsoft.com/office/drawing/2014/main" id="{DF072157-2E07-4F42-B809-66F55759FA37}"/>
              </a:ext>
            </a:extLst>
          </p:cNvPr>
          <p:cNvSpPr>
            <a:spLocks xmlns:a="http://schemas.openxmlformats.org/drawingml/2006/main" noGrp="1"/>
          </p:cNvSpPr>
          <p:nvPr/>
        </p:nvSpPr>
        <p:spPr>
          <a:xfrm xmlns:a="http://schemas.openxmlformats.org/drawingml/2006/main">
            <a:off x="838200" y="2638425"/>
            <a:ext cx="531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Evidence is grouped by business theme, followed by a complete thesis and observable strengthening conditions.</a:t>
            </a:r>
          </a:p>
        </p:txBody>
      </p:sp>
      <p:sp>
        <p:nvSpPr>
          <p:cNvPr id="13" name="">
            <a:extLst xmlns:a="http://schemas.openxmlformats.org/drawingml/2006/main">
              <a:ext uri="{FF2B5EF4-FFF2-40B4-BE49-F238E27FC236}">
                <a16:creationId xmlns:a16="http://schemas.microsoft.com/office/drawing/2014/main" id="{1FB751A7-3EDA-4D33-A54B-CD9C22E32C20}"/>
              </a:ext>
            </a:extLst>
          </p:cNvPr>
          <p:cNvSpPr>
            <a:spLocks xmlns:a="http://schemas.openxmlformats.org/drawingml/2006/main" noGrp="1"/>
          </p:cNvSpPr>
          <p:nvPr/>
        </p:nvSpPr>
        <p:spPr>
          <a:xfrm xmlns:a="http://schemas.openxmlformats.org/drawingml/2006/main">
            <a:off x="647700" y="3381375"/>
            <a:ext cx="66675" cy="819150"/>
          </a:xfrm>
          <a:prstGeom xmlns:a="http://schemas.openxmlformats.org/drawingml/2006/main" prst="roundRect">
            <a:avLst>
              <a:gd name="adj" fmla="val 42857"/>
            </a:avLst>
          </a:prstGeom>
          <a:solidFill xmlns:a="http://schemas.openxmlformats.org/drawingml/2006/main">
            <a:srgbClr val="C94A4A"/>
          </a:solidFill>
          <a:ln xmlns:a="http://schemas.openxmlformats.org/drawingml/2006/main" w="0">
            <a:solidFill>
              <a:srgbClr val="C94A4A"/>
            </a:solidFill>
            <a:prstDash val="solid"/>
          </a:ln>
        </p:spPr>
      </p:sp>
      <p:sp>
        <p:nvSpPr>
          <p:cNvPr id="14" name="">
            <a:extLst xmlns:a="http://schemas.openxmlformats.org/drawingml/2006/main">
              <a:ext uri="{FF2B5EF4-FFF2-40B4-BE49-F238E27FC236}">
                <a16:creationId xmlns:a16="http://schemas.microsoft.com/office/drawing/2014/main" id="{5DE0AB56-0FDD-443D-808F-9667088244B5}"/>
              </a:ext>
            </a:extLst>
          </p:cNvPr>
          <p:cNvSpPr>
            <a:spLocks xmlns:a="http://schemas.openxmlformats.org/drawingml/2006/main" noGrp="1"/>
          </p:cNvSpPr>
          <p:nvPr/>
        </p:nvSpPr>
        <p:spPr>
          <a:xfrm xmlns:a="http://schemas.openxmlformats.org/drawingml/2006/main">
            <a:off x="838200" y="3362325"/>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C94A4A"/>
                </a:solidFill>
                <a:latin typeface="Arial"/>
                <a:ea typeface="Arial"/>
                <a:cs typeface="Arial"/>
              </a:defRPr>
            </a:pPr>
            <a:r>
              <a:rPr sz="1050" b="1">
                <a:solidFill>
                  <a:srgbClr val="C94A4A"/>
                </a:solidFill>
                <a:latin typeface="Arial"/>
                <a:ea typeface="Arial"/>
                <a:cs typeface="Arial"/>
              </a:rPr>
              <a:t>Bear case and risks</a:t>
            </a:r>
          </a:p>
        </p:txBody>
      </p:sp>
      <p:sp>
        <p:nvSpPr>
          <p:cNvPr id="15" name="">
            <a:extLst xmlns:a="http://schemas.openxmlformats.org/drawingml/2006/main">
              <a:ext uri="{FF2B5EF4-FFF2-40B4-BE49-F238E27FC236}">
                <a16:creationId xmlns:a16="http://schemas.microsoft.com/office/drawing/2014/main" id="{74F573F8-C2C3-4A2B-8F9C-C4C11E607C82}"/>
              </a:ext>
            </a:extLst>
          </p:cNvPr>
          <p:cNvSpPr>
            <a:spLocks xmlns:a="http://schemas.openxmlformats.org/drawingml/2006/main" noGrp="1"/>
          </p:cNvSpPr>
          <p:nvPr/>
        </p:nvSpPr>
        <p:spPr>
          <a:xfrm xmlns:a="http://schemas.openxmlformats.org/drawingml/2006/main">
            <a:off x="838200" y="3629025"/>
            <a:ext cx="531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Downside mechanisms receive the same evidence rules and include conditions that would weaken or confirm the concern.</a:t>
            </a:r>
          </a:p>
        </p:txBody>
      </p:sp>
      <p:sp>
        <p:nvSpPr>
          <p:cNvPr id="16" name="">
            <a:extLst xmlns:a="http://schemas.openxmlformats.org/drawingml/2006/main">
              <a:ext uri="{FF2B5EF4-FFF2-40B4-BE49-F238E27FC236}">
                <a16:creationId xmlns:a16="http://schemas.microsoft.com/office/drawing/2014/main" id="{E6785F1B-29CF-4DFF-AF84-8011B416B488}"/>
              </a:ext>
            </a:extLst>
          </p:cNvPr>
          <p:cNvSpPr>
            <a:spLocks xmlns:a="http://schemas.openxmlformats.org/drawingml/2006/main" noGrp="1"/>
          </p:cNvSpPr>
          <p:nvPr/>
        </p:nvSpPr>
        <p:spPr>
          <a:xfrm xmlns:a="http://schemas.openxmlformats.org/drawingml/2006/main">
            <a:off x="647700" y="4371975"/>
            <a:ext cx="66675" cy="819150"/>
          </a:xfrm>
          <a:prstGeom xmlns:a="http://schemas.openxmlformats.org/drawingml/2006/main" prst="roundRect">
            <a:avLst>
              <a:gd name="adj" fmla="val 42857"/>
            </a:avLst>
          </a:prstGeom>
          <a:solidFill xmlns:a="http://schemas.openxmlformats.org/drawingml/2006/main">
            <a:srgbClr val="009B96"/>
          </a:solidFill>
          <a:ln xmlns:a="http://schemas.openxmlformats.org/drawingml/2006/main" w="0">
            <a:solidFill>
              <a:srgbClr val="009B96"/>
            </a:solidFill>
            <a:prstDash val="solid"/>
          </a:ln>
        </p:spPr>
      </p:sp>
      <p:sp>
        <p:nvSpPr>
          <p:cNvPr id="17" name="">
            <a:extLst xmlns:a="http://schemas.openxmlformats.org/drawingml/2006/main">
              <a:ext uri="{FF2B5EF4-FFF2-40B4-BE49-F238E27FC236}">
                <a16:creationId xmlns:a16="http://schemas.microsoft.com/office/drawing/2014/main" id="{D7500330-99B6-4317-81B5-C018F78845C5}"/>
              </a:ext>
            </a:extLst>
          </p:cNvPr>
          <p:cNvSpPr>
            <a:spLocks xmlns:a="http://schemas.openxmlformats.org/drawingml/2006/main" noGrp="1"/>
          </p:cNvSpPr>
          <p:nvPr/>
        </p:nvSpPr>
        <p:spPr>
          <a:xfrm xmlns:a="http://schemas.openxmlformats.org/drawingml/2006/main">
            <a:off x="838200" y="4352925"/>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009B96"/>
                </a:solidFill>
                <a:latin typeface="Arial"/>
                <a:ea typeface="Arial"/>
                <a:cs typeface="Arial"/>
              </a:defRPr>
            </a:pPr>
            <a:r>
              <a:rPr sz="1050" b="1">
                <a:solidFill>
                  <a:srgbClr val="009B96"/>
                </a:solidFill>
                <a:latin typeface="Arial"/>
                <a:ea typeface="Arial"/>
                <a:cs typeface="Arial"/>
              </a:rPr>
              <a:t>Sources and evidence</a:t>
            </a:r>
          </a:p>
        </p:txBody>
      </p:sp>
      <p:sp>
        <p:nvSpPr>
          <p:cNvPr id="18" name="">
            <a:extLst xmlns:a="http://schemas.openxmlformats.org/drawingml/2006/main">
              <a:ext uri="{FF2B5EF4-FFF2-40B4-BE49-F238E27FC236}">
                <a16:creationId xmlns:a16="http://schemas.microsoft.com/office/drawing/2014/main" id="{5C41A097-A506-4F90-BE66-D9C28899ABBD}"/>
              </a:ext>
            </a:extLst>
          </p:cNvPr>
          <p:cNvSpPr>
            <a:spLocks xmlns:a="http://schemas.openxmlformats.org/drawingml/2006/main" noGrp="1"/>
          </p:cNvSpPr>
          <p:nvPr/>
        </p:nvSpPr>
        <p:spPr>
          <a:xfrm xmlns:a="http://schemas.openxmlformats.org/drawingml/2006/main">
            <a:off x="838200" y="4619625"/>
            <a:ext cx="5314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A separate section lists each claim, source, reporting period, supporting snippet, and clickable link when available.</a:t>
            </a:r>
          </a:p>
        </p:txBody>
      </p:sp>
      <p:sp>
        <p:nvSpPr>
          <p:cNvPr id="19" name="">
            <a:extLst xmlns:a="http://schemas.openxmlformats.org/drawingml/2006/main">
              <a:ext uri="{FF2B5EF4-FFF2-40B4-BE49-F238E27FC236}">
                <a16:creationId xmlns:a16="http://schemas.microsoft.com/office/drawing/2014/main" id="{28FE3968-7862-4242-8956-2C25AF1B6FF9}"/>
              </a:ext>
            </a:extLst>
          </p:cNvPr>
          <p:cNvSpPr>
            <a:spLocks xmlns:a="http://schemas.openxmlformats.org/drawingml/2006/main" noGrp="1"/>
          </p:cNvSpPr>
          <p:nvPr/>
        </p:nvSpPr>
        <p:spPr>
          <a:xfrm xmlns:a="http://schemas.openxmlformats.org/drawingml/2006/main">
            <a:off x="6667500" y="1428750"/>
            <a:ext cx="4524375" cy="4238625"/>
          </a:xfrm>
          <a:prstGeom xmlns:a="http://schemas.openxmlformats.org/drawingml/2006/main" prst="roundRect">
            <a:avLst>
              <a:gd name="adj" fmla="val 3146"/>
            </a:avLst>
          </a:prstGeom>
          <a:solidFill xmlns:a="http://schemas.openxmlformats.org/drawingml/2006/main">
            <a:srgbClr val="FFFFFF"/>
          </a:solidFill>
          <a:ln xmlns:a="http://schemas.openxmlformats.org/drawingml/2006/main" w="9525">
            <a:solidFill>
              <a:srgbClr val="D5E0EA"/>
            </a:solidFill>
            <a:prstDash val="solid"/>
          </a:ln>
        </p:spPr>
      </p:sp>
      <p:sp>
        <p:nvSpPr>
          <p:cNvPr id="20" name="">
            <a:extLst xmlns:a="http://schemas.openxmlformats.org/drawingml/2006/main">
              <a:ext uri="{FF2B5EF4-FFF2-40B4-BE49-F238E27FC236}">
                <a16:creationId xmlns:a16="http://schemas.microsoft.com/office/drawing/2014/main" id="{F679C3DE-A712-45E9-A627-B3CBEE03684A}"/>
              </a:ext>
            </a:extLst>
          </p:cNvPr>
          <p:cNvSpPr>
            <a:spLocks xmlns:a="http://schemas.openxmlformats.org/drawingml/2006/main" noGrp="1"/>
          </p:cNvSpPr>
          <p:nvPr/>
        </p:nvSpPr>
        <p:spPr>
          <a:xfrm xmlns:a="http://schemas.openxmlformats.org/drawingml/2006/main">
            <a:off x="6934200" y="16287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1">
                <a:solidFill>
                  <a:srgbClr val="103A5C"/>
                </a:solidFill>
                <a:latin typeface="Arial"/>
                <a:ea typeface="Arial"/>
                <a:cs typeface="Arial"/>
              </a:defRPr>
            </a:pPr>
            <a:r>
              <a:rPr sz="1725" b="1">
                <a:solidFill>
                  <a:srgbClr val="103A5C"/>
                </a:solidFill>
                <a:latin typeface="Arial"/>
                <a:ea typeface="Arial"/>
                <a:cs typeface="Arial"/>
              </a:rPr>
              <a:t>Three different quality measures</a:t>
            </a:r>
          </a:p>
        </p:txBody>
      </p:sp>
      <p:sp>
        <p:nvSpPr>
          <p:cNvPr id="21" name="">
            <a:extLst xmlns:a="http://schemas.openxmlformats.org/drawingml/2006/main">
              <a:ext uri="{FF2B5EF4-FFF2-40B4-BE49-F238E27FC236}">
                <a16:creationId xmlns:a16="http://schemas.microsoft.com/office/drawing/2014/main" id="{9A56FE5D-2B4B-4D12-9C9E-6603A09EE985}"/>
              </a:ext>
            </a:extLst>
          </p:cNvPr>
          <p:cNvSpPr>
            <a:spLocks xmlns:a="http://schemas.openxmlformats.org/drawingml/2006/main" noGrp="1"/>
          </p:cNvSpPr>
          <p:nvPr/>
        </p:nvSpPr>
        <p:spPr>
          <a:xfrm xmlns:a="http://schemas.openxmlformats.org/drawingml/2006/main">
            <a:off x="6934200" y="21812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3976B9"/>
                </a:solidFill>
                <a:latin typeface="Arial"/>
                <a:ea typeface="Arial"/>
                <a:cs typeface="Arial"/>
              </a:defRPr>
            </a:pPr>
            <a:r>
              <a:rPr sz="1275" b="1">
                <a:solidFill>
                  <a:srgbClr val="3976B9"/>
                </a:solidFill>
                <a:latin typeface="Arial"/>
                <a:ea typeface="Arial"/>
                <a:cs typeface="Arial"/>
              </a:rPr>
              <a:t>Evidence score</a:t>
            </a:r>
          </a:p>
        </p:txBody>
      </p:sp>
      <p:sp>
        <p:nvSpPr>
          <p:cNvPr id="22" name="">
            <a:extLst xmlns:a="http://schemas.openxmlformats.org/drawingml/2006/main">
              <a:ext uri="{FF2B5EF4-FFF2-40B4-BE49-F238E27FC236}">
                <a16:creationId xmlns:a16="http://schemas.microsoft.com/office/drawing/2014/main" id="{49422A29-90F3-4EF5-8DC3-1ADC9BCE8942}"/>
              </a:ext>
            </a:extLst>
          </p:cNvPr>
          <p:cNvSpPr>
            <a:spLocks xmlns:a="http://schemas.openxmlformats.org/drawingml/2006/main" noGrp="1"/>
          </p:cNvSpPr>
          <p:nvPr/>
        </p:nvSpPr>
        <p:spPr>
          <a:xfrm xmlns:a="http://schemas.openxmlformats.org/drawingml/2006/main">
            <a:off x="6934200" y="2476500"/>
            <a:ext cx="38576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A 0.00 to 1.00 score for one thesis. It combines source support, consistency, materiality, and resilience. A score of 0.60 passes.</a:t>
            </a:r>
          </a:p>
        </p:txBody>
      </p:sp>
      <p:sp>
        <p:nvSpPr>
          <p:cNvPr id="23" name="">
            <a:extLst xmlns:a="http://schemas.openxmlformats.org/drawingml/2006/main">
              <a:ext uri="{FF2B5EF4-FFF2-40B4-BE49-F238E27FC236}">
                <a16:creationId xmlns:a16="http://schemas.microsoft.com/office/drawing/2014/main" id="{94D0E48D-E3D3-473A-A79C-A014A9F47CD6}"/>
              </a:ext>
            </a:extLst>
          </p:cNvPr>
          <p:cNvSpPr>
            <a:spLocks xmlns:a="http://schemas.openxmlformats.org/drawingml/2006/main" noGrp="1"/>
          </p:cNvSpPr>
          <p:nvPr/>
        </p:nvSpPr>
        <p:spPr>
          <a:xfrm xmlns:a="http://schemas.openxmlformats.org/drawingml/2006/main">
            <a:off x="6934200" y="34766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009B96"/>
                </a:solidFill>
                <a:latin typeface="Arial"/>
                <a:ea typeface="Arial"/>
                <a:cs typeface="Arial"/>
              </a:defRPr>
            </a:pPr>
            <a:r>
              <a:rPr sz="1275" b="1">
                <a:solidFill>
                  <a:srgbClr val="009B96"/>
                </a:solidFill>
                <a:latin typeface="Arial"/>
                <a:ea typeface="Arial"/>
                <a:cs typeface="Arial"/>
              </a:rPr>
              <a:t>Report confidence</a:t>
            </a:r>
          </a:p>
        </p:txBody>
      </p:sp>
      <p:sp>
        <p:nvSpPr>
          <p:cNvPr id="24" name="">
            <a:extLst xmlns:a="http://schemas.openxmlformats.org/drawingml/2006/main">
              <a:ext uri="{FF2B5EF4-FFF2-40B4-BE49-F238E27FC236}">
                <a16:creationId xmlns:a16="http://schemas.microsoft.com/office/drawing/2014/main" id="{2F97DA0F-F5AD-4200-8455-728AFE00E806}"/>
              </a:ext>
            </a:extLst>
          </p:cNvPr>
          <p:cNvSpPr>
            <a:spLocks xmlns:a="http://schemas.openxmlformats.org/drawingml/2006/main" noGrp="1"/>
          </p:cNvSpPr>
          <p:nvPr/>
        </p:nvSpPr>
        <p:spPr>
          <a:xfrm xmlns:a="http://schemas.openxmlformats.org/drawingml/2006/main">
            <a:off x="6934200" y="3771900"/>
            <a:ext cx="3857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A report-level explanation of how decisive and balanced the surviving bull and bear evidence is.</a:t>
            </a:r>
          </a:p>
        </p:txBody>
      </p:sp>
      <p:sp>
        <p:nvSpPr>
          <p:cNvPr id="25" name="">
            <a:extLst xmlns:a="http://schemas.openxmlformats.org/drawingml/2006/main">
              <a:ext uri="{FF2B5EF4-FFF2-40B4-BE49-F238E27FC236}">
                <a16:creationId xmlns:a16="http://schemas.microsoft.com/office/drawing/2014/main" id="{910A0FED-46F6-4785-97EA-A864DFB71EC2}"/>
              </a:ext>
            </a:extLst>
          </p:cNvPr>
          <p:cNvSpPr>
            <a:spLocks xmlns:a="http://schemas.openxmlformats.org/drawingml/2006/main" noGrp="1"/>
          </p:cNvSpPr>
          <p:nvPr/>
        </p:nvSpPr>
        <p:spPr>
          <a:xfrm xmlns:a="http://schemas.openxmlformats.org/drawingml/2006/main">
            <a:off x="6934200" y="458152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1">
                <a:solidFill>
                  <a:srgbClr val="C94A4A"/>
                </a:solidFill>
                <a:latin typeface="Arial"/>
                <a:ea typeface="Arial"/>
                <a:cs typeface="Arial"/>
              </a:defRPr>
            </a:pPr>
            <a:r>
              <a:rPr sz="1275" b="1">
                <a:solidFill>
                  <a:srgbClr val="C94A4A"/>
                </a:solidFill>
                <a:latin typeface="Arial"/>
                <a:ea typeface="Arial"/>
                <a:cs typeface="Arial"/>
              </a:rPr>
              <a:t>Suspicion score</a:t>
            </a:r>
          </a:p>
        </p:txBody>
      </p:sp>
      <p:sp>
        <p:nvSpPr>
          <p:cNvPr id="26" name="">
            <a:extLst xmlns:a="http://schemas.openxmlformats.org/drawingml/2006/main">
              <a:ext uri="{FF2B5EF4-FFF2-40B4-BE49-F238E27FC236}">
                <a16:creationId xmlns:a16="http://schemas.microsoft.com/office/drawing/2014/main" id="{93DEB291-974C-4E29-B06E-661386C3BBB0}"/>
              </a:ext>
            </a:extLst>
          </p:cNvPr>
          <p:cNvSpPr>
            <a:spLocks xmlns:a="http://schemas.openxmlformats.org/drawingml/2006/main" noGrp="1"/>
          </p:cNvSpPr>
          <p:nvPr/>
        </p:nvSpPr>
        <p:spPr>
          <a:xfrm xmlns:a="http://schemas.openxmlformats.org/drawingml/2006/main">
            <a:off x="6934200" y="4876800"/>
            <a:ext cx="3857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13" b="0">
                <a:solidFill>
                  <a:srgbClr val="17324D"/>
                </a:solidFill>
                <a:latin typeface="Arial"/>
                <a:ea typeface="Arial"/>
                <a:cs typeface="Arial"/>
              </a:defRPr>
            </a:pPr>
            <a:r>
              <a:rPr sz="1313" b="0">
                <a:solidFill>
                  <a:srgbClr val="17324D"/>
                </a:solidFill>
                <a:latin typeface="Arial"/>
                <a:ea typeface="Arial"/>
                <a:cs typeface="Arial"/>
              </a:rPr>
              <a:t>A 0 to 100 warning score from trajectory and quality signals. It helps route the run. It is not an error probability or an investment-loss estimate.</a:t>
            </a:r>
          </a:p>
        </p:txBody>
      </p:sp>
    </p:spTree>
    <p:extLst>
      <p:ext uri="{BB962C8B-B14F-4D97-AF65-F5344CB8AC3E}">
        <p14:creationId xmlns:p14="http://schemas.microsoft.com/office/powerpoint/2010/main" val="1823528062"/>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57D82B-D527-426F-A67F-E681710D3F6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A505475F-F401-42FE-9034-74B85B21B186}"/>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Evaluation method</a:t>
            </a:r>
          </a:p>
        </p:txBody>
      </p:sp>
      <p:sp>
        <p:nvSpPr>
          <p:cNvPr id="3" name="">
            <a:extLst xmlns:a="http://schemas.openxmlformats.org/drawingml/2006/main">
              <a:ext uri="{FF2B5EF4-FFF2-40B4-BE49-F238E27FC236}">
                <a16:creationId xmlns:a16="http://schemas.microsoft.com/office/drawing/2014/main" id="{06747B03-9A95-4C81-91F5-5D7AAD8E3CEB}"/>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project tests deterministic contracts separately from model-assisted behavior.</a:t>
            </a:r>
          </a:p>
        </p:txBody>
      </p:sp>
      <p:sp>
        <p:nvSpPr>
          <p:cNvPr id="4" name="">
            <a:extLst xmlns:a="http://schemas.openxmlformats.org/drawingml/2006/main">
              <a:ext uri="{FF2B5EF4-FFF2-40B4-BE49-F238E27FC236}">
                <a16:creationId xmlns:a16="http://schemas.microsoft.com/office/drawing/2014/main" id="{3E7EC7EB-9E13-4272-93F2-CFF6F85B70F2}"/>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08F3FB63-77A5-42CD-93D8-B18AE88B43E1}"/>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2BBACA3A-C8D3-467A-83C6-8385010878B0}"/>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16</a:t>
            </a:r>
          </a:p>
        </p:txBody>
      </p:sp>
      <p:sp>
        <p:nvSpPr>
          <p:cNvPr id="7" name="">
            <a:extLst xmlns:a="http://schemas.openxmlformats.org/drawingml/2006/main">
              <a:ext uri="{FF2B5EF4-FFF2-40B4-BE49-F238E27FC236}">
                <a16:creationId xmlns:a16="http://schemas.microsoft.com/office/drawing/2014/main" id="{AB37890E-012E-4412-9795-2A0FDFB152D6}"/>
              </a:ext>
            </a:extLst>
          </p:cNvPr>
          <p:cNvSpPr>
            <a:spLocks xmlns:a="http://schemas.openxmlformats.org/drawingml/2006/main" noGrp="1"/>
          </p:cNvSpPr>
          <p:nvPr/>
        </p:nvSpPr>
        <p:spPr>
          <a:xfrm xmlns:a="http://schemas.openxmlformats.org/drawingml/2006/main">
            <a:off x="666750" y="1447800"/>
            <a:ext cx="66675" cy="1771650"/>
          </a:xfrm>
          <a:prstGeom xmlns:a="http://schemas.openxmlformats.org/drawingml/2006/main" prst="roundRect">
            <a:avLst>
              <a:gd name="adj" fmla="val 42857"/>
            </a:avLst>
          </a:prstGeom>
          <a:solidFill xmlns:a="http://schemas.openxmlformats.org/drawingml/2006/main">
            <a:srgbClr val="3976B9"/>
          </a:solidFill>
          <a:ln xmlns:a="http://schemas.openxmlformats.org/drawingml/2006/main" w="0">
            <a:solidFill>
              <a:srgbClr val="3976B9"/>
            </a:solidFill>
            <a:prstDash val="solid"/>
          </a:ln>
        </p:spPr>
      </p:sp>
      <p:sp>
        <p:nvSpPr>
          <p:cNvPr id="8" name="">
            <a:extLst xmlns:a="http://schemas.openxmlformats.org/drawingml/2006/main">
              <a:ext uri="{FF2B5EF4-FFF2-40B4-BE49-F238E27FC236}">
                <a16:creationId xmlns:a16="http://schemas.microsoft.com/office/drawing/2014/main" id="{8AA0789E-7A1D-440D-8673-C679F6634960}"/>
              </a:ext>
            </a:extLst>
          </p:cNvPr>
          <p:cNvSpPr>
            <a:spLocks xmlns:a="http://schemas.openxmlformats.org/drawingml/2006/main" noGrp="1"/>
          </p:cNvSpPr>
          <p:nvPr/>
        </p:nvSpPr>
        <p:spPr>
          <a:xfrm xmlns:a="http://schemas.openxmlformats.org/drawingml/2006/main">
            <a:off x="857250" y="1428750"/>
            <a:ext cx="4905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3976B9"/>
                </a:solidFill>
                <a:latin typeface="Arial"/>
                <a:ea typeface="Arial"/>
                <a:cs typeface="Arial"/>
              </a:defRPr>
            </a:pPr>
            <a:r>
              <a:rPr sz="1050" b="1">
                <a:solidFill>
                  <a:srgbClr val="3976B9"/>
                </a:solidFill>
                <a:latin typeface="Arial"/>
                <a:ea typeface="Arial"/>
                <a:cs typeface="Arial"/>
              </a:rPr>
              <a:t>AUTOMATED COMPONENT TESTS</a:t>
            </a:r>
          </a:p>
        </p:txBody>
      </p:sp>
      <p:sp>
        <p:nvSpPr>
          <p:cNvPr id="9" name="">
            <a:extLst xmlns:a="http://schemas.openxmlformats.org/drawingml/2006/main">
              <a:ext uri="{FF2B5EF4-FFF2-40B4-BE49-F238E27FC236}">
                <a16:creationId xmlns:a16="http://schemas.microsoft.com/office/drawing/2014/main" id="{5305BC73-7A51-49B0-A338-7CC04B5EFB5B}"/>
              </a:ext>
            </a:extLst>
          </p:cNvPr>
          <p:cNvSpPr>
            <a:spLocks xmlns:a="http://schemas.openxmlformats.org/drawingml/2006/main" noGrp="1"/>
          </p:cNvSpPr>
          <p:nvPr/>
        </p:nvSpPr>
        <p:spPr>
          <a:xfrm xmlns:a="http://schemas.openxmlformats.org/drawingml/2006/main">
            <a:off x="857250" y="1695450"/>
            <a:ext cx="48863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The local suite contains 315 tests. It covers graph routes, loop limits, tools, calculations, RAG filters, citations, score thresholds, source links, report rendering, caching, monitoring, and human-review resume behavior.</a:t>
            </a:r>
          </a:p>
        </p:txBody>
      </p:sp>
      <p:sp>
        <p:nvSpPr>
          <p:cNvPr id="10" name="">
            <a:extLst xmlns:a="http://schemas.openxmlformats.org/drawingml/2006/main">
              <a:ext uri="{FF2B5EF4-FFF2-40B4-BE49-F238E27FC236}">
                <a16:creationId xmlns:a16="http://schemas.microsoft.com/office/drawing/2014/main" id="{0589B5FD-71D9-480C-A58A-6C695296F5CC}"/>
              </a:ext>
            </a:extLst>
          </p:cNvPr>
          <p:cNvSpPr>
            <a:spLocks xmlns:a="http://schemas.openxmlformats.org/drawingml/2006/main" noGrp="1"/>
          </p:cNvSpPr>
          <p:nvPr/>
        </p:nvSpPr>
        <p:spPr>
          <a:xfrm xmlns:a="http://schemas.openxmlformats.org/drawingml/2006/main">
            <a:off x="666750" y="3590925"/>
            <a:ext cx="66675" cy="1771650"/>
          </a:xfrm>
          <a:prstGeom xmlns:a="http://schemas.openxmlformats.org/drawingml/2006/main" prst="roundRect">
            <a:avLst>
              <a:gd name="adj" fmla="val 42857"/>
            </a:avLst>
          </a:prstGeom>
          <a:solidFill xmlns:a="http://schemas.openxmlformats.org/drawingml/2006/main">
            <a:srgbClr val="009B96"/>
          </a:solidFill>
          <a:ln xmlns:a="http://schemas.openxmlformats.org/drawingml/2006/main" w="0">
            <a:solidFill>
              <a:srgbClr val="009B96"/>
            </a:solidFill>
            <a:prstDash val="solid"/>
          </a:ln>
        </p:spPr>
      </p:sp>
      <p:sp>
        <p:nvSpPr>
          <p:cNvPr id="11" name="">
            <a:extLst xmlns:a="http://schemas.openxmlformats.org/drawingml/2006/main">
              <a:ext uri="{FF2B5EF4-FFF2-40B4-BE49-F238E27FC236}">
                <a16:creationId xmlns:a16="http://schemas.microsoft.com/office/drawing/2014/main" id="{E0D7005C-5BCD-485B-9265-4B1D19070F5E}"/>
              </a:ext>
            </a:extLst>
          </p:cNvPr>
          <p:cNvSpPr>
            <a:spLocks xmlns:a="http://schemas.openxmlformats.org/drawingml/2006/main" noGrp="1"/>
          </p:cNvSpPr>
          <p:nvPr/>
        </p:nvSpPr>
        <p:spPr>
          <a:xfrm xmlns:a="http://schemas.openxmlformats.org/drawingml/2006/main">
            <a:off x="857250" y="3571875"/>
            <a:ext cx="4905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009B96"/>
                </a:solidFill>
                <a:latin typeface="Arial"/>
                <a:ea typeface="Arial"/>
                <a:cs typeface="Arial"/>
              </a:defRPr>
            </a:pPr>
            <a:r>
              <a:rPr sz="1050" b="1">
                <a:solidFill>
                  <a:srgbClr val="009B96"/>
                </a:solidFill>
                <a:latin typeface="Arial"/>
                <a:ea typeface="Arial"/>
                <a:cs typeface="Arial"/>
              </a:rPr>
              <a:t>BEHAVIORAL EVALUATORS</a:t>
            </a:r>
          </a:p>
        </p:txBody>
      </p:sp>
      <p:sp>
        <p:nvSpPr>
          <p:cNvPr id="12" name="">
            <a:extLst xmlns:a="http://schemas.openxmlformats.org/drawingml/2006/main">
              <a:ext uri="{FF2B5EF4-FFF2-40B4-BE49-F238E27FC236}">
                <a16:creationId xmlns:a16="http://schemas.microsoft.com/office/drawing/2014/main" id="{95B1057C-B43F-43B0-83FA-A2D9F98DD4FE}"/>
              </a:ext>
            </a:extLst>
          </p:cNvPr>
          <p:cNvSpPr>
            <a:spLocks xmlns:a="http://schemas.openxmlformats.org/drawingml/2006/main" noGrp="1"/>
          </p:cNvSpPr>
          <p:nvPr/>
        </p:nvSpPr>
        <p:spPr>
          <a:xfrm xmlns:a="http://schemas.openxmlformats.org/drawingml/2006/main">
            <a:off x="857250" y="3838575"/>
            <a:ext cx="48863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Synthetic cases measure groundedness, unsupported claims, numeric correctness, overconfidence, confidence calibration, answer relevance, retrieval relevance, and faithfulness to retrieved context.</a:t>
            </a:r>
          </a:p>
        </p:txBody>
      </p:sp>
      <p:sp>
        <p:nvSpPr>
          <p:cNvPr id="13" name="">
            <a:extLst xmlns:a="http://schemas.openxmlformats.org/drawingml/2006/main">
              <a:ext uri="{FF2B5EF4-FFF2-40B4-BE49-F238E27FC236}">
                <a16:creationId xmlns:a16="http://schemas.microsoft.com/office/drawing/2014/main" id="{8A8478C6-F94F-4171-8920-2A20DB2A4E33}"/>
              </a:ext>
            </a:extLst>
          </p:cNvPr>
          <p:cNvSpPr>
            <a:spLocks xmlns:a="http://schemas.openxmlformats.org/drawingml/2006/main" noGrp="1"/>
          </p:cNvSpPr>
          <p:nvPr/>
        </p:nvSpPr>
        <p:spPr>
          <a:xfrm xmlns:a="http://schemas.openxmlformats.org/drawingml/2006/main">
            <a:off x="6381750" y="1447800"/>
            <a:ext cx="66675" cy="1771650"/>
          </a:xfrm>
          <a:prstGeom xmlns:a="http://schemas.openxmlformats.org/drawingml/2006/main" prst="roundRect">
            <a:avLst>
              <a:gd name="adj" fmla="val 42857"/>
            </a:avLst>
          </a:prstGeom>
          <a:solidFill xmlns:a="http://schemas.openxmlformats.org/drawingml/2006/main">
            <a:srgbClr val="D28A1D"/>
          </a:solidFill>
          <a:ln xmlns:a="http://schemas.openxmlformats.org/drawingml/2006/main" w="0">
            <a:solidFill>
              <a:srgbClr val="D28A1D"/>
            </a:solidFill>
            <a:prstDash val="solid"/>
          </a:ln>
        </p:spPr>
      </p:sp>
      <p:sp>
        <p:nvSpPr>
          <p:cNvPr id="14" name="">
            <a:extLst xmlns:a="http://schemas.openxmlformats.org/drawingml/2006/main">
              <a:ext uri="{FF2B5EF4-FFF2-40B4-BE49-F238E27FC236}">
                <a16:creationId xmlns:a16="http://schemas.microsoft.com/office/drawing/2014/main" id="{D02B1D48-3486-494B-BE73-28B2D335BDD3}"/>
              </a:ext>
            </a:extLst>
          </p:cNvPr>
          <p:cNvSpPr>
            <a:spLocks xmlns:a="http://schemas.openxmlformats.org/drawingml/2006/main" noGrp="1"/>
          </p:cNvSpPr>
          <p:nvPr/>
        </p:nvSpPr>
        <p:spPr>
          <a:xfrm xmlns:a="http://schemas.openxmlformats.org/drawingml/2006/main">
            <a:off x="6572250" y="1428750"/>
            <a:ext cx="4905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D28A1D"/>
                </a:solidFill>
                <a:latin typeface="Arial"/>
                <a:ea typeface="Arial"/>
                <a:cs typeface="Arial"/>
              </a:defRPr>
            </a:pPr>
            <a:r>
              <a:rPr sz="1050" b="1">
                <a:solidFill>
                  <a:srgbClr val="D28A1D"/>
                </a:solidFill>
                <a:latin typeface="Arial"/>
                <a:ea typeface="Arial"/>
                <a:cs typeface="Arial"/>
              </a:rPr>
              <a:t>GUARDRAIL ABLATION</a:t>
            </a:r>
          </a:p>
        </p:txBody>
      </p:sp>
      <p:sp>
        <p:nvSpPr>
          <p:cNvPr id="15" name="">
            <a:extLst xmlns:a="http://schemas.openxmlformats.org/drawingml/2006/main">
              <a:ext uri="{FF2B5EF4-FFF2-40B4-BE49-F238E27FC236}">
                <a16:creationId xmlns:a16="http://schemas.microsoft.com/office/drawing/2014/main" id="{0A0B69E7-FCE1-4202-BA97-285B4A8BA227}"/>
              </a:ext>
            </a:extLst>
          </p:cNvPr>
          <p:cNvSpPr>
            <a:spLocks xmlns:a="http://schemas.openxmlformats.org/drawingml/2006/main" noGrp="1"/>
          </p:cNvSpPr>
          <p:nvPr/>
        </p:nvSpPr>
        <p:spPr>
          <a:xfrm xmlns:a="http://schemas.openxmlformats.org/drawingml/2006/main">
            <a:off x="6572250" y="1695450"/>
            <a:ext cx="48863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The same cases run with no controls, input controls only, generation controls only, output controls only, and the complete stack. This shows which layer catches each failure type.</a:t>
            </a:r>
          </a:p>
        </p:txBody>
      </p:sp>
      <p:sp>
        <p:nvSpPr>
          <p:cNvPr id="16" name="">
            <a:extLst xmlns:a="http://schemas.openxmlformats.org/drawingml/2006/main">
              <a:ext uri="{FF2B5EF4-FFF2-40B4-BE49-F238E27FC236}">
                <a16:creationId xmlns:a16="http://schemas.microsoft.com/office/drawing/2014/main" id="{0FB14076-70D8-438E-B6B6-E5CF616DAE4E}"/>
              </a:ext>
            </a:extLst>
          </p:cNvPr>
          <p:cNvSpPr>
            <a:spLocks xmlns:a="http://schemas.openxmlformats.org/drawingml/2006/main" noGrp="1"/>
          </p:cNvSpPr>
          <p:nvPr/>
        </p:nvSpPr>
        <p:spPr>
          <a:xfrm xmlns:a="http://schemas.openxmlformats.org/drawingml/2006/main">
            <a:off x="6381750" y="3590925"/>
            <a:ext cx="66675" cy="1771650"/>
          </a:xfrm>
          <a:prstGeom xmlns:a="http://schemas.openxmlformats.org/drawingml/2006/main" prst="roundRect">
            <a:avLst>
              <a:gd name="adj" fmla="val 42857"/>
            </a:avLst>
          </a:prstGeom>
          <a:solidFill xmlns:a="http://schemas.openxmlformats.org/drawingml/2006/main">
            <a:srgbClr val="C94A4A"/>
          </a:solidFill>
          <a:ln xmlns:a="http://schemas.openxmlformats.org/drawingml/2006/main" w="0">
            <a:solidFill>
              <a:srgbClr val="C94A4A"/>
            </a:solidFill>
            <a:prstDash val="solid"/>
          </a:ln>
        </p:spPr>
      </p:sp>
      <p:sp>
        <p:nvSpPr>
          <p:cNvPr id="17" name="">
            <a:extLst xmlns:a="http://schemas.openxmlformats.org/drawingml/2006/main">
              <a:ext uri="{FF2B5EF4-FFF2-40B4-BE49-F238E27FC236}">
                <a16:creationId xmlns:a16="http://schemas.microsoft.com/office/drawing/2014/main" id="{3C8E736C-DD0F-4DBB-9884-0245B59CD585}"/>
              </a:ext>
            </a:extLst>
          </p:cNvPr>
          <p:cNvSpPr>
            <a:spLocks xmlns:a="http://schemas.openxmlformats.org/drawingml/2006/main" noGrp="1"/>
          </p:cNvSpPr>
          <p:nvPr/>
        </p:nvSpPr>
        <p:spPr>
          <a:xfrm xmlns:a="http://schemas.openxmlformats.org/drawingml/2006/main">
            <a:off x="6572250" y="3571875"/>
            <a:ext cx="4905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C94A4A"/>
                </a:solidFill>
                <a:latin typeface="Arial"/>
                <a:ea typeface="Arial"/>
                <a:cs typeface="Arial"/>
              </a:defRPr>
            </a:pPr>
            <a:r>
              <a:rPr sz="1050" b="1">
                <a:solidFill>
                  <a:srgbClr val="C94A4A"/>
                </a:solidFill>
                <a:latin typeface="Arial"/>
                <a:ea typeface="Arial"/>
                <a:cs typeface="Arial"/>
              </a:rPr>
              <a:t>MONITOR CALIBRATION</a:t>
            </a:r>
          </a:p>
        </p:txBody>
      </p:sp>
      <p:sp>
        <p:nvSpPr>
          <p:cNvPr id="18" name="">
            <a:extLst xmlns:a="http://schemas.openxmlformats.org/drawingml/2006/main">
              <a:ext uri="{FF2B5EF4-FFF2-40B4-BE49-F238E27FC236}">
                <a16:creationId xmlns:a16="http://schemas.microsoft.com/office/drawing/2014/main" id="{0C85ADC5-9E35-46C0-A09D-6418AEA2B72C}"/>
              </a:ext>
            </a:extLst>
          </p:cNvPr>
          <p:cNvSpPr>
            <a:spLocks xmlns:a="http://schemas.openxmlformats.org/drawingml/2006/main" noGrp="1"/>
          </p:cNvSpPr>
          <p:nvPr/>
        </p:nvSpPr>
        <p:spPr>
          <a:xfrm xmlns:a="http://schemas.openxmlformats.org/drawingml/2006/main">
            <a:off x="6572250" y="3838575"/>
            <a:ext cx="48863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Nine labeled runs support a small receiver operating characteristic experiment for the suspicion threshold. The sample is useful for wiring and direction, but it is too small to establish production accuracy.</a:t>
            </a:r>
          </a:p>
        </p:txBody>
      </p:sp>
      <p:sp>
        <p:nvSpPr>
          <p:cNvPr id="19" name="">
            <a:extLst xmlns:a="http://schemas.openxmlformats.org/drawingml/2006/main">
              <a:ext uri="{FF2B5EF4-FFF2-40B4-BE49-F238E27FC236}">
                <a16:creationId xmlns:a16="http://schemas.microsoft.com/office/drawing/2014/main" id="{6EC2D3C2-3D6A-4344-AB66-9D8E26B0FD00}"/>
              </a:ext>
            </a:extLst>
          </p:cNvPr>
          <p:cNvSpPr>
            <a:spLocks xmlns:a="http://schemas.openxmlformats.org/drawingml/2006/main" noGrp="1"/>
          </p:cNvSpPr>
          <p:nvPr/>
        </p:nvSpPr>
        <p:spPr>
          <a:xfrm xmlns:a="http://schemas.openxmlformats.org/drawingml/2006/main">
            <a:off x="1238250" y="5734050"/>
            <a:ext cx="971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2593"/>
          </a:bodyPr>
          <a:lstStyle xmlns:a="http://schemas.openxmlformats.org/drawingml/2006/main"/>
          <a:p xmlns:a="http://schemas.openxmlformats.org/drawingml/2006/main">
            <a:pPr algn="ctr">
              <a:buNone/>
              <a:defRPr sz="1350" b="1">
                <a:solidFill>
                  <a:srgbClr val="103A5C"/>
                </a:solidFill>
                <a:latin typeface="Arial"/>
                <a:ea typeface="Arial"/>
                <a:cs typeface="Arial"/>
              </a:defRPr>
            </a:pPr>
            <a:r>
              <a:rPr sz="1350" b="1">
                <a:solidFill>
                  <a:srgbClr val="103A5C"/>
                </a:solidFill>
                <a:latin typeface="Arial"/>
                <a:ea typeface="Arial"/>
                <a:cs typeface="Arial"/>
              </a:rPr>
              <a:t>Evaluation separates implementation correctness from real-world research accuracy. The current evidence supports a prototype claim, not a production-performance claim.</a:t>
            </a:r>
          </a:p>
        </p:txBody>
      </p:sp>
    </p:spTree>
    <p:extLst>
      <p:ext uri="{BB962C8B-B14F-4D97-AF65-F5344CB8AC3E}">
        <p14:creationId xmlns:p14="http://schemas.microsoft.com/office/powerpoint/2010/main" val="251441720"/>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C4826AF-B417-41EE-B1B4-DA658AD5558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F27EA9AC-A7BF-4547-B07A-DF64287A56F0}"/>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Evaluation results</a:t>
            </a:r>
          </a:p>
        </p:txBody>
      </p:sp>
      <p:sp>
        <p:nvSpPr>
          <p:cNvPr id="3" name="">
            <a:extLst xmlns:a="http://schemas.openxmlformats.org/drawingml/2006/main">
              <a:ext uri="{FF2B5EF4-FFF2-40B4-BE49-F238E27FC236}">
                <a16:creationId xmlns:a16="http://schemas.microsoft.com/office/drawing/2014/main" id="{CD5DFD5B-C415-4E1B-A6E1-C88641840448}"/>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Layered controls catch different failure types, and the small samples define clear limits on interpretation.</a:t>
            </a:r>
          </a:p>
        </p:txBody>
      </p:sp>
      <p:sp>
        <p:nvSpPr>
          <p:cNvPr id="4" name="">
            <a:extLst xmlns:a="http://schemas.openxmlformats.org/drawingml/2006/main">
              <a:ext uri="{FF2B5EF4-FFF2-40B4-BE49-F238E27FC236}">
                <a16:creationId xmlns:a16="http://schemas.microsoft.com/office/drawing/2014/main" id="{F206178C-70B4-48ED-8F12-4F687FA4F2A4}"/>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BFBDA239-231F-4FA4-8EB2-39EFF920698F}"/>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B84C69F1-590C-4994-AE7E-3AD0443857C2}"/>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17</a:t>
            </a:r>
          </a:p>
        </p:txBody>
      </p:sp>
      <p:graphicFrame>
        <p:nvGraphicFramePr>
          <p:cNvPr id="22" name="Chart"/>
          <p:cNvGraphicFramePr/>
          <p:nvPr/>
        </p:nvGraphicFramePr>
        <p:xfrm>
          <a:off xmlns:a="http://schemas.openxmlformats.org/drawingml/2006/main" x="571500" y="1428750"/>
          <a:ext xmlns:a="http://schemas.openxmlformats.org/drawingml/2006/main" cx="6334125" cy="3619500"/>
        </p:xfrm>
        <a:graphic xmlns:a="http://schemas.openxmlformats.org/drawingml/2006/main">
          <a:graphicData uri="http://schemas.openxmlformats.org/drawingml/2006/chart">
            <c:chart xmlns:r="http://schemas.openxmlformats.org/officeDocument/2006/relationships" xmlns:c="http://schemas.openxmlformats.org/drawingml/2006/chart" r:id="R7fc565a569d44a71"/>
          </a:graphicData>
        </a:graphic>
      </p:graphicFrame>
      <p:sp>
        <p:nvSpPr>
          <p:cNvPr id="8" name="">
            <a:extLst xmlns:a="http://schemas.openxmlformats.org/drawingml/2006/main">
              <a:ext uri="{FF2B5EF4-FFF2-40B4-BE49-F238E27FC236}">
                <a16:creationId xmlns:a16="http://schemas.microsoft.com/office/drawing/2014/main" id="{E7AD8A75-0DBA-4424-AE26-AEE7640B63AD}"/>
              </a:ext>
            </a:extLst>
          </p:cNvPr>
          <p:cNvSpPr>
            <a:spLocks xmlns:a="http://schemas.openxmlformats.org/drawingml/2006/main" noGrp="1"/>
          </p:cNvSpPr>
          <p:nvPr/>
        </p:nvSpPr>
        <p:spPr>
          <a:xfrm xmlns:a="http://schemas.openxmlformats.org/drawingml/2006/main">
            <a:off x="7239000" y="146685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2F8B5B"/>
                </a:solidFill>
                <a:latin typeface="Arial"/>
                <a:ea typeface="Arial"/>
                <a:cs typeface="Arial"/>
              </a:defRPr>
            </a:pPr>
            <a:r>
              <a:rPr sz="1200" b="1">
                <a:solidFill>
                  <a:srgbClr val="2F8B5B"/>
                </a:solidFill>
                <a:latin typeface="Arial"/>
                <a:ea typeface="Arial"/>
                <a:cs typeface="Arial"/>
              </a:rPr>
              <a:t>Guardrails</a:t>
            </a:r>
          </a:p>
        </p:txBody>
      </p:sp>
      <p:sp>
        <p:nvSpPr>
          <p:cNvPr id="9" name="">
            <a:extLst xmlns:a="http://schemas.openxmlformats.org/drawingml/2006/main">
              <a:ext uri="{FF2B5EF4-FFF2-40B4-BE49-F238E27FC236}">
                <a16:creationId xmlns:a16="http://schemas.microsoft.com/office/drawing/2014/main" id="{5B5CE13A-E731-46ED-8235-B88310A251D5}"/>
              </a:ext>
            </a:extLst>
          </p:cNvPr>
          <p:cNvSpPr>
            <a:spLocks xmlns:a="http://schemas.openxmlformats.org/drawingml/2006/main" noGrp="1"/>
          </p:cNvSpPr>
          <p:nvPr/>
        </p:nvSpPr>
        <p:spPr>
          <a:xfrm xmlns:a="http://schemas.openxmlformats.org/drawingml/2006/main">
            <a:off x="7239000" y="1771650"/>
            <a:ext cx="3952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complete stack caught all three seeded failures in the four-case ablation. Partial stacks caught different failure types, which supports the layered control design.</a:t>
            </a:r>
          </a:p>
        </p:txBody>
      </p:sp>
      <p:sp>
        <p:nvSpPr>
          <p:cNvPr id="10" name="">
            <a:extLst xmlns:a="http://schemas.openxmlformats.org/drawingml/2006/main">
              <a:ext uri="{FF2B5EF4-FFF2-40B4-BE49-F238E27FC236}">
                <a16:creationId xmlns:a16="http://schemas.microsoft.com/office/drawing/2014/main" id="{4140B294-FC2E-4485-9D98-82E5CC0E65AA}"/>
              </a:ext>
            </a:extLst>
          </p:cNvPr>
          <p:cNvSpPr>
            <a:spLocks xmlns:a="http://schemas.openxmlformats.org/drawingml/2006/main" noGrp="1"/>
          </p:cNvSpPr>
          <p:nvPr/>
        </p:nvSpPr>
        <p:spPr>
          <a:xfrm xmlns:a="http://schemas.openxmlformats.org/drawingml/2006/main">
            <a:off x="7239000" y="30003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C94A4A"/>
                </a:solidFill>
                <a:latin typeface="Arial"/>
                <a:ea typeface="Arial"/>
                <a:cs typeface="Arial"/>
              </a:defRPr>
            </a:pPr>
            <a:r>
              <a:rPr sz="1200" b="1">
                <a:solidFill>
                  <a:srgbClr val="C94A4A"/>
                </a:solidFill>
                <a:latin typeface="Arial"/>
                <a:ea typeface="Arial"/>
                <a:cs typeface="Arial"/>
              </a:rPr>
              <a:t>Suspicion threshold</a:t>
            </a:r>
          </a:p>
        </p:txBody>
      </p:sp>
      <p:sp>
        <p:nvSpPr>
          <p:cNvPr id="11" name="">
            <a:extLst xmlns:a="http://schemas.openxmlformats.org/drawingml/2006/main">
              <a:ext uri="{FF2B5EF4-FFF2-40B4-BE49-F238E27FC236}">
                <a16:creationId xmlns:a16="http://schemas.microsoft.com/office/drawing/2014/main" id="{21BAE8DD-CE97-4E64-A933-0990BAD2422A}"/>
              </a:ext>
            </a:extLst>
          </p:cNvPr>
          <p:cNvSpPr>
            <a:spLocks xmlns:a="http://schemas.openxmlformats.org/drawingml/2006/main" noGrp="1"/>
          </p:cNvSpPr>
          <p:nvPr/>
        </p:nvSpPr>
        <p:spPr>
          <a:xfrm xmlns:a="http://schemas.openxmlformats.org/drawingml/2006/main">
            <a:off x="7239000" y="3305175"/>
            <a:ext cx="395287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nine labeled monitor runs produced AUC 1.00 and selected threshold 25 on that sample. The application keeps its operational review threshold at 50 because nine examples cannot establish a production threshold.</a:t>
            </a:r>
          </a:p>
        </p:txBody>
      </p:sp>
      <p:sp>
        <p:nvSpPr>
          <p:cNvPr id="12" name="">
            <a:extLst xmlns:a="http://schemas.openxmlformats.org/drawingml/2006/main">
              <a:ext uri="{FF2B5EF4-FFF2-40B4-BE49-F238E27FC236}">
                <a16:creationId xmlns:a16="http://schemas.microsoft.com/office/drawing/2014/main" id="{96726912-61BE-4011-9DB4-42A511E22B21}"/>
              </a:ext>
            </a:extLst>
          </p:cNvPr>
          <p:cNvSpPr>
            <a:spLocks xmlns:a="http://schemas.openxmlformats.org/drawingml/2006/main" noGrp="1"/>
          </p:cNvSpPr>
          <p:nvPr/>
        </p:nvSpPr>
        <p:spPr>
          <a:xfrm xmlns:a="http://schemas.openxmlformats.org/drawingml/2006/main">
            <a:off x="7239000" y="475297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00" b="1">
                <a:solidFill>
                  <a:srgbClr val="D28A1D"/>
                </a:solidFill>
                <a:latin typeface="Arial"/>
                <a:ea typeface="Arial"/>
                <a:cs typeface="Arial"/>
              </a:defRPr>
            </a:pPr>
            <a:r>
              <a:rPr sz="1200" b="1">
                <a:solidFill>
                  <a:srgbClr val="D28A1D"/>
                </a:solidFill>
                <a:latin typeface="Arial"/>
                <a:ea typeface="Arial"/>
                <a:cs typeface="Arial"/>
              </a:rPr>
              <a:t>Confidence calibration</a:t>
            </a:r>
          </a:p>
        </p:txBody>
      </p:sp>
      <p:sp>
        <p:nvSpPr>
          <p:cNvPr id="13" name="">
            <a:extLst xmlns:a="http://schemas.openxmlformats.org/drawingml/2006/main">
              <a:ext uri="{FF2B5EF4-FFF2-40B4-BE49-F238E27FC236}">
                <a16:creationId xmlns:a16="http://schemas.microsoft.com/office/drawing/2014/main" id="{31D2EE33-655A-4142-820D-14A782CE4DC6}"/>
              </a:ext>
            </a:extLst>
          </p:cNvPr>
          <p:cNvSpPr>
            <a:spLocks xmlns:a="http://schemas.openxmlformats.org/drawingml/2006/main" noGrp="1"/>
          </p:cNvSpPr>
          <p:nvPr/>
        </p:nvSpPr>
        <p:spPr>
          <a:xfrm xmlns:a="http://schemas.openxmlformats.org/drawingml/2006/main">
            <a:off x="7239000" y="5057775"/>
            <a:ext cx="39528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9537"/>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Expected Calibration Error was 0.3625 across four examples. Confidence is therefore presented as evidence decisiveness with a rationale, not as a calibrated probability.</a:t>
            </a:r>
          </a:p>
        </p:txBody>
      </p:sp>
    </p:spTree>
    <p:extLst>
      <p:ext uri="{BB962C8B-B14F-4D97-AF65-F5344CB8AC3E}">
        <p14:creationId xmlns:p14="http://schemas.microsoft.com/office/powerpoint/2010/main" val="51104923"/>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953A47-3854-47DD-A239-4E03C7D431A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1B24C3C0-ADA3-44FA-AB5F-990C84C235E1}"/>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Observability and LangSmith tracing</a:t>
            </a:r>
          </a:p>
        </p:txBody>
      </p:sp>
      <p:sp>
        <p:nvSpPr>
          <p:cNvPr id="3" name="">
            <a:extLst xmlns:a="http://schemas.openxmlformats.org/drawingml/2006/main">
              <a:ext uri="{FF2B5EF4-FFF2-40B4-BE49-F238E27FC236}">
                <a16:creationId xmlns:a16="http://schemas.microsoft.com/office/drawing/2014/main" id="{1E173779-72C1-403B-A526-FC4E060DE78F}"/>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system explains what ran, how long it took, why quality routing changed, and where a failure occurred.</a:t>
            </a:r>
          </a:p>
        </p:txBody>
      </p:sp>
      <p:sp>
        <p:nvSpPr>
          <p:cNvPr id="4" name="">
            <a:extLst xmlns:a="http://schemas.openxmlformats.org/drawingml/2006/main">
              <a:ext uri="{FF2B5EF4-FFF2-40B4-BE49-F238E27FC236}">
                <a16:creationId xmlns:a16="http://schemas.microsoft.com/office/drawing/2014/main" id="{E4594680-48F1-430F-836D-02A8DE409DD8}"/>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540DD5D4-BDEC-4A80-AA0F-5493C7E4568A}"/>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433ABE2B-52B7-4BCA-8FA3-C3EB83E82871}"/>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18</a:t>
            </a:r>
          </a:p>
        </p:txBody>
      </p:sp>
      <p:sp>
        <p:nvSpPr>
          <p:cNvPr id="7" name="">
            <a:extLst xmlns:a="http://schemas.openxmlformats.org/drawingml/2006/main">
              <a:ext uri="{FF2B5EF4-FFF2-40B4-BE49-F238E27FC236}">
                <a16:creationId xmlns:a16="http://schemas.microsoft.com/office/drawing/2014/main" id="{31F0A760-A927-497C-BE0B-FB6B0979A324}"/>
              </a:ext>
            </a:extLst>
          </p:cNvPr>
          <p:cNvSpPr>
            <a:spLocks xmlns:a="http://schemas.openxmlformats.org/drawingml/2006/main" noGrp="1"/>
          </p:cNvSpPr>
          <p:nvPr/>
        </p:nvSpPr>
        <p:spPr>
          <a:xfrm xmlns:a="http://schemas.openxmlformats.org/drawingml/2006/main">
            <a:off x="666750" y="13811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1">
                <a:solidFill>
                  <a:srgbClr val="3976B9"/>
                </a:solidFill>
                <a:latin typeface="Arial"/>
                <a:ea typeface="Arial"/>
                <a:cs typeface="Arial"/>
              </a:defRPr>
            </a:pPr>
            <a:r>
              <a:rPr sz="1725" b="1">
                <a:solidFill>
                  <a:srgbClr val="3976B9"/>
                </a:solidFill>
                <a:latin typeface="Arial"/>
                <a:ea typeface="Arial"/>
                <a:cs typeface="Arial"/>
              </a:rPr>
              <a:t>Local observability</a:t>
            </a:r>
          </a:p>
        </p:txBody>
      </p:sp>
      <p:sp>
        <p:nvSpPr>
          <p:cNvPr id="8" name="">
            <a:extLst xmlns:a="http://schemas.openxmlformats.org/drawingml/2006/main">
              <a:ext uri="{FF2B5EF4-FFF2-40B4-BE49-F238E27FC236}">
                <a16:creationId xmlns:a16="http://schemas.microsoft.com/office/drawing/2014/main" id="{405477FB-BFEE-48D9-BDAD-89C5B2723ECC}"/>
              </a:ext>
            </a:extLst>
          </p:cNvPr>
          <p:cNvSpPr>
            <a:spLocks xmlns:a="http://schemas.openxmlformats.org/drawingml/2006/main" noGrp="1"/>
          </p:cNvSpPr>
          <p:nvPr/>
        </p:nvSpPr>
        <p:spPr>
          <a:xfrm xmlns:a="http://schemas.openxmlformats.org/drawingml/2006/main">
            <a:off x="666750" y="1857375"/>
            <a:ext cx="3857625"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425" b="0">
                <a:solidFill>
                  <a:srgbClr val="17324D"/>
                </a:solidFill>
                <a:latin typeface="Arial"/>
                <a:ea typeface="Arial"/>
                <a:cs typeface="Arial"/>
              </a:defRPr>
            </a:pPr>
            <a:r>
              <a:rPr sz="1425" b="0">
                <a:solidFill>
                  <a:srgbClr val="17324D"/>
                </a:solidFill>
                <a:latin typeface="Arial"/>
                <a:ea typeface="Arial"/>
                <a:cs typeface="Arial"/>
              </a:rPr>
              <a:t>Each graph action appends a structured trajectory record with the action, safe arguments, observation, and status. A runtime profile records the duration and share of every stage. Quality and suspicion reports preserve the reasons for pass, repair, review, or withholding.</a:t>
            </a:r>
          </a:p>
        </p:txBody>
      </p:sp>
      <p:sp>
        <p:nvSpPr>
          <p:cNvPr id="9" name="">
            <a:extLst xmlns:a="http://schemas.openxmlformats.org/drawingml/2006/main">
              <a:ext uri="{FF2B5EF4-FFF2-40B4-BE49-F238E27FC236}">
                <a16:creationId xmlns:a16="http://schemas.microsoft.com/office/drawing/2014/main" id="{F3CC5EFA-AAD1-414F-A7C5-7B69DF72894C}"/>
              </a:ext>
            </a:extLst>
          </p:cNvPr>
          <p:cNvSpPr>
            <a:spLocks xmlns:a="http://schemas.openxmlformats.org/drawingml/2006/main" noGrp="1"/>
          </p:cNvSpPr>
          <p:nvPr/>
        </p:nvSpPr>
        <p:spPr>
          <a:xfrm xmlns:a="http://schemas.openxmlformats.org/drawingml/2006/main">
            <a:off x="666750" y="42386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1">
                <a:solidFill>
                  <a:srgbClr val="009B96"/>
                </a:solidFill>
                <a:latin typeface="Arial"/>
                <a:ea typeface="Arial"/>
                <a:cs typeface="Arial"/>
              </a:defRPr>
            </a:pPr>
            <a:r>
              <a:rPr sz="1725" b="1">
                <a:solidFill>
                  <a:srgbClr val="009B96"/>
                </a:solidFill>
                <a:latin typeface="Arial"/>
                <a:ea typeface="Arial"/>
                <a:cs typeface="Arial"/>
              </a:rPr>
              <a:t>LangSmith</a:t>
            </a:r>
          </a:p>
        </p:txBody>
      </p:sp>
      <p:sp>
        <p:nvSpPr>
          <p:cNvPr id="10" name="">
            <a:extLst xmlns:a="http://schemas.openxmlformats.org/drawingml/2006/main">
              <a:ext uri="{FF2B5EF4-FFF2-40B4-BE49-F238E27FC236}">
                <a16:creationId xmlns:a16="http://schemas.microsoft.com/office/drawing/2014/main" id="{86EE0AAE-85BB-40DE-B3EA-C83CFAB0715F}"/>
              </a:ext>
            </a:extLst>
          </p:cNvPr>
          <p:cNvSpPr>
            <a:spLocks xmlns:a="http://schemas.openxmlformats.org/drawingml/2006/main" noGrp="1"/>
          </p:cNvSpPr>
          <p:nvPr/>
        </p:nvSpPr>
        <p:spPr>
          <a:xfrm xmlns:a="http://schemas.openxmlformats.org/drawingml/2006/main">
            <a:off x="666750" y="4695825"/>
            <a:ext cx="385762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1344"/>
          </a:bodyPr>
          <a:lstStyle xmlns:a="http://schemas.openxmlformats.org/drawingml/2006/main"/>
          <a:p xmlns:a="http://schemas.openxmlformats.org/drawingml/2006/main">
            <a:pPr algn="l">
              <a:buNone/>
              <a:defRPr sz="1388" b="0">
                <a:solidFill>
                  <a:srgbClr val="17324D"/>
                </a:solidFill>
                <a:latin typeface="Arial"/>
                <a:ea typeface="Arial"/>
                <a:cs typeface="Arial"/>
              </a:defRPr>
            </a:pPr>
            <a:r>
              <a:rPr sz="1388" b="0">
                <a:solidFill>
                  <a:srgbClr val="17324D"/>
                </a:solidFill>
                <a:latin typeface="Arial"/>
                <a:ea typeface="Arial"/>
                <a:cs typeface="Arial"/>
              </a:rPr>
              <a:t>When enabled, LangSmith records the parent graph run and its nested model or tool runs. It supports latency analysis, error inspection, path comparison, tags, and run-to-run evaluation. Safe metadata can include the ticker, analysis window, request type, and thread identifier. Credentials and full source-document bodies stay out of trace metadata.</a:t>
            </a:r>
          </a:p>
        </p:txBody>
      </p:sp>
      <p:sp>
        <p:nvSpPr>
          <p:cNvPr id="11" name="">
            <a:extLst xmlns:a="http://schemas.openxmlformats.org/drawingml/2006/main">
              <a:ext uri="{FF2B5EF4-FFF2-40B4-BE49-F238E27FC236}">
                <a16:creationId xmlns:a16="http://schemas.microsoft.com/office/drawing/2014/main" id="{769D7A45-2519-40ED-BEFD-C372BFA097B4}"/>
              </a:ext>
            </a:extLst>
          </p:cNvPr>
          <p:cNvSpPr>
            <a:spLocks xmlns:a="http://schemas.openxmlformats.org/drawingml/2006/main" noGrp="1"/>
          </p:cNvSpPr>
          <p:nvPr/>
        </p:nvSpPr>
        <p:spPr>
          <a:xfrm xmlns:a="http://schemas.openxmlformats.org/drawingml/2006/main">
            <a:off x="5095875" y="1381125"/>
            <a:ext cx="6334125" cy="4619625"/>
          </a:xfrm>
          <a:prstGeom xmlns:a="http://schemas.openxmlformats.org/drawingml/2006/main" prst="roundRect">
            <a:avLst>
              <a:gd name="adj" fmla="val 2887"/>
            </a:avLst>
          </a:prstGeom>
          <a:solidFill xmlns:a="http://schemas.openxmlformats.org/drawingml/2006/main">
            <a:srgbClr val="FFFFFF"/>
          </a:solidFill>
          <a:ln xmlns:a="http://schemas.openxmlformats.org/drawingml/2006/main" w="9525">
            <a:solidFill>
              <a:srgbClr val="D5E0EA"/>
            </a:solidFill>
            <a:prstDash val="solid"/>
          </a:ln>
        </p:spPr>
      </p:sp>
      <p:sp>
        <p:nvSpPr>
          <p:cNvPr id="12" name="">
            <a:extLst xmlns:a="http://schemas.openxmlformats.org/drawingml/2006/main">
              <a:ext uri="{FF2B5EF4-FFF2-40B4-BE49-F238E27FC236}">
                <a16:creationId xmlns:a16="http://schemas.microsoft.com/office/drawing/2014/main" id="{3C0F4FB0-66B0-4C4C-B105-E525415058FE}"/>
              </a:ext>
            </a:extLst>
          </p:cNvPr>
          <p:cNvSpPr>
            <a:spLocks xmlns:a="http://schemas.openxmlformats.org/drawingml/2006/main" noGrp="1"/>
          </p:cNvSpPr>
          <p:nvPr/>
        </p:nvSpPr>
        <p:spPr>
          <a:xfrm xmlns:a="http://schemas.openxmlformats.org/drawingml/2006/main">
            <a:off x="5381625" y="1581150"/>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75" b="1">
                <a:solidFill>
                  <a:srgbClr val="103A5C"/>
                </a:solidFill>
                <a:latin typeface="Arial"/>
                <a:ea typeface="Arial"/>
                <a:cs typeface="Arial"/>
              </a:defRPr>
            </a:pPr>
            <a:r>
              <a:rPr sz="1575" b="1">
                <a:solidFill>
                  <a:srgbClr val="103A5C"/>
                </a:solidFill>
                <a:latin typeface="Arial"/>
                <a:ea typeface="Arial"/>
                <a:cs typeface="Arial"/>
              </a:rPr>
              <a:t>Illustrative LangSmith trace</a:t>
            </a:r>
          </a:p>
        </p:txBody>
      </p:sp>
      <p:sp>
        <p:nvSpPr>
          <p:cNvPr id="13" name="">
            <a:extLst xmlns:a="http://schemas.openxmlformats.org/drawingml/2006/main">
              <a:ext uri="{FF2B5EF4-FFF2-40B4-BE49-F238E27FC236}">
                <a16:creationId xmlns:a16="http://schemas.microsoft.com/office/drawing/2014/main" id="{166C0538-436C-4D6A-8F53-0319178AF9F9}"/>
              </a:ext>
            </a:extLst>
          </p:cNvPr>
          <p:cNvSpPr>
            <a:spLocks xmlns:a="http://schemas.openxmlformats.org/drawingml/2006/main" noGrp="1"/>
          </p:cNvSpPr>
          <p:nvPr/>
        </p:nvSpPr>
        <p:spPr>
          <a:xfrm xmlns:a="http://schemas.openxmlformats.org/drawingml/2006/main">
            <a:off x="10001250" y="1581150"/>
            <a:ext cx="1095375" cy="247650"/>
          </a:xfrm>
          <a:prstGeom xmlns:a="http://schemas.openxmlformats.org/drawingml/2006/main" prst="roundRect">
            <a:avLst>
              <a:gd name="adj" fmla="val 38462"/>
            </a:avLst>
          </a:prstGeom>
          <a:solidFill xmlns:a="http://schemas.openxmlformats.org/drawingml/2006/main">
            <a:srgbClr val="2F8B5B"/>
          </a:solidFill>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SUCCESS</a:t>
            </a:r>
          </a:p>
        </p:txBody>
      </p:sp>
      <p:sp>
        <p:nvSpPr>
          <p:cNvPr id="14" name="">
            <a:extLst xmlns:a="http://schemas.openxmlformats.org/drawingml/2006/main">
              <a:ext uri="{FF2B5EF4-FFF2-40B4-BE49-F238E27FC236}">
                <a16:creationId xmlns:a16="http://schemas.microsoft.com/office/drawing/2014/main" id="{74F588CE-3EEF-4B01-A666-C04147C18182}"/>
              </a:ext>
            </a:extLst>
          </p:cNvPr>
          <p:cNvSpPr>
            <a:spLocks xmlns:a="http://schemas.openxmlformats.org/drawingml/2006/main" noGrp="1"/>
          </p:cNvSpPr>
          <p:nvPr/>
        </p:nvSpPr>
        <p:spPr>
          <a:xfrm xmlns:a="http://schemas.openxmlformats.org/drawingml/2006/main">
            <a:off x="5429250" y="2152650"/>
            <a:ext cx="95250" cy="95250"/>
          </a:xfrm>
          <a:prstGeom xmlns:a="http://schemas.openxmlformats.org/drawingml/2006/main" prst="ellipse">
            <a:avLst/>
          </a:prstGeom>
          <a:solidFill xmlns:a="http://schemas.openxmlformats.org/drawingml/2006/main">
            <a:srgbClr val="103A5C"/>
          </a:solidFill>
          <a:ln xmlns:a="http://schemas.openxmlformats.org/drawingml/2006/main" w="0">
            <a:solidFill>
              <a:srgbClr val="103A5C"/>
            </a:solidFill>
            <a:prstDash val="solid"/>
          </a:ln>
        </p:spPr>
      </p:sp>
      <p:sp>
        <p:nvSpPr>
          <p:cNvPr id="15" name="">
            <a:extLst xmlns:a="http://schemas.openxmlformats.org/drawingml/2006/main">
              <a:ext uri="{FF2B5EF4-FFF2-40B4-BE49-F238E27FC236}">
                <a16:creationId xmlns:a16="http://schemas.microsoft.com/office/drawing/2014/main" id="{DDD33416-FE33-4B43-94D7-327E204C1581}"/>
              </a:ext>
            </a:extLst>
          </p:cNvPr>
          <p:cNvSpPr>
            <a:spLocks xmlns:a="http://schemas.openxmlformats.org/drawingml/2006/main" noGrp="1"/>
          </p:cNvSpPr>
          <p:nvPr/>
        </p:nvSpPr>
        <p:spPr>
          <a:xfrm xmlns:a="http://schemas.openxmlformats.org/drawingml/2006/main">
            <a:off x="5600700" y="20955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1">
                <a:solidFill>
                  <a:srgbClr val="17324D"/>
                </a:solidFill>
                <a:latin typeface="Arial"/>
                <a:ea typeface="Arial"/>
                <a:cs typeface="Arial"/>
              </a:defRPr>
            </a:pPr>
            <a:r>
              <a:rPr sz="1088" b="1">
                <a:solidFill>
                  <a:srgbClr val="17324D"/>
                </a:solidFill>
                <a:latin typeface="Arial"/>
                <a:ea typeface="Arial"/>
                <a:cs typeface="Arial"/>
              </a:rPr>
              <a:t>equity_research_graph</a:t>
            </a:r>
          </a:p>
        </p:txBody>
      </p:sp>
      <p:sp>
        <p:nvSpPr>
          <p:cNvPr id="16" name="">
            <a:extLst xmlns:a="http://schemas.openxmlformats.org/drawingml/2006/main">
              <a:ext uri="{FF2B5EF4-FFF2-40B4-BE49-F238E27FC236}">
                <a16:creationId xmlns:a16="http://schemas.microsoft.com/office/drawing/2014/main" id="{78CD3CF8-CEC4-4D91-9099-0FFA0FD956D5}"/>
              </a:ext>
            </a:extLst>
          </p:cNvPr>
          <p:cNvSpPr>
            <a:spLocks xmlns:a="http://schemas.openxmlformats.org/drawingml/2006/main" noGrp="1"/>
          </p:cNvSpPr>
          <p:nvPr/>
        </p:nvSpPr>
        <p:spPr>
          <a:xfrm xmlns:a="http://schemas.openxmlformats.org/drawingml/2006/main">
            <a:off x="7667625" y="20955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parent run</a:t>
            </a:r>
          </a:p>
        </p:txBody>
      </p:sp>
      <p:sp>
        <p:nvSpPr>
          <p:cNvPr id="17" name="">
            <a:extLst xmlns:a="http://schemas.openxmlformats.org/drawingml/2006/main">
              <a:ext uri="{FF2B5EF4-FFF2-40B4-BE49-F238E27FC236}">
                <a16:creationId xmlns:a16="http://schemas.microsoft.com/office/drawing/2014/main" id="{F00C9D15-6767-45C1-B332-88F23130EB3E}"/>
              </a:ext>
            </a:extLst>
          </p:cNvPr>
          <p:cNvSpPr>
            <a:spLocks xmlns:a="http://schemas.openxmlformats.org/drawingml/2006/main" noGrp="1"/>
          </p:cNvSpPr>
          <p:nvPr/>
        </p:nvSpPr>
        <p:spPr>
          <a:xfrm xmlns:a="http://schemas.openxmlformats.org/drawingml/2006/main">
            <a:off x="9096375" y="21336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18" name="">
            <a:extLst xmlns:a="http://schemas.openxmlformats.org/drawingml/2006/main">
              <a:ext uri="{FF2B5EF4-FFF2-40B4-BE49-F238E27FC236}">
                <a16:creationId xmlns:a16="http://schemas.microsoft.com/office/drawing/2014/main" id="{7E56072E-85B8-467A-A3EC-6DE3417A4051}"/>
              </a:ext>
            </a:extLst>
          </p:cNvPr>
          <p:cNvSpPr>
            <a:spLocks xmlns:a="http://schemas.openxmlformats.org/drawingml/2006/main" noGrp="1"/>
          </p:cNvSpPr>
          <p:nvPr/>
        </p:nvSpPr>
        <p:spPr>
          <a:xfrm xmlns:a="http://schemas.openxmlformats.org/drawingml/2006/main">
            <a:off x="9096375" y="2133600"/>
            <a:ext cx="1809750" cy="123825"/>
          </a:xfrm>
          <a:prstGeom xmlns:a="http://schemas.openxmlformats.org/drawingml/2006/main" prst="roundRect">
            <a:avLst>
              <a:gd name="adj" fmla="val 46154"/>
            </a:avLst>
          </a:prstGeom>
          <a:solidFill xmlns:a="http://schemas.openxmlformats.org/drawingml/2006/main">
            <a:srgbClr val="103A5C"/>
          </a:solidFill>
          <a:ln xmlns:a="http://schemas.openxmlformats.org/drawingml/2006/main" w="0">
            <a:solidFill>
              <a:srgbClr val="103A5C"/>
            </a:solidFill>
            <a:prstDash val="solid"/>
          </a:ln>
        </p:spPr>
      </p:sp>
      <p:sp>
        <p:nvSpPr>
          <p:cNvPr id="19" name="">
            <a:extLst xmlns:a="http://schemas.openxmlformats.org/drawingml/2006/main">
              <a:ext uri="{FF2B5EF4-FFF2-40B4-BE49-F238E27FC236}">
                <a16:creationId xmlns:a16="http://schemas.microsoft.com/office/drawing/2014/main" id="{4F90A15E-0844-4037-85C7-C1CF9CD389A6}"/>
              </a:ext>
            </a:extLst>
          </p:cNvPr>
          <p:cNvSpPr>
            <a:spLocks xmlns:a="http://schemas.openxmlformats.org/drawingml/2006/main" noGrp="1"/>
          </p:cNvSpPr>
          <p:nvPr/>
        </p:nvSpPr>
        <p:spPr>
          <a:xfrm xmlns:a="http://schemas.openxmlformats.org/drawingml/2006/main">
            <a:off x="5600700" y="2609850"/>
            <a:ext cx="95250" cy="95250"/>
          </a:xfrm>
          <a:prstGeom xmlns:a="http://schemas.openxmlformats.org/drawingml/2006/main" prst="ellipse">
            <a:avLst/>
          </a:prstGeom>
          <a:solidFill xmlns:a="http://schemas.openxmlformats.org/drawingml/2006/main">
            <a:srgbClr val="2F8B5B"/>
          </a:solidFill>
          <a:ln xmlns:a="http://schemas.openxmlformats.org/drawingml/2006/main" w="0">
            <a:solidFill>
              <a:srgbClr val="2F8B5B"/>
            </a:solidFill>
            <a:prstDash val="solid"/>
          </a:ln>
        </p:spPr>
      </p:sp>
      <p:sp>
        <p:nvSpPr>
          <p:cNvPr id="20" name="">
            <a:extLst xmlns:a="http://schemas.openxmlformats.org/drawingml/2006/main">
              <a:ext uri="{FF2B5EF4-FFF2-40B4-BE49-F238E27FC236}">
                <a16:creationId xmlns:a16="http://schemas.microsoft.com/office/drawing/2014/main" id="{28E1049A-CA37-4EBF-92E7-380301224E3F}"/>
              </a:ext>
            </a:extLst>
          </p:cNvPr>
          <p:cNvSpPr>
            <a:spLocks xmlns:a="http://schemas.openxmlformats.org/drawingml/2006/main" noGrp="1"/>
          </p:cNvSpPr>
          <p:nvPr/>
        </p:nvSpPr>
        <p:spPr>
          <a:xfrm xmlns:a="http://schemas.openxmlformats.org/drawingml/2006/main">
            <a:off x="5772150" y="2552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17324D"/>
                </a:solidFill>
                <a:latin typeface="Arial"/>
                <a:ea typeface="Arial"/>
                <a:cs typeface="Arial"/>
              </a:defRPr>
            </a:pPr>
            <a:r>
              <a:rPr sz="1088" b="0">
                <a:solidFill>
                  <a:srgbClr val="17324D"/>
                </a:solidFill>
                <a:latin typeface="Arial"/>
                <a:ea typeface="Arial"/>
                <a:cs typeface="Arial"/>
              </a:rPr>
              <a:t>source_setup</a:t>
            </a:r>
          </a:p>
        </p:txBody>
      </p:sp>
      <p:sp>
        <p:nvSpPr>
          <p:cNvPr id="21" name="">
            <a:extLst xmlns:a="http://schemas.openxmlformats.org/drawingml/2006/main">
              <a:ext uri="{FF2B5EF4-FFF2-40B4-BE49-F238E27FC236}">
                <a16:creationId xmlns:a16="http://schemas.microsoft.com/office/drawing/2014/main" id="{D41E673B-4219-42B9-809E-18B625D11E06}"/>
              </a:ext>
            </a:extLst>
          </p:cNvPr>
          <p:cNvSpPr>
            <a:spLocks xmlns:a="http://schemas.openxmlformats.org/drawingml/2006/main" noGrp="1"/>
          </p:cNvSpPr>
          <p:nvPr/>
        </p:nvSpPr>
        <p:spPr>
          <a:xfrm xmlns:a="http://schemas.openxmlformats.org/drawingml/2006/main">
            <a:off x="7667625" y="25527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document coverage</a:t>
            </a:r>
          </a:p>
        </p:txBody>
      </p:sp>
      <p:sp>
        <p:nvSpPr>
          <p:cNvPr id="22" name="">
            <a:extLst xmlns:a="http://schemas.openxmlformats.org/drawingml/2006/main">
              <a:ext uri="{FF2B5EF4-FFF2-40B4-BE49-F238E27FC236}">
                <a16:creationId xmlns:a16="http://schemas.microsoft.com/office/drawing/2014/main" id="{2855B93D-5585-4B24-8DD5-FA2A22ADE69D}"/>
              </a:ext>
            </a:extLst>
          </p:cNvPr>
          <p:cNvSpPr>
            <a:spLocks xmlns:a="http://schemas.openxmlformats.org/drawingml/2006/main" noGrp="1"/>
          </p:cNvSpPr>
          <p:nvPr/>
        </p:nvSpPr>
        <p:spPr>
          <a:xfrm xmlns:a="http://schemas.openxmlformats.org/drawingml/2006/main">
            <a:off x="9096375" y="25908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23" name="">
            <a:extLst xmlns:a="http://schemas.openxmlformats.org/drawingml/2006/main">
              <a:ext uri="{FF2B5EF4-FFF2-40B4-BE49-F238E27FC236}">
                <a16:creationId xmlns:a16="http://schemas.microsoft.com/office/drawing/2014/main" id="{E2CED87A-11C8-4D63-9EF3-A382D7FBFEA7}"/>
              </a:ext>
            </a:extLst>
          </p:cNvPr>
          <p:cNvSpPr>
            <a:spLocks xmlns:a="http://schemas.openxmlformats.org/drawingml/2006/main" noGrp="1"/>
          </p:cNvSpPr>
          <p:nvPr/>
        </p:nvSpPr>
        <p:spPr>
          <a:xfrm xmlns:a="http://schemas.openxmlformats.org/drawingml/2006/main">
            <a:off x="9096375" y="2590800"/>
            <a:ext cx="325755" cy="123825"/>
          </a:xfrm>
          <a:prstGeom xmlns:a="http://schemas.openxmlformats.org/drawingml/2006/main" prst="roundRect">
            <a:avLst>
              <a:gd name="adj" fmla="val 46154"/>
            </a:avLst>
          </a:prstGeom>
          <a:solidFill xmlns:a="http://schemas.openxmlformats.org/drawingml/2006/main">
            <a:srgbClr val="2F8B5B"/>
          </a:solidFill>
          <a:ln xmlns:a="http://schemas.openxmlformats.org/drawingml/2006/main" w="0">
            <a:solidFill>
              <a:srgbClr val="2F8B5B"/>
            </a:solidFill>
            <a:prstDash val="solid"/>
          </a:ln>
        </p:spPr>
      </p:sp>
      <p:sp>
        <p:nvSpPr>
          <p:cNvPr id="24" name="">
            <a:extLst xmlns:a="http://schemas.openxmlformats.org/drawingml/2006/main">
              <a:ext uri="{FF2B5EF4-FFF2-40B4-BE49-F238E27FC236}">
                <a16:creationId xmlns:a16="http://schemas.microsoft.com/office/drawing/2014/main" id="{4ECA4C03-C41A-416C-977A-F46736A0E1C5}"/>
              </a:ext>
            </a:extLst>
          </p:cNvPr>
          <p:cNvSpPr>
            <a:spLocks xmlns:a="http://schemas.openxmlformats.org/drawingml/2006/main" noGrp="1"/>
          </p:cNvSpPr>
          <p:nvPr/>
        </p:nvSpPr>
        <p:spPr>
          <a:xfrm xmlns:a="http://schemas.openxmlformats.org/drawingml/2006/main">
            <a:off x="5600700" y="3067050"/>
            <a:ext cx="95250" cy="9525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25" name="">
            <a:extLst xmlns:a="http://schemas.openxmlformats.org/drawingml/2006/main">
              <a:ext uri="{FF2B5EF4-FFF2-40B4-BE49-F238E27FC236}">
                <a16:creationId xmlns:a16="http://schemas.microsoft.com/office/drawing/2014/main" id="{E181AE98-20F6-461D-A24F-51A2CEE04D9C}"/>
              </a:ext>
            </a:extLst>
          </p:cNvPr>
          <p:cNvSpPr>
            <a:spLocks xmlns:a="http://schemas.openxmlformats.org/drawingml/2006/main" noGrp="1"/>
          </p:cNvSpPr>
          <p:nvPr/>
        </p:nvSpPr>
        <p:spPr>
          <a:xfrm xmlns:a="http://schemas.openxmlformats.org/drawingml/2006/main">
            <a:off x="577215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17324D"/>
                </a:solidFill>
                <a:latin typeface="Arial"/>
                <a:ea typeface="Arial"/>
                <a:cs typeface="Arial"/>
              </a:defRPr>
            </a:pPr>
            <a:r>
              <a:rPr sz="1088" b="0">
                <a:solidFill>
                  <a:srgbClr val="17324D"/>
                </a:solidFill>
                <a:latin typeface="Arial"/>
                <a:ea typeface="Arial"/>
                <a:cs typeface="Arial"/>
              </a:rPr>
              <a:t>planner</a:t>
            </a:r>
          </a:p>
        </p:txBody>
      </p:sp>
      <p:sp>
        <p:nvSpPr>
          <p:cNvPr id="26" name="">
            <a:extLst xmlns:a="http://schemas.openxmlformats.org/drawingml/2006/main">
              <a:ext uri="{FF2B5EF4-FFF2-40B4-BE49-F238E27FC236}">
                <a16:creationId xmlns:a16="http://schemas.microsoft.com/office/drawing/2014/main" id="{6F163BE0-5A72-445F-99A5-A4D2E9412D3A}"/>
              </a:ext>
            </a:extLst>
          </p:cNvPr>
          <p:cNvSpPr>
            <a:spLocks xmlns:a="http://schemas.openxmlformats.org/drawingml/2006/main" noGrp="1"/>
          </p:cNvSpPr>
          <p:nvPr/>
        </p:nvSpPr>
        <p:spPr>
          <a:xfrm xmlns:a="http://schemas.openxmlformats.org/drawingml/2006/main">
            <a:off x="7667625" y="30099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evidence plan</a:t>
            </a:r>
          </a:p>
        </p:txBody>
      </p:sp>
      <p:sp>
        <p:nvSpPr>
          <p:cNvPr id="27" name="">
            <a:extLst xmlns:a="http://schemas.openxmlformats.org/drawingml/2006/main">
              <a:ext uri="{FF2B5EF4-FFF2-40B4-BE49-F238E27FC236}">
                <a16:creationId xmlns:a16="http://schemas.microsoft.com/office/drawing/2014/main" id="{2BEE37F3-8CBF-4BC9-B567-0BDB5121EF1D}"/>
              </a:ext>
            </a:extLst>
          </p:cNvPr>
          <p:cNvSpPr>
            <a:spLocks xmlns:a="http://schemas.openxmlformats.org/drawingml/2006/main" noGrp="1"/>
          </p:cNvSpPr>
          <p:nvPr/>
        </p:nvSpPr>
        <p:spPr>
          <a:xfrm xmlns:a="http://schemas.openxmlformats.org/drawingml/2006/main">
            <a:off x="9096375" y="30480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28" name="">
            <a:extLst xmlns:a="http://schemas.openxmlformats.org/drawingml/2006/main">
              <a:ext uri="{FF2B5EF4-FFF2-40B4-BE49-F238E27FC236}">
                <a16:creationId xmlns:a16="http://schemas.microsoft.com/office/drawing/2014/main" id="{E131FD12-2373-4B89-9E23-C9E36577247C}"/>
              </a:ext>
            </a:extLst>
          </p:cNvPr>
          <p:cNvSpPr>
            <a:spLocks xmlns:a="http://schemas.openxmlformats.org/drawingml/2006/main" noGrp="1"/>
          </p:cNvSpPr>
          <p:nvPr/>
        </p:nvSpPr>
        <p:spPr>
          <a:xfrm xmlns:a="http://schemas.openxmlformats.org/drawingml/2006/main">
            <a:off x="9096375" y="3048000"/>
            <a:ext cx="542925" cy="123825"/>
          </a:xfrm>
          <a:prstGeom xmlns:a="http://schemas.openxmlformats.org/drawingml/2006/main" prst="roundRect">
            <a:avLst>
              <a:gd name="adj" fmla="val 46154"/>
            </a:avLst>
          </a:prstGeom>
          <a:solidFill xmlns:a="http://schemas.openxmlformats.org/drawingml/2006/main">
            <a:srgbClr val="009B96"/>
          </a:solidFill>
          <a:ln xmlns:a="http://schemas.openxmlformats.org/drawingml/2006/main" w="0">
            <a:solidFill>
              <a:srgbClr val="009B96"/>
            </a:solidFill>
            <a:prstDash val="solid"/>
          </a:ln>
        </p:spPr>
      </p:sp>
      <p:sp>
        <p:nvSpPr>
          <p:cNvPr id="29" name="">
            <a:extLst xmlns:a="http://schemas.openxmlformats.org/drawingml/2006/main">
              <a:ext uri="{FF2B5EF4-FFF2-40B4-BE49-F238E27FC236}">
                <a16:creationId xmlns:a16="http://schemas.microsoft.com/office/drawing/2014/main" id="{E5C7A802-2B23-4B8C-87D6-07C98349BCCD}"/>
              </a:ext>
            </a:extLst>
          </p:cNvPr>
          <p:cNvSpPr>
            <a:spLocks xmlns:a="http://schemas.openxmlformats.org/drawingml/2006/main" noGrp="1"/>
          </p:cNvSpPr>
          <p:nvPr/>
        </p:nvSpPr>
        <p:spPr>
          <a:xfrm xmlns:a="http://schemas.openxmlformats.org/drawingml/2006/main">
            <a:off x="5600700" y="3524250"/>
            <a:ext cx="95250" cy="95250"/>
          </a:xfrm>
          <a:prstGeom xmlns:a="http://schemas.openxmlformats.org/drawingml/2006/main" prst="ellipse">
            <a:avLst/>
          </a:prstGeom>
          <a:solidFill xmlns:a="http://schemas.openxmlformats.org/drawingml/2006/main">
            <a:srgbClr val="3976B9"/>
          </a:solidFill>
          <a:ln xmlns:a="http://schemas.openxmlformats.org/drawingml/2006/main" w="0">
            <a:solidFill>
              <a:srgbClr val="3976B9"/>
            </a:solidFill>
            <a:prstDash val="solid"/>
          </a:ln>
        </p:spPr>
      </p:sp>
      <p:sp>
        <p:nvSpPr>
          <p:cNvPr id="30" name="">
            <a:extLst xmlns:a="http://schemas.openxmlformats.org/drawingml/2006/main">
              <a:ext uri="{FF2B5EF4-FFF2-40B4-BE49-F238E27FC236}">
                <a16:creationId xmlns:a16="http://schemas.microsoft.com/office/drawing/2014/main" id="{16B672A5-1804-49A2-BAA6-E3145E55F1EF}"/>
              </a:ext>
            </a:extLst>
          </p:cNvPr>
          <p:cNvSpPr>
            <a:spLocks xmlns:a="http://schemas.openxmlformats.org/drawingml/2006/main" noGrp="1"/>
          </p:cNvSpPr>
          <p:nvPr/>
        </p:nvSpPr>
        <p:spPr>
          <a:xfrm xmlns:a="http://schemas.openxmlformats.org/drawingml/2006/main">
            <a:off x="5772150" y="34671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17324D"/>
                </a:solidFill>
                <a:latin typeface="Arial"/>
                <a:ea typeface="Arial"/>
                <a:cs typeface="Arial"/>
              </a:defRPr>
            </a:pPr>
            <a:r>
              <a:rPr sz="1088" b="0">
                <a:solidFill>
                  <a:srgbClr val="17324D"/>
                </a:solidFill>
                <a:latin typeface="Arial"/>
                <a:ea typeface="Arial"/>
                <a:cs typeface="Arial"/>
              </a:rPr>
              <a:t>researcher and tools</a:t>
            </a:r>
          </a:p>
        </p:txBody>
      </p:sp>
      <p:sp>
        <p:nvSpPr>
          <p:cNvPr id="31" name="">
            <a:extLst xmlns:a="http://schemas.openxmlformats.org/drawingml/2006/main">
              <a:ext uri="{FF2B5EF4-FFF2-40B4-BE49-F238E27FC236}">
                <a16:creationId xmlns:a16="http://schemas.microsoft.com/office/drawing/2014/main" id="{FC200282-9D16-4E89-B3FD-D2808AF24D31}"/>
              </a:ext>
            </a:extLst>
          </p:cNvPr>
          <p:cNvSpPr>
            <a:spLocks xmlns:a="http://schemas.openxmlformats.org/drawingml/2006/main" noGrp="1"/>
          </p:cNvSpPr>
          <p:nvPr/>
        </p:nvSpPr>
        <p:spPr>
          <a:xfrm xmlns:a="http://schemas.openxmlformats.org/drawingml/2006/main">
            <a:off x="7667625" y="34671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evidence actions</a:t>
            </a:r>
          </a:p>
        </p:txBody>
      </p:sp>
      <p:sp>
        <p:nvSpPr>
          <p:cNvPr id="32" name="">
            <a:extLst xmlns:a="http://schemas.openxmlformats.org/drawingml/2006/main">
              <a:ext uri="{FF2B5EF4-FFF2-40B4-BE49-F238E27FC236}">
                <a16:creationId xmlns:a16="http://schemas.microsoft.com/office/drawing/2014/main" id="{21E8D814-4027-4CBA-AA1C-E313B298A84B}"/>
              </a:ext>
            </a:extLst>
          </p:cNvPr>
          <p:cNvSpPr>
            <a:spLocks xmlns:a="http://schemas.openxmlformats.org/drawingml/2006/main" noGrp="1"/>
          </p:cNvSpPr>
          <p:nvPr/>
        </p:nvSpPr>
        <p:spPr>
          <a:xfrm xmlns:a="http://schemas.openxmlformats.org/drawingml/2006/main">
            <a:off x="9096375" y="35052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33" name="">
            <a:extLst xmlns:a="http://schemas.openxmlformats.org/drawingml/2006/main">
              <a:ext uri="{FF2B5EF4-FFF2-40B4-BE49-F238E27FC236}">
                <a16:creationId xmlns:a16="http://schemas.microsoft.com/office/drawing/2014/main" id="{8F964BFF-491E-4FE3-970C-78737BF02DA0}"/>
              </a:ext>
            </a:extLst>
          </p:cNvPr>
          <p:cNvSpPr>
            <a:spLocks xmlns:a="http://schemas.openxmlformats.org/drawingml/2006/main" noGrp="1"/>
          </p:cNvSpPr>
          <p:nvPr/>
        </p:nvSpPr>
        <p:spPr>
          <a:xfrm xmlns:a="http://schemas.openxmlformats.org/drawingml/2006/main">
            <a:off x="9096375" y="3505200"/>
            <a:ext cx="995363" cy="123825"/>
          </a:xfrm>
          <a:prstGeom xmlns:a="http://schemas.openxmlformats.org/drawingml/2006/main" prst="roundRect">
            <a:avLst>
              <a:gd name="adj" fmla="val 46154"/>
            </a:avLst>
          </a:prstGeom>
          <a:solidFill xmlns:a="http://schemas.openxmlformats.org/drawingml/2006/main">
            <a:srgbClr val="3976B9"/>
          </a:solidFill>
          <a:ln xmlns:a="http://schemas.openxmlformats.org/drawingml/2006/main" w="0">
            <a:solidFill>
              <a:srgbClr val="3976B9"/>
            </a:solidFill>
            <a:prstDash val="solid"/>
          </a:ln>
        </p:spPr>
      </p:sp>
      <p:sp>
        <p:nvSpPr>
          <p:cNvPr id="34" name="">
            <a:extLst xmlns:a="http://schemas.openxmlformats.org/drawingml/2006/main">
              <a:ext uri="{FF2B5EF4-FFF2-40B4-BE49-F238E27FC236}">
                <a16:creationId xmlns:a16="http://schemas.microsoft.com/office/drawing/2014/main" id="{22C281FB-D57F-4AF6-831A-62A1AEB4EE66}"/>
              </a:ext>
            </a:extLst>
          </p:cNvPr>
          <p:cNvSpPr>
            <a:spLocks xmlns:a="http://schemas.openxmlformats.org/drawingml/2006/main" noGrp="1"/>
          </p:cNvSpPr>
          <p:nvPr/>
        </p:nvSpPr>
        <p:spPr>
          <a:xfrm xmlns:a="http://schemas.openxmlformats.org/drawingml/2006/main">
            <a:off x="5600700" y="3981450"/>
            <a:ext cx="95250" cy="95250"/>
          </a:xfrm>
          <a:prstGeom xmlns:a="http://schemas.openxmlformats.org/drawingml/2006/main" prst="ellipse">
            <a:avLst/>
          </a:prstGeom>
          <a:solidFill xmlns:a="http://schemas.openxmlformats.org/drawingml/2006/main">
            <a:srgbClr val="D28A1D"/>
          </a:solidFill>
          <a:ln xmlns:a="http://schemas.openxmlformats.org/drawingml/2006/main" w="0">
            <a:solidFill>
              <a:srgbClr val="D28A1D"/>
            </a:solidFill>
            <a:prstDash val="solid"/>
          </a:ln>
        </p:spPr>
      </p:sp>
      <p:sp>
        <p:nvSpPr>
          <p:cNvPr id="35" name="">
            <a:extLst xmlns:a="http://schemas.openxmlformats.org/drawingml/2006/main">
              <a:ext uri="{FF2B5EF4-FFF2-40B4-BE49-F238E27FC236}">
                <a16:creationId xmlns:a16="http://schemas.microsoft.com/office/drawing/2014/main" id="{D641E9D5-CCEC-48FA-A7FB-33832852A64C}"/>
              </a:ext>
            </a:extLst>
          </p:cNvPr>
          <p:cNvSpPr>
            <a:spLocks xmlns:a="http://schemas.openxmlformats.org/drawingml/2006/main" noGrp="1"/>
          </p:cNvSpPr>
          <p:nvPr/>
        </p:nvSpPr>
        <p:spPr>
          <a:xfrm xmlns:a="http://schemas.openxmlformats.org/drawingml/2006/main">
            <a:off x="5772150" y="39243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17324D"/>
                </a:solidFill>
                <a:latin typeface="Arial"/>
                <a:ea typeface="Arial"/>
                <a:cs typeface="Arial"/>
              </a:defRPr>
            </a:pPr>
            <a:r>
              <a:rPr sz="1088" b="0">
                <a:solidFill>
                  <a:srgbClr val="17324D"/>
                </a:solidFill>
                <a:latin typeface="Arial"/>
                <a:ea typeface="Arial"/>
                <a:cs typeface="Arial"/>
              </a:rPr>
              <a:t>thesis_analyst</a:t>
            </a:r>
          </a:p>
        </p:txBody>
      </p:sp>
      <p:sp>
        <p:nvSpPr>
          <p:cNvPr id="36" name="">
            <a:extLst xmlns:a="http://schemas.openxmlformats.org/drawingml/2006/main">
              <a:ext uri="{FF2B5EF4-FFF2-40B4-BE49-F238E27FC236}">
                <a16:creationId xmlns:a16="http://schemas.microsoft.com/office/drawing/2014/main" id="{90D8CCDA-262A-4F2A-9A3E-3A9F687246A1}"/>
              </a:ext>
            </a:extLst>
          </p:cNvPr>
          <p:cNvSpPr>
            <a:spLocks xmlns:a="http://schemas.openxmlformats.org/drawingml/2006/main" noGrp="1"/>
          </p:cNvSpPr>
          <p:nvPr/>
        </p:nvSpPr>
        <p:spPr>
          <a:xfrm xmlns:a="http://schemas.openxmlformats.org/drawingml/2006/main">
            <a:off x="7667625" y="39243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case generation</a:t>
            </a:r>
          </a:p>
        </p:txBody>
      </p:sp>
      <p:sp>
        <p:nvSpPr>
          <p:cNvPr id="37" name="">
            <a:extLst xmlns:a="http://schemas.openxmlformats.org/drawingml/2006/main">
              <a:ext uri="{FF2B5EF4-FFF2-40B4-BE49-F238E27FC236}">
                <a16:creationId xmlns:a16="http://schemas.microsoft.com/office/drawing/2014/main" id="{8DABD405-A2C0-4130-B188-7E2E2D2C0BDA}"/>
              </a:ext>
            </a:extLst>
          </p:cNvPr>
          <p:cNvSpPr>
            <a:spLocks xmlns:a="http://schemas.openxmlformats.org/drawingml/2006/main" noGrp="1"/>
          </p:cNvSpPr>
          <p:nvPr/>
        </p:nvSpPr>
        <p:spPr>
          <a:xfrm xmlns:a="http://schemas.openxmlformats.org/drawingml/2006/main">
            <a:off x="9096375" y="39624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38" name="">
            <a:extLst xmlns:a="http://schemas.openxmlformats.org/drawingml/2006/main">
              <a:ext uri="{FF2B5EF4-FFF2-40B4-BE49-F238E27FC236}">
                <a16:creationId xmlns:a16="http://schemas.microsoft.com/office/drawing/2014/main" id="{94A13932-8235-4B5C-A8BB-9DB37DB094FF}"/>
              </a:ext>
            </a:extLst>
          </p:cNvPr>
          <p:cNvSpPr>
            <a:spLocks xmlns:a="http://schemas.openxmlformats.org/drawingml/2006/main" noGrp="1"/>
          </p:cNvSpPr>
          <p:nvPr/>
        </p:nvSpPr>
        <p:spPr>
          <a:xfrm xmlns:a="http://schemas.openxmlformats.org/drawingml/2006/main">
            <a:off x="9096375" y="3962400"/>
            <a:ext cx="1483995" cy="123825"/>
          </a:xfrm>
          <a:prstGeom xmlns:a="http://schemas.openxmlformats.org/drawingml/2006/main" prst="roundRect">
            <a:avLst>
              <a:gd name="adj" fmla="val 46154"/>
            </a:avLst>
          </a:prstGeom>
          <a:solidFill xmlns:a="http://schemas.openxmlformats.org/drawingml/2006/main">
            <a:srgbClr val="D28A1D"/>
          </a:solidFill>
          <a:ln xmlns:a="http://schemas.openxmlformats.org/drawingml/2006/main" w="0">
            <a:solidFill>
              <a:srgbClr val="D28A1D"/>
            </a:solidFill>
            <a:prstDash val="solid"/>
          </a:ln>
        </p:spPr>
      </p:sp>
      <p:sp>
        <p:nvSpPr>
          <p:cNvPr id="39" name="">
            <a:extLst xmlns:a="http://schemas.openxmlformats.org/drawingml/2006/main">
              <a:ext uri="{FF2B5EF4-FFF2-40B4-BE49-F238E27FC236}">
                <a16:creationId xmlns:a16="http://schemas.microsoft.com/office/drawing/2014/main" id="{6A8A9E8A-8790-48BE-947F-3FC498A055A7}"/>
              </a:ext>
            </a:extLst>
          </p:cNvPr>
          <p:cNvSpPr>
            <a:spLocks xmlns:a="http://schemas.openxmlformats.org/drawingml/2006/main" noGrp="1"/>
          </p:cNvSpPr>
          <p:nvPr/>
        </p:nvSpPr>
        <p:spPr>
          <a:xfrm xmlns:a="http://schemas.openxmlformats.org/drawingml/2006/main">
            <a:off x="5600700" y="4438650"/>
            <a:ext cx="95250" cy="95250"/>
          </a:xfrm>
          <a:prstGeom xmlns:a="http://schemas.openxmlformats.org/drawingml/2006/main" prst="ellipse">
            <a:avLst/>
          </a:prstGeom>
          <a:solidFill xmlns:a="http://schemas.openxmlformats.org/drawingml/2006/main">
            <a:srgbClr val="C94A4A"/>
          </a:solidFill>
          <a:ln xmlns:a="http://schemas.openxmlformats.org/drawingml/2006/main" w="0">
            <a:solidFill>
              <a:srgbClr val="C94A4A"/>
            </a:solidFill>
            <a:prstDash val="solid"/>
          </a:ln>
        </p:spPr>
      </p:sp>
      <p:sp>
        <p:nvSpPr>
          <p:cNvPr id="40" name="">
            <a:extLst xmlns:a="http://schemas.openxmlformats.org/drawingml/2006/main">
              <a:ext uri="{FF2B5EF4-FFF2-40B4-BE49-F238E27FC236}">
                <a16:creationId xmlns:a16="http://schemas.microsoft.com/office/drawing/2014/main" id="{49A1447A-13FF-4AA6-B0AB-D8135C5CBC0A}"/>
              </a:ext>
            </a:extLst>
          </p:cNvPr>
          <p:cNvSpPr>
            <a:spLocks xmlns:a="http://schemas.openxmlformats.org/drawingml/2006/main" noGrp="1"/>
          </p:cNvSpPr>
          <p:nvPr/>
        </p:nvSpPr>
        <p:spPr>
          <a:xfrm xmlns:a="http://schemas.openxmlformats.org/drawingml/2006/main">
            <a:off x="5772150" y="43815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17324D"/>
                </a:solidFill>
                <a:latin typeface="Arial"/>
                <a:ea typeface="Arial"/>
                <a:cs typeface="Arial"/>
              </a:defRPr>
            </a:pPr>
            <a:r>
              <a:rPr sz="1088" b="0">
                <a:solidFill>
                  <a:srgbClr val="17324D"/>
                </a:solidFill>
                <a:latin typeface="Arial"/>
                <a:ea typeface="Arial"/>
                <a:cs typeface="Arial"/>
              </a:rPr>
              <a:t>critic</a:t>
            </a:r>
          </a:p>
        </p:txBody>
      </p:sp>
      <p:sp>
        <p:nvSpPr>
          <p:cNvPr id="41" name="">
            <a:extLst xmlns:a="http://schemas.openxmlformats.org/drawingml/2006/main">
              <a:ext uri="{FF2B5EF4-FFF2-40B4-BE49-F238E27FC236}">
                <a16:creationId xmlns:a16="http://schemas.microsoft.com/office/drawing/2014/main" id="{DF900949-5FE6-4416-8B00-CFBC487CF098}"/>
              </a:ext>
            </a:extLst>
          </p:cNvPr>
          <p:cNvSpPr>
            <a:spLocks xmlns:a="http://schemas.openxmlformats.org/drawingml/2006/main" noGrp="1"/>
          </p:cNvSpPr>
          <p:nvPr/>
        </p:nvSpPr>
        <p:spPr>
          <a:xfrm xmlns:a="http://schemas.openxmlformats.org/drawingml/2006/main">
            <a:off x="7667625" y="43815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case evaluation</a:t>
            </a:r>
          </a:p>
        </p:txBody>
      </p:sp>
      <p:sp>
        <p:nvSpPr>
          <p:cNvPr id="42" name="">
            <a:extLst xmlns:a="http://schemas.openxmlformats.org/drawingml/2006/main">
              <a:ext uri="{FF2B5EF4-FFF2-40B4-BE49-F238E27FC236}">
                <a16:creationId xmlns:a16="http://schemas.microsoft.com/office/drawing/2014/main" id="{00F97264-F030-4B3C-A7E2-671ECD591C48}"/>
              </a:ext>
            </a:extLst>
          </p:cNvPr>
          <p:cNvSpPr>
            <a:spLocks xmlns:a="http://schemas.openxmlformats.org/drawingml/2006/main" noGrp="1"/>
          </p:cNvSpPr>
          <p:nvPr/>
        </p:nvSpPr>
        <p:spPr>
          <a:xfrm xmlns:a="http://schemas.openxmlformats.org/drawingml/2006/main">
            <a:off x="9096375" y="44196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43" name="">
            <a:extLst xmlns:a="http://schemas.openxmlformats.org/drawingml/2006/main">
              <a:ext uri="{FF2B5EF4-FFF2-40B4-BE49-F238E27FC236}">
                <a16:creationId xmlns:a16="http://schemas.microsoft.com/office/drawing/2014/main" id="{48C20E79-2DDE-48F6-A0EF-276CADDB91EF}"/>
              </a:ext>
            </a:extLst>
          </p:cNvPr>
          <p:cNvSpPr>
            <a:spLocks xmlns:a="http://schemas.openxmlformats.org/drawingml/2006/main" noGrp="1"/>
          </p:cNvSpPr>
          <p:nvPr/>
        </p:nvSpPr>
        <p:spPr>
          <a:xfrm xmlns:a="http://schemas.openxmlformats.org/drawingml/2006/main">
            <a:off x="9096375" y="4419600"/>
            <a:ext cx="1122045" cy="123825"/>
          </a:xfrm>
          <a:prstGeom xmlns:a="http://schemas.openxmlformats.org/drawingml/2006/main" prst="roundRect">
            <a:avLst>
              <a:gd name="adj" fmla="val 46154"/>
            </a:avLst>
          </a:prstGeom>
          <a:solidFill xmlns:a="http://schemas.openxmlformats.org/drawingml/2006/main">
            <a:srgbClr val="C94A4A"/>
          </a:solidFill>
          <a:ln xmlns:a="http://schemas.openxmlformats.org/drawingml/2006/main" w="0">
            <a:solidFill>
              <a:srgbClr val="C94A4A"/>
            </a:solidFill>
            <a:prstDash val="solid"/>
          </a:ln>
        </p:spPr>
      </p:sp>
      <p:sp>
        <p:nvSpPr>
          <p:cNvPr id="44" name="">
            <a:extLst xmlns:a="http://schemas.openxmlformats.org/drawingml/2006/main">
              <a:ext uri="{FF2B5EF4-FFF2-40B4-BE49-F238E27FC236}">
                <a16:creationId xmlns:a16="http://schemas.microsoft.com/office/drawing/2014/main" id="{6B462E61-2CDE-48B8-BDA0-273DBA60C14F}"/>
              </a:ext>
            </a:extLst>
          </p:cNvPr>
          <p:cNvSpPr>
            <a:spLocks xmlns:a="http://schemas.openxmlformats.org/drawingml/2006/main" noGrp="1"/>
          </p:cNvSpPr>
          <p:nvPr/>
        </p:nvSpPr>
        <p:spPr>
          <a:xfrm xmlns:a="http://schemas.openxmlformats.org/drawingml/2006/main">
            <a:off x="5600700" y="4895850"/>
            <a:ext cx="95250" cy="95250"/>
          </a:xfrm>
          <a:prstGeom xmlns:a="http://schemas.openxmlformats.org/drawingml/2006/main" prst="ellipse">
            <a:avLst/>
          </a:prstGeom>
          <a:solidFill xmlns:a="http://schemas.openxmlformats.org/drawingml/2006/main">
            <a:srgbClr val="2F8B5B"/>
          </a:solidFill>
          <a:ln xmlns:a="http://schemas.openxmlformats.org/drawingml/2006/main" w="0">
            <a:solidFill>
              <a:srgbClr val="2F8B5B"/>
            </a:solidFill>
            <a:prstDash val="solid"/>
          </a:ln>
        </p:spPr>
      </p:sp>
      <p:sp>
        <p:nvSpPr>
          <p:cNvPr id="45" name="">
            <a:extLst xmlns:a="http://schemas.openxmlformats.org/drawingml/2006/main">
              <a:ext uri="{FF2B5EF4-FFF2-40B4-BE49-F238E27FC236}">
                <a16:creationId xmlns:a16="http://schemas.microsoft.com/office/drawing/2014/main" id="{BF5E88E0-873B-4E4D-A252-29F7CA712809}"/>
              </a:ext>
            </a:extLst>
          </p:cNvPr>
          <p:cNvSpPr>
            <a:spLocks xmlns:a="http://schemas.openxmlformats.org/drawingml/2006/main" noGrp="1"/>
          </p:cNvSpPr>
          <p:nvPr/>
        </p:nvSpPr>
        <p:spPr>
          <a:xfrm xmlns:a="http://schemas.openxmlformats.org/drawingml/2006/main">
            <a:off x="5772150" y="48387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88" b="0">
                <a:solidFill>
                  <a:srgbClr val="17324D"/>
                </a:solidFill>
                <a:latin typeface="Arial"/>
                <a:ea typeface="Arial"/>
                <a:cs typeface="Arial"/>
              </a:defRPr>
            </a:pPr>
            <a:r>
              <a:rPr sz="1088" b="0">
                <a:solidFill>
                  <a:srgbClr val="17324D"/>
                </a:solidFill>
                <a:latin typeface="Arial"/>
                <a:ea typeface="Arial"/>
                <a:cs typeface="Arial"/>
              </a:rPr>
              <a:t>quality and finalize</a:t>
            </a:r>
          </a:p>
        </p:txBody>
      </p:sp>
      <p:sp>
        <p:nvSpPr>
          <p:cNvPr id="46" name="">
            <a:extLst xmlns:a="http://schemas.openxmlformats.org/drawingml/2006/main">
              <a:ext uri="{FF2B5EF4-FFF2-40B4-BE49-F238E27FC236}">
                <a16:creationId xmlns:a16="http://schemas.microsoft.com/office/drawing/2014/main" id="{CCCA59D4-D33F-406A-BAA5-C66FB436780B}"/>
              </a:ext>
            </a:extLst>
          </p:cNvPr>
          <p:cNvSpPr>
            <a:spLocks xmlns:a="http://schemas.openxmlformats.org/drawingml/2006/main" noGrp="1"/>
          </p:cNvSpPr>
          <p:nvPr/>
        </p:nvSpPr>
        <p:spPr>
          <a:xfrm xmlns:a="http://schemas.openxmlformats.org/drawingml/2006/main">
            <a:off x="7667625" y="48387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0">
                <a:solidFill>
                  <a:srgbClr val="5E748A"/>
                </a:solidFill>
                <a:latin typeface="Arial"/>
                <a:ea typeface="Arial"/>
                <a:cs typeface="Arial"/>
              </a:defRPr>
            </a:pPr>
            <a:r>
              <a:rPr sz="1013" b="0">
                <a:solidFill>
                  <a:srgbClr val="5E748A"/>
                </a:solidFill>
                <a:latin typeface="Arial"/>
                <a:ea typeface="Arial"/>
                <a:cs typeface="Arial"/>
              </a:rPr>
              <a:t>release route</a:t>
            </a:r>
          </a:p>
        </p:txBody>
      </p:sp>
      <p:sp>
        <p:nvSpPr>
          <p:cNvPr id="47" name="">
            <a:extLst xmlns:a="http://schemas.openxmlformats.org/drawingml/2006/main">
              <a:ext uri="{FF2B5EF4-FFF2-40B4-BE49-F238E27FC236}">
                <a16:creationId xmlns:a16="http://schemas.microsoft.com/office/drawing/2014/main" id="{FB4ED9ED-3679-4811-9110-19CB187BCB0B}"/>
              </a:ext>
            </a:extLst>
          </p:cNvPr>
          <p:cNvSpPr>
            <a:spLocks xmlns:a="http://schemas.openxmlformats.org/drawingml/2006/main" noGrp="1"/>
          </p:cNvSpPr>
          <p:nvPr/>
        </p:nvSpPr>
        <p:spPr>
          <a:xfrm xmlns:a="http://schemas.openxmlformats.org/drawingml/2006/main">
            <a:off x="9096375" y="4876800"/>
            <a:ext cx="1809750" cy="123825"/>
          </a:xfrm>
          <a:prstGeom xmlns:a="http://schemas.openxmlformats.org/drawingml/2006/main" prst="roundRect">
            <a:avLst>
              <a:gd name="adj" fmla="val 46154"/>
            </a:avLst>
          </a:prstGeom>
          <a:solidFill xmlns:a="http://schemas.openxmlformats.org/drawingml/2006/main">
            <a:srgbClr val="D5E0EA"/>
          </a:solidFill>
          <a:ln xmlns:a="http://schemas.openxmlformats.org/drawingml/2006/main" w="0">
            <a:solidFill>
              <a:srgbClr val="D5E0EA"/>
            </a:solidFill>
            <a:prstDash val="solid"/>
          </a:ln>
        </p:spPr>
      </p:sp>
      <p:sp>
        <p:nvSpPr>
          <p:cNvPr id="48" name="">
            <a:extLst xmlns:a="http://schemas.openxmlformats.org/drawingml/2006/main">
              <a:ext uri="{FF2B5EF4-FFF2-40B4-BE49-F238E27FC236}">
                <a16:creationId xmlns:a16="http://schemas.microsoft.com/office/drawing/2014/main" id="{6D45D62F-5ECD-4396-8EA0-31B169AA7C65}"/>
              </a:ext>
            </a:extLst>
          </p:cNvPr>
          <p:cNvSpPr>
            <a:spLocks xmlns:a="http://schemas.openxmlformats.org/drawingml/2006/main" noGrp="1"/>
          </p:cNvSpPr>
          <p:nvPr/>
        </p:nvSpPr>
        <p:spPr>
          <a:xfrm xmlns:a="http://schemas.openxmlformats.org/drawingml/2006/main">
            <a:off x="9096375" y="4876800"/>
            <a:ext cx="506730" cy="123825"/>
          </a:xfrm>
          <a:prstGeom xmlns:a="http://schemas.openxmlformats.org/drawingml/2006/main" prst="roundRect">
            <a:avLst>
              <a:gd name="adj" fmla="val 46154"/>
            </a:avLst>
          </a:prstGeom>
          <a:solidFill xmlns:a="http://schemas.openxmlformats.org/drawingml/2006/main">
            <a:srgbClr val="2F8B5B"/>
          </a:solidFill>
          <a:ln xmlns:a="http://schemas.openxmlformats.org/drawingml/2006/main" w="0">
            <a:solidFill>
              <a:srgbClr val="2F8B5B"/>
            </a:solidFill>
            <a:prstDash val="solid"/>
          </a:ln>
        </p:spPr>
      </p:sp>
      <p:sp>
        <p:nvSpPr>
          <p:cNvPr id="49" name="">
            <a:extLst xmlns:a="http://schemas.openxmlformats.org/drawingml/2006/main">
              <a:ext uri="{FF2B5EF4-FFF2-40B4-BE49-F238E27FC236}">
                <a16:creationId xmlns:a16="http://schemas.microsoft.com/office/drawing/2014/main" id="{F248A0BC-BFF4-439C-A0E8-6435DA23809F}"/>
              </a:ext>
            </a:extLst>
          </p:cNvPr>
          <p:cNvSpPr>
            <a:spLocks xmlns:a="http://schemas.openxmlformats.org/drawingml/2006/main" noGrp="1"/>
          </p:cNvSpPr>
          <p:nvPr/>
        </p:nvSpPr>
        <p:spPr>
          <a:xfrm xmlns:a="http://schemas.openxmlformats.org/drawingml/2006/main">
            <a:off x="5381625" y="5457825"/>
            <a:ext cx="5715000"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0" name="">
            <a:extLst xmlns:a="http://schemas.openxmlformats.org/drawingml/2006/main">
              <a:ext uri="{FF2B5EF4-FFF2-40B4-BE49-F238E27FC236}">
                <a16:creationId xmlns:a16="http://schemas.microsoft.com/office/drawing/2014/main" id="{2F325CE4-0409-4553-86CF-5C97A4CEF5C9}"/>
              </a:ext>
            </a:extLst>
          </p:cNvPr>
          <p:cNvSpPr>
            <a:spLocks xmlns:a="http://schemas.openxmlformats.org/drawingml/2006/main" noGrp="1"/>
          </p:cNvSpPr>
          <p:nvPr/>
        </p:nvSpPr>
        <p:spPr>
          <a:xfrm xmlns:a="http://schemas.openxmlformats.org/drawingml/2006/main">
            <a:off x="5381625" y="55911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938" b="0">
                <a:solidFill>
                  <a:srgbClr val="3976B9"/>
                </a:solidFill>
                <a:latin typeface="Arial"/>
                <a:ea typeface="Arial"/>
                <a:cs typeface="Arial"/>
              </a:defRPr>
            </a:pPr>
            <a:r>
              <a:rPr sz="938" b="0">
                <a:solidFill>
                  <a:srgbClr val="3976B9"/>
                </a:solidFill>
                <a:latin typeface="Arial"/>
                <a:ea typeface="Arial"/>
                <a:cs typeface="Arial"/>
              </a:rPr>
              <a:t>Tags: ticker, request type</a:t>
            </a:r>
          </a:p>
        </p:txBody>
      </p:sp>
      <p:sp>
        <p:nvSpPr>
          <p:cNvPr id="51" name="">
            <a:extLst xmlns:a="http://schemas.openxmlformats.org/drawingml/2006/main">
              <a:ext uri="{FF2B5EF4-FFF2-40B4-BE49-F238E27FC236}">
                <a16:creationId xmlns:a16="http://schemas.microsoft.com/office/drawing/2014/main" id="{D0E03EFF-E9AC-4F6B-864E-86E98A81C26F}"/>
              </a:ext>
            </a:extLst>
          </p:cNvPr>
          <p:cNvSpPr>
            <a:spLocks xmlns:a="http://schemas.openxmlformats.org/drawingml/2006/main" noGrp="1"/>
          </p:cNvSpPr>
          <p:nvPr/>
        </p:nvSpPr>
        <p:spPr>
          <a:xfrm xmlns:a="http://schemas.openxmlformats.org/drawingml/2006/main">
            <a:off x="7572375" y="559117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938" b="0">
                <a:solidFill>
                  <a:srgbClr val="009B96"/>
                </a:solidFill>
                <a:latin typeface="Arial"/>
                <a:ea typeface="Arial"/>
                <a:cs typeface="Arial"/>
              </a:defRPr>
            </a:pPr>
            <a:r>
              <a:rPr sz="938" b="0">
                <a:solidFill>
                  <a:srgbClr val="009B96"/>
                </a:solidFill>
                <a:latin typeface="Arial"/>
                <a:ea typeface="Arial"/>
                <a:cs typeface="Arial"/>
              </a:rPr>
              <a:t>Metadata: dates, thread</a:t>
            </a:r>
          </a:p>
        </p:txBody>
      </p:sp>
      <p:sp>
        <p:nvSpPr>
          <p:cNvPr id="52" name="">
            <a:extLst xmlns:a="http://schemas.openxmlformats.org/drawingml/2006/main">
              <a:ext uri="{FF2B5EF4-FFF2-40B4-BE49-F238E27FC236}">
                <a16:creationId xmlns:a16="http://schemas.microsoft.com/office/drawing/2014/main" id="{1FA0735E-6CD8-4061-83AA-2B978D9B8329}"/>
              </a:ext>
            </a:extLst>
          </p:cNvPr>
          <p:cNvSpPr>
            <a:spLocks xmlns:a="http://schemas.openxmlformats.org/drawingml/2006/main" noGrp="1"/>
          </p:cNvSpPr>
          <p:nvPr/>
        </p:nvSpPr>
        <p:spPr>
          <a:xfrm xmlns:a="http://schemas.openxmlformats.org/drawingml/2006/main">
            <a:off x="9620250" y="55911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938" b="0">
                <a:solidFill>
                  <a:srgbClr val="C94A4A"/>
                </a:solidFill>
                <a:latin typeface="Arial"/>
                <a:ea typeface="Arial"/>
                <a:cs typeface="Arial"/>
              </a:defRPr>
            </a:pPr>
            <a:r>
              <a:rPr sz="938" b="0">
                <a:solidFill>
                  <a:srgbClr val="C94A4A"/>
                </a:solidFill>
                <a:latin typeface="Arial"/>
                <a:ea typeface="Arial"/>
                <a:cs typeface="Arial"/>
              </a:rPr>
              <a:t>Feedback: quality outcome</a:t>
            </a:r>
          </a:p>
        </p:txBody>
      </p:sp>
    </p:spTree>
    <p:extLst>
      <p:ext uri="{BB962C8B-B14F-4D97-AF65-F5344CB8AC3E}">
        <p14:creationId xmlns:p14="http://schemas.microsoft.com/office/powerpoint/2010/main" val="1643084247"/>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454D69B-119A-454A-AFD0-DA80D2443B7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7BF035D9-7850-499C-BB95-67B395630B04}"/>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Human review in the loop</a:t>
            </a:r>
          </a:p>
        </p:txBody>
      </p:sp>
      <p:sp>
        <p:nvSpPr>
          <p:cNvPr id="3" name="">
            <a:extLst xmlns:a="http://schemas.openxmlformats.org/drawingml/2006/main">
              <a:ext uri="{FF2B5EF4-FFF2-40B4-BE49-F238E27FC236}">
                <a16:creationId xmlns:a16="http://schemas.microsoft.com/office/drawing/2014/main" id="{55F385A5-94B7-4CA8-9E9F-13CDD7B77131}"/>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Human review is required only when the release conditions indicate unresolved risk or ambiguity.</a:t>
            </a:r>
          </a:p>
        </p:txBody>
      </p:sp>
      <p:sp>
        <p:nvSpPr>
          <p:cNvPr id="4" name="">
            <a:extLst xmlns:a="http://schemas.openxmlformats.org/drawingml/2006/main">
              <a:ext uri="{FF2B5EF4-FFF2-40B4-BE49-F238E27FC236}">
                <a16:creationId xmlns:a16="http://schemas.microsoft.com/office/drawing/2014/main" id="{43EE928E-3B38-4065-804E-0DDB737B3B51}"/>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5FAB4416-29BE-4C8E-A76D-A90F56712460}"/>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859C10CE-107F-4082-A91A-B1386910128E}"/>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19</a:t>
            </a:r>
          </a:p>
        </p:txBody>
      </p:sp>
      <p:sp>
        <p:nvSpPr>
          <p:cNvPr id="7" name="">
            <a:extLst xmlns:a="http://schemas.openxmlformats.org/drawingml/2006/main">
              <a:ext uri="{FF2B5EF4-FFF2-40B4-BE49-F238E27FC236}">
                <a16:creationId xmlns:a16="http://schemas.microsoft.com/office/drawing/2014/main" id="{A3C2005C-6CFF-4D10-84F1-962FEACF25B0}"/>
              </a:ext>
            </a:extLst>
          </p:cNvPr>
          <p:cNvSpPr>
            <a:spLocks xmlns:a="http://schemas.openxmlformats.org/drawingml/2006/main" noGrp="1"/>
          </p:cNvSpPr>
          <p:nvPr/>
        </p:nvSpPr>
        <p:spPr>
          <a:xfrm xmlns:a="http://schemas.openxmlformats.org/drawingml/2006/main">
            <a:off x="666750" y="1381125"/>
            <a:ext cx="2952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725" b="1">
                <a:solidFill>
                  <a:srgbClr val="C94A4A"/>
                </a:solidFill>
                <a:latin typeface="Arial"/>
                <a:ea typeface="Arial"/>
                <a:cs typeface="Arial"/>
              </a:defRPr>
            </a:pPr>
            <a:r>
              <a:rPr sz="1725" b="1">
                <a:solidFill>
                  <a:srgbClr val="C94A4A"/>
                </a:solidFill>
                <a:latin typeface="Arial"/>
                <a:ea typeface="Arial"/>
                <a:cs typeface="Arial"/>
              </a:rPr>
              <a:t>When the graph pauses</a:t>
            </a:r>
          </a:p>
        </p:txBody>
      </p:sp>
      <p:sp>
        <p:nvSpPr>
          <p:cNvPr id="8" name="">
            <a:extLst xmlns:a="http://schemas.openxmlformats.org/drawingml/2006/main">
              <a:ext uri="{FF2B5EF4-FFF2-40B4-BE49-F238E27FC236}">
                <a16:creationId xmlns:a16="http://schemas.microsoft.com/office/drawing/2014/main" id="{33127EF1-0CA4-40F8-80E4-7CB61DF55E72}"/>
              </a:ext>
            </a:extLst>
          </p:cNvPr>
          <p:cNvSpPr>
            <a:spLocks xmlns:a="http://schemas.openxmlformats.org/drawingml/2006/main" noGrp="1"/>
          </p:cNvSpPr>
          <p:nvPr/>
        </p:nvSpPr>
        <p:spPr>
          <a:xfrm xmlns:a="http://schemas.openxmlformats.org/drawingml/2006/main">
            <a:off x="666750" y="1866900"/>
            <a:ext cx="3048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A safety or reliability trigger fires.</a:t>
            </a:r>
          </a:p>
          <a:p xmlns:a="http://schemas.openxmlformats.org/drawingml/2006/main">
            <a:r>
              <a:t/>
            </a:r>
          </a:p>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The suspicion score reaches the review threshold.</a:t>
            </a:r>
          </a:p>
          <a:p xmlns:a="http://schemas.openxmlformats.org/drawingml/2006/main">
            <a:r>
              <a:t/>
            </a:r>
          </a:p>
          <a:p xmlns:a="http://schemas.openxmlformats.org/drawingml/2006/main">
            <a:pPr algn="l">
              <a:buNone/>
              <a:defRPr sz="1350" b="0">
                <a:solidFill>
                  <a:srgbClr val="17324D"/>
                </a:solidFill>
                <a:latin typeface="Arial"/>
                <a:ea typeface="Arial"/>
                <a:cs typeface="Arial"/>
              </a:defRPr>
            </a:pPr>
            <a:r>
              <a:rPr sz="1350" b="0">
                <a:solidFill>
                  <a:srgbClr val="17324D"/>
                </a:solidFill>
                <a:latin typeface="Arial"/>
                <a:ea typeface="Arial"/>
                <a:cs typeface="Arial"/>
              </a:rPr>
              <a:t>Required transcripts are missing, a severe source conflict remains, or the repair budget is exhausted.</a:t>
            </a:r>
          </a:p>
        </p:txBody>
      </p:sp>
      <p:sp>
        <p:nvSpPr>
          <p:cNvPr id="9" name="">
            <a:extLst xmlns:a="http://schemas.openxmlformats.org/drawingml/2006/main">
              <a:ext uri="{FF2B5EF4-FFF2-40B4-BE49-F238E27FC236}">
                <a16:creationId xmlns:a16="http://schemas.microsoft.com/office/drawing/2014/main" id="{B6FEF3C6-577C-48DD-8FFE-CB85AFDE4D6A}"/>
              </a:ext>
            </a:extLst>
          </p:cNvPr>
          <p:cNvSpPr>
            <a:spLocks xmlns:a="http://schemas.openxmlformats.org/drawingml/2006/main" noGrp="1"/>
          </p:cNvSpPr>
          <p:nvPr/>
        </p:nvSpPr>
        <p:spPr>
          <a:xfrm xmlns:a="http://schemas.openxmlformats.org/drawingml/2006/main">
            <a:off x="4238625" y="1476375"/>
            <a:ext cx="2524125" cy="1143000"/>
          </a:xfrm>
          <a:prstGeom xmlns:a="http://schemas.openxmlformats.org/drawingml/2006/main" prst="roundRect">
            <a:avLst>
              <a:gd name="adj" fmla="val 11667"/>
            </a:avLst>
          </a:prstGeom>
          <a:solidFill xmlns:a="http://schemas.openxmlformats.org/drawingml/2006/main">
            <a:srgbClr val="103A5C"/>
          </a:solidFill>
          <a:ln xmlns:a="http://schemas.openxmlformats.org/drawingml/2006/main" w="0">
            <a:solidFill>
              <a:srgbClr val="103A5C"/>
            </a:solidFill>
            <a:prstDash val="solid"/>
          </a:ln>
        </p:spPr>
      </p:sp>
      <p:sp>
        <p:nvSpPr>
          <p:cNvPr id="10" name="">
            <a:extLst xmlns:a="http://schemas.openxmlformats.org/drawingml/2006/main">
              <a:ext uri="{FF2B5EF4-FFF2-40B4-BE49-F238E27FC236}">
                <a16:creationId xmlns:a16="http://schemas.microsoft.com/office/drawing/2014/main" id="{FF252793-763E-4E32-B3CC-B59D5B02DC06}"/>
              </a:ext>
            </a:extLst>
          </p:cNvPr>
          <p:cNvSpPr>
            <a:spLocks xmlns:a="http://schemas.openxmlformats.org/drawingml/2006/main" noGrp="1"/>
          </p:cNvSpPr>
          <p:nvPr/>
        </p:nvSpPr>
        <p:spPr>
          <a:xfrm xmlns:a="http://schemas.openxmlformats.org/drawingml/2006/main">
            <a:off x="4362450" y="1590675"/>
            <a:ext cx="22764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10  Quality gate</a:t>
            </a:r>
          </a:p>
        </p:txBody>
      </p:sp>
      <p:sp>
        <p:nvSpPr>
          <p:cNvPr id="11" name="">
            <a:extLst xmlns:a="http://schemas.openxmlformats.org/drawingml/2006/main">
              <a:ext uri="{FF2B5EF4-FFF2-40B4-BE49-F238E27FC236}">
                <a16:creationId xmlns:a16="http://schemas.microsoft.com/office/drawing/2014/main" id="{85752538-49E1-4C15-92DC-551F0C4407F9}"/>
              </a:ext>
            </a:extLst>
          </p:cNvPr>
          <p:cNvSpPr>
            <a:spLocks xmlns:a="http://schemas.openxmlformats.org/drawingml/2006/main" noGrp="1"/>
          </p:cNvSpPr>
          <p:nvPr/>
        </p:nvSpPr>
        <p:spPr>
          <a:xfrm xmlns:a="http://schemas.openxmlformats.org/drawingml/2006/main">
            <a:off x="4391025" y="1885950"/>
            <a:ext cx="2219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Detects the review condition and checkpoints the current graph state.</a:t>
            </a:r>
          </a:p>
        </p:txBody>
      </p:sp>
      <p:sp>
        <p:nvSpPr>
          <p:cNvPr id="12" name="">
            <a:extLst xmlns:a="http://schemas.openxmlformats.org/drawingml/2006/main">
              <a:ext uri="{FF2B5EF4-FFF2-40B4-BE49-F238E27FC236}">
                <a16:creationId xmlns:a16="http://schemas.microsoft.com/office/drawing/2014/main" id="{7B281473-C178-4CEE-877E-A52AAE316834}"/>
              </a:ext>
            </a:extLst>
          </p:cNvPr>
          <p:cNvSpPr>
            <a:spLocks xmlns:a="http://schemas.openxmlformats.org/drawingml/2006/main" noGrp="1"/>
          </p:cNvSpPr>
          <p:nvPr/>
        </p:nvSpPr>
        <p:spPr>
          <a:xfrm xmlns:a="http://schemas.openxmlformats.org/drawingml/2006/main">
            <a:off x="7953375" y="1476375"/>
            <a:ext cx="3190875" cy="1143000"/>
          </a:xfrm>
          <a:prstGeom xmlns:a="http://schemas.openxmlformats.org/drawingml/2006/main" prst="roundRect">
            <a:avLst>
              <a:gd name="adj" fmla="val 11667"/>
            </a:avLst>
          </a:prstGeom>
          <a:solidFill xmlns:a="http://schemas.openxmlformats.org/drawingml/2006/main">
            <a:srgbClr val="103A5C"/>
          </a:solidFill>
          <a:ln xmlns:a="http://schemas.openxmlformats.org/drawingml/2006/main" w="0">
            <a:solidFill>
              <a:srgbClr val="103A5C"/>
            </a:solidFill>
            <a:prstDash val="solid"/>
          </a:ln>
        </p:spPr>
      </p:sp>
      <p:sp>
        <p:nvSpPr>
          <p:cNvPr id="13" name="">
            <a:extLst xmlns:a="http://schemas.openxmlformats.org/drawingml/2006/main">
              <a:ext uri="{FF2B5EF4-FFF2-40B4-BE49-F238E27FC236}">
                <a16:creationId xmlns:a16="http://schemas.microsoft.com/office/drawing/2014/main" id="{38B328DC-6E15-4195-8644-00ADD463ACF8}"/>
              </a:ext>
            </a:extLst>
          </p:cNvPr>
          <p:cNvSpPr>
            <a:spLocks xmlns:a="http://schemas.openxmlformats.org/drawingml/2006/main" noGrp="1"/>
          </p:cNvSpPr>
          <p:nvPr/>
        </p:nvSpPr>
        <p:spPr>
          <a:xfrm xmlns:a="http://schemas.openxmlformats.org/drawingml/2006/main">
            <a:off x="8077200" y="1590675"/>
            <a:ext cx="29432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11  Human review pause</a:t>
            </a:r>
          </a:p>
        </p:txBody>
      </p:sp>
      <p:sp>
        <p:nvSpPr>
          <p:cNvPr id="14" name="">
            <a:extLst xmlns:a="http://schemas.openxmlformats.org/drawingml/2006/main">
              <a:ext uri="{FF2B5EF4-FFF2-40B4-BE49-F238E27FC236}">
                <a16:creationId xmlns:a16="http://schemas.microsoft.com/office/drawing/2014/main" id="{6911107E-1425-4A79-8A53-CE643A8C4597}"/>
              </a:ext>
            </a:extLst>
          </p:cNvPr>
          <p:cNvSpPr>
            <a:spLocks xmlns:a="http://schemas.openxmlformats.org/drawingml/2006/main" noGrp="1"/>
          </p:cNvSpPr>
          <p:nvPr/>
        </p:nvSpPr>
        <p:spPr>
          <a:xfrm xmlns:a="http://schemas.openxmlformats.org/drawingml/2006/main">
            <a:off x="8105775" y="1885950"/>
            <a:ext cx="2886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Shows the draft, warning reason, evidence context, confidence, and source links.</a:t>
            </a:r>
          </a:p>
        </p:txBody>
      </p:sp>
      <p:cxnSp>
        <p:nvCxnSpPr>
          <p:cNvPr id="86" name=""/>
          <p:cNvCxnSpPr>
            <a:stCxn xmlns:a="http://schemas.openxmlformats.org/drawingml/2006/main" id="9" idx="3"/>
            <a:endCxn xmlns:a="http://schemas.openxmlformats.org/drawingml/2006/main" id="12" idx="1"/>
          </p:cNvCxnSpPr>
          <p:nvPr/>
        </p:nvCxnSpPr>
        <p:spPr>
          <a:xfrm xmlns:a="http://schemas.openxmlformats.org/drawingml/2006/main">
            <a:off x="6762750" y="2047875"/>
            <a:ext cx="1190625" cy="0"/>
          </a:xfrm>
          <a:prstGeom xmlns:a="http://schemas.openxmlformats.org/drawingml/2006/main" prst="straightConnector1">
            <a:avLst/>
          </a:prstGeom>
          <a:ln xmlns:a="http://schemas.openxmlformats.org/drawingml/2006/main" w="28575">
            <a:solidFill>
              <a:srgbClr val="009B96"/>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8EBF6CD1-5A0A-4F18-88C7-7B7BA9055C44}"/>
              </a:ext>
            </a:extLst>
          </p:cNvPr>
          <p:cNvSpPr>
            <a:spLocks xmlns:a="http://schemas.openxmlformats.org/drawingml/2006/main" noGrp="1"/>
          </p:cNvSpPr>
          <p:nvPr/>
        </p:nvSpPr>
        <p:spPr>
          <a:xfrm xmlns:a="http://schemas.openxmlformats.org/drawingml/2006/main">
            <a:off x="6858000" y="18859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17" name="">
            <a:extLst xmlns:a="http://schemas.openxmlformats.org/drawingml/2006/main">
              <a:ext uri="{FF2B5EF4-FFF2-40B4-BE49-F238E27FC236}">
                <a16:creationId xmlns:a16="http://schemas.microsoft.com/office/drawing/2014/main" id="{EFEC6A0E-1EFD-4C29-BB8E-8D2CC90614C0}"/>
              </a:ext>
            </a:extLst>
          </p:cNvPr>
          <p:cNvSpPr>
            <a:spLocks xmlns:a="http://schemas.openxmlformats.org/drawingml/2006/main" noGrp="1"/>
          </p:cNvSpPr>
          <p:nvPr/>
        </p:nvSpPr>
        <p:spPr>
          <a:xfrm xmlns:a="http://schemas.openxmlformats.org/drawingml/2006/main">
            <a:off x="6858000" y="19050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3620073E-483C-463F-BA4E-7E8BF197B173}"/>
              </a:ext>
            </a:extLst>
          </p:cNvPr>
          <p:cNvSpPr>
            <a:spLocks xmlns:a="http://schemas.openxmlformats.org/drawingml/2006/main" noGrp="1"/>
          </p:cNvSpPr>
          <p:nvPr/>
        </p:nvSpPr>
        <p:spPr>
          <a:xfrm xmlns:a="http://schemas.openxmlformats.org/drawingml/2006/main">
            <a:off x="7181850" y="1895475"/>
            <a:ext cx="70485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PAUSE</a:t>
            </a:r>
          </a:p>
        </p:txBody>
      </p:sp>
      <p:sp>
        <p:nvSpPr>
          <p:cNvPr id="19" name="">
            <a:extLst xmlns:a="http://schemas.openxmlformats.org/drawingml/2006/main">
              <a:ext uri="{FF2B5EF4-FFF2-40B4-BE49-F238E27FC236}">
                <a16:creationId xmlns:a16="http://schemas.microsoft.com/office/drawing/2014/main" id="{2B9AD88D-B402-4EC8-AD87-8CA3C67E820B}"/>
              </a:ext>
            </a:extLst>
          </p:cNvPr>
          <p:cNvSpPr>
            <a:spLocks xmlns:a="http://schemas.openxmlformats.org/drawingml/2006/main" noGrp="1"/>
          </p:cNvSpPr>
          <p:nvPr/>
        </p:nvSpPr>
        <p:spPr>
          <a:xfrm xmlns:a="http://schemas.openxmlformats.org/drawingml/2006/main">
            <a:off x="4095750" y="4095750"/>
            <a:ext cx="2190750" cy="1143000"/>
          </a:xfrm>
          <a:prstGeom xmlns:a="http://schemas.openxmlformats.org/drawingml/2006/main" prst="roundRect">
            <a:avLst>
              <a:gd name="adj" fmla="val 11667"/>
            </a:avLst>
          </a:prstGeom>
          <a:solidFill xmlns:a="http://schemas.openxmlformats.org/drawingml/2006/main">
            <a:srgbClr val="2F8B5B"/>
          </a:solidFill>
          <a:ln xmlns:a="http://schemas.openxmlformats.org/drawingml/2006/main" w="0">
            <a:solidFill>
              <a:srgbClr val="2F8B5B"/>
            </a:solidFill>
            <a:prstDash val="solid"/>
          </a:ln>
        </p:spPr>
      </p:sp>
      <p:sp>
        <p:nvSpPr>
          <p:cNvPr id="20" name="">
            <a:extLst xmlns:a="http://schemas.openxmlformats.org/drawingml/2006/main">
              <a:ext uri="{FF2B5EF4-FFF2-40B4-BE49-F238E27FC236}">
                <a16:creationId xmlns:a16="http://schemas.microsoft.com/office/drawing/2014/main" id="{824ADB0D-F9BD-48D4-997C-AF143042E7DC}"/>
              </a:ext>
            </a:extLst>
          </p:cNvPr>
          <p:cNvSpPr>
            <a:spLocks xmlns:a="http://schemas.openxmlformats.org/drawingml/2006/main" noGrp="1"/>
          </p:cNvSpPr>
          <p:nvPr/>
        </p:nvSpPr>
        <p:spPr>
          <a:xfrm xmlns:a="http://schemas.openxmlformats.org/drawingml/2006/main">
            <a:off x="4219575" y="4210050"/>
            <a:ext cx="1943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Allow</a:t>
            </a:r>
          </a:p>
        </p:txBody>
      </p:sp>
      <p:sp>
        <p:nvSpPr>
          <p:cNvPr id="21" name="">
            <a:extLst xmlns:a="http://schemas.openxmlformats.org/drawingml/2006/main">
              <a:ext uri="{FF2B5EF4-FFF2-40B4-BE49-F238E27FC236}">
                <a16:creationId xmlns:a16="http://schemas.microsoft.com/office/drawing/2014/main" id="{CC3153FF-CF2D-4619-9150-CC2EB7FA1454}"/>
              </a:ext>
            </a:extLst>
          </p:cNvPr>
          <p:cNvSpPr>
            <a:spLocks xmlns:a="http://schemas.openxmlformats.org/drawingml/2006/main" noGrp="1"/>
          </p:cNvSpPr>
          <p:nvPr/>
        </p:nvSpPr>
        <p:spPr>
          <a:xfrm xmlns:a="http://schemas.openxmlformats.org/drawingml/2006/main">
            <a:off x="4248150" y="4505325"/>
            <a:ext cx="1885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Continue to final validation and publish the report.</a:t>
            </a:r>
          </a:p>
        </p:txBody>
      </p:sp>
      <p:sp>
        <p:nvSpPr>
          <p:cNvPr id="22" name="">
            <a:extLst xmlns:a="http://schemas.openxmlformats.org/drawingml/2006/main">
              <a:ext uri="{FF2B5EF4-FFF2-40B4-BE49-F238E27FC236}">
                <a16:creationId xmlns:a16="http://schemas.microsoft.com/office/drawing/2014/main" id="{4BB6FE8A-2741-4153-A890-88C2509A7302}"/>
              </a:ext>
            </a:extLst>
          </p:cNvPr>
          <p:cNvSpPr>
            <a:spLocks xmlns:a="http://schemas.openxmlformats.org/drawingml/2006/main" noGrp="1"/>
          </p:cNvSpPr>
          <p:nvPr/>
        </p:nvSpPr>
        <p:spPr>
          <a:xfrm xmlns:a="http://schemas.openxmlformats.org/drawingml/2006/main">
            <a:off x="6905625" y="4095750"/>
            <a:ext cx="2381250" cy="1143000"/>
          </a:xfrm>
          <a:prstGeom xmlns:a="http://schemas.openxmlformats.org/drawingml/2006/main" prst="roundRect">
            <a:avLst>
              <a:gd name="adj" fmla="val 11667"/>
            </a:avLst>
          </a:prstGeom>
          <a:solidFill xmlns:a="http://schemas.openxmlformats.org/drawingml/2006/main">
            <a:srgbClr val="3976B9"/>
          </a:solidFill>
          <a:ln xmlns:a="http://schemas.openxmlformats.org/drawingml/2006/main" w="0">
            <a:solidFill>
              <a:srgbClr val="3976B9"/>
            </a:solidFill>
            <a:prstDash val="solid"/>
          </a:ln>
        </p:spPr>
      </p:sp>
      <p:sp>
        <p:nvSpPr>
          <p:cNvPr id="23" name="">
            <a:extLst xmlns:a="http://schemas.openxmlformats.org/drawingml/2006/main">
              <a:ext uri="{FF2B5EF4-FFF2-40B4-BE49-F238E27FC236}">
                <a16:creationId xmlns:a16="http://schemas.microsoft.com/office/drawing/2014/main" id="{786C7B94-655E-4938-9479-AECB1AE95AAE}"/>
              </a:ext>
            </a:extLst>
          </p:cNvPr>
          <p:cNvSpPr>
            <a:spLocks xmlns:a="http://schemas.openxmlformats.org/drawingml/2006/main" noGrp="1"/>
          </p:cNvSpPr>
          <p:nvPr/>
        </p:nvSpPr>
        <p:spPr>
          <a:xfrm xmlns:a="http://schemas.openxmlformats.org/drawingml/2006/main">
            <a:off x="7029450" y="4210050"/>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Revise</a:t>
            </a:r>
          </a:p>
        </p:txBody>
      </p:sp>
      <p:sp>
        <p:nvSpPr>
          <p:cNvPr id="24" name="">
            <a:extLst xmlns:a="http://schemas.openxmlformats.org/drawingml/2006/main">
              <a:ext uri="{FF2B5EF4-FFF2-40B4-BE49-F238E27FC236}">
                <a16:creationId xmlns:a16="http://schemas.microsoft.com/office/drawing/2014/main" id="{9F431E07-9369-4AAF-A334-E66012AD13FF}"/>
              </a:ext>
            </a:extLst>
          </p:cNvPr>
          <p:cNvSpPr>
            <a:spLocks xmlns:a="http://schemas.openxmlformats.org/drawingml/2006/main" noGrp="1"/>
          </p:cNvSpPr>
          <p:nvPr/>
        </p:nvSpPr>
        <p:spPr>
          <a:xfrm xmlns:a="http://schemas.openxmlformats.org/drawingml/2006/main">
            <a:off x="7058025" y="4505325"/>
            <a:ext cx="2076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Send the note to targeted research. The quality gate runs again after that pass.</a:t>
            </a:r>
          </a:p>
        </p:txBody>
      </p:sp>
      <p:sp>
        <p:nvSpPr>
          <p:cNvPr id="25" name="">
            <a:extLst xmlns:a="http://schemas.openxmlformats.org/drawingml/2006/main">
              <a:ext uri="{FF2B5EF4-FFF2-40B4-BE49-F238E27FC236}">
                <a16:creationId xmlns:a16="http://schemas.microsoft.com/office/drawing/2014/main" id="{50636BF8-7970-4BF6-8D70-706C25C01E0E}"/>
              </a:ext>
            </a:extLst>
          </p:cNvPr>
          <p:cNvSpPr>
            <a:spLocks xmlns:a="http://schemas.openxmlformats.org/drawingml/2006/main" noGrp="1"/>
          </p:cNvSpPr>
          <p:nvPr/>
        </p:nvSpPr>
        <p:spPr>
          <a:xfrm xmlns:a="http://schemas.openxmlformats.org/drawingml/2006/main">
            <a:off x="9906000" y="4095750"/>
            <a:ext cx="1714500" cy="1143000"/>
          </a:xfrm>
          <a:prstGeom xmlns:a="http://schemas.openxmlformats.org/drawingml/2006/main" prst="roundRect">
            <a:avLst>
              <a:gd name="adj" fmla="val 11667"/>
            </a:avLst>
          </a:prstGeom>
          <a:solidFill xmlns:a="http://schemas.openxmlformats.org/drawingml/2006/main">
            <a:srgbClr val="103A5C"/>
          </a:solidFill>
          <a:ln xmlns:a="http://schemas.openxmlformats.org/drawingml/2006/main" w="0">
            <a:solidFill>
              <a:srgbClr val="103A5C"/>
            </a:solidFill>
            <a:prstDash val="solid"/>
          </a:ln>
        </p:spPr>
      </p:sp>
      <p:sp>
        <p:nvSpPr>
          <p:cNvPr id="26" name="">
            <a:extLst xmlns:a="http://schemas.openxmlformats.org/drawingml/2006/main">
              <a:ext uri="{FF2B5EF4-FFF2-40B4-BE49-F238E27FC236}">
                <a16:creationId xmlns:a16="http://schemas.microsoft.com/office/drawing/2014/main" id="{41685146-7AEA-4406-BC4A-EAAD8FC771F1}"/>
              </a:ext>
            </a:extLst>
          </p:cNvPr>
          <p:cNvSpPr>
            <a:spLocks xmlns:a="http://schemas.openxmlformats.org/drawingml/2006/main" noGrp="1"/>
          </p:cNvSpPr>
          <p:nvPr/>
        </p:nvSpPr>
        <p:spPr>
          <a:xfrm xmlns:a="http://schemas.openxmlformats.org/drawingml/2006/main">
            <a:off x="10029825" y="4210050"/>
            <a:ext cx="1466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Block</a:t>
            </a:r>
          </a:p>
        </p:txBody>
      </p:sp>
      <p:sp>
        <p:nvSpPr>
          <p:cNvPr id="27" name="">
            <a:extLst xmlns:a="http://schemas.openxmlformats.org/drawingml/2006/main">
              <a:ext uri="{FF2B5EF4-FFF2-40B4-BE49-F238E27FC236}">
                <a16:creationId xmlns:a16="http://schemas.microsoft.com/office/drawing/2014/main" id="{3D946176-A417-4C1E-9ECB-28AD890E95F3}"/>
              </a:ext>
            </a:extLst>
          </p:cNvPr>
          <p:cNvSpPr>
            <a:spLocks xmlns:a="http://schemas.openxmlformats.org/drawingml/2006/main" noGrp="1"/>
          </p:cNvSpPr>
          <p:nvPr/>
        </p:nvSpPr>
        <p:spPr>
          <a:xfrm xmlns:a="http://schemas.openxmlformats.org/drawingml/2006/main">
            <a:off x="10058400" y="4505325"/>
            <a:ext cx="14097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013" b="0">
                <a:solidFill>
                  <a:srgbClr val="FFFFFF"/>
                </a:solidFill>
                <a:latin typeface="Arial"/>
                <a:ea typeface="Arial"/>
                <a:cs typeface="Arial"/>
              </a:defRPr>
            </a:pPr>
            <a:r>
              <a:rPr sz="1013" b="0">
                <a:solidFill>
                  <a:srgbClr val="FFFFFF"/>
                </a:solidFill>
                <a:latin typeface="Arial"/>
                <a:ea typeface="Arial"/>
                <a:cs typeface="Arial"/>
              </a:rPr>
              <a:t>Withhold the report and retain the reviewer's recorded reason.</a:t>
            </a:r>
          </a:p>
        </p:txBody>
      </p:sp>
      <p:cxnSp>
        <p:nvCxnSpPr>
          <p:cNvPr id="99" name=""/>
          <p:cNvCxnSpPr>
            <a:stCxn xmlns:a="http://schemas.openxmlformats.org/drawingml/2006/main" id="12" idx="2"/>
            <a:endCxn xmlns:a="http://schemas.openxmlformats.org/drawingml/2006/main" id="19" idx="0"/>
          </p:cNvCxnSpPr>
          <p:nvPr/>
        </p:nvCxnSpPr>
        <p:spPr>
          <a:xfrm xmlns:a="http://schemas.openxmlformats.org/drawingml/2006/main" flipH="1">
            <a:off x="5191125" y="2619375"/>
            <a:ext cx="4357688" cy="1476375"/>
          </a:xfrm>
          <a:prstGeom xmlns:a="http://schemas.openxmlformats.org/drawingml/2006/main" prst="bentConnector4">
            <a:avLst>
              <a:gd name="adj1" fmla="val 0"/>
              <a:gd name="adj2" fmla="val 50000"/>
            </a:avLst>
          </a:prstGeom>
          <a:ln xmlns:a="http://schemas.openxmlformats.org/drawingml/2006/main" w="28575">
            <a:solidFill>
              <a:srgbClr val="009B96"/>
            </a:solidFill>
            <a:prstDash val="solid"/>
            <a:tailEnd type="triangle" w="med" len="med"/>
          </a:ln>
        </p:spPr>
      </p:cxnSp>
      <p:cxnSp>
        <p:nvCxnSpPr>
          <p:cNvPr id="100" name=""/>
          <p:cNvCxnSpPr>
            <a:stCxn xmlns:a="http://schemas.openxmlformats.org/drawingml/2006/main" id="12" idx="2"/>
            <a:endCxn xmlns:a="http://schemas.openxmlformats.org/drawingml/2006/main" id="22" idx="0"/>
          </p:cNvCxnSpPr>
          <p:nvPr/>
        </p:nvCxnSpPr>
        <p:spPr>
          <a:xfrm xmlns:a="http://schemas.openxmlformats.org/drawingml/2006/main" flipH="1">
            <a:off x="8096250" y="2619375"/>
            <a:ext cx="1452563" cy="1476375"/>
          </a:xfrm>
          <a:prstGeom xmlns:a="http://schemas.openxmlformats.org/drawingml/2006/main" prst="bentConnector4">
            <a:avLst>
              <a:gd name="adj1" fmla="val 0"/>
              <a:gd name="adj2" fmla="val 50000"/>
            </a:avLst>
          </a:prstGeom>
          <a:ln xmlns:a="http://schemas.openxmlformats.org/drawingml/2006/main" w="28575">
            <a:solidFill>
              <a:srgbClr val="009B96"/>
            </a:solidFill>
            <a:prstDash val="solid"/>
            <a:tailEnd type="triangle" w="med" len="med"/>
          </a:ln>
        </p:spPr>
      </p:cxnSp>
      <p:cxnSp>
        <p:nvCxnSpPr>
          <p:cNvPr id="101" name=""/>
          <p:cNvCxnSpPr>
            <a:stCxn xmlns:a="http://schemas.openxmlformats.org/drawingml/2006/main" id="12" idx="2"/>
            <a:endCxn xmlns:a="http://schemas.openxmlformats.org/drawingml/2006/main" id="25" idx="0"/>
          </p:cNvCxnSpPr>
          <p:nvPr/>
        </p:nvCxnSpPr>
        <p:spPr>
          <a:xfrm xmlns:a="http://schemas.openxmlformats.org/drawingml/2006/main">
            <a:off x="9548813" y="2619375"/>
            <a:ext cx="1214438" cy="1476375"/>
          </a:xfrm>
          <a:prstGeom xmlns:a="http://schemas.openxmlformats.org/drawingml/2006/main" prst="bentConnector4">
            <a:avLst>
              <a:gd name="adj1" fmla="val 0"/>
              <a:gd name="adj2" fmla="val 50000"/>
            </a:avLst>
          </a:prstGeom>
          <a:ln xmlns:a="http://schemas.openxmlformats.org/drawingml/2006/main" w="28575">
            <a:solidFill>
              <a:srgbClr val="009B96"/>
            </a:solidFill>
            <a:prstDash val="solid"/>
            <a:tailEnd type="triangle" w="med" len="med"/>
          </a:ln>
        </p:spPr>
      </p:cxnSp>
      <p:sp>
        <p:nvSpPr>
          <p:cNvPr id="31" name="">
            <a:extLst xmlns:a="http://schemas.openxmlformats.org/drawingml/2006/main">
              <a:ext uri="{FF2B5EF4-FFF2-40B4-BE49-F238E27FC236}">
                <a16:creationId xmlns:a16="http://schemas.microsoft.com/office/drawing/2014/main" id="{A7E5A7DD-7062-4457-9260-71A7469C80F8}"/>
              </a:ext>
            </a:extLst>
          </p:cNvPr>
          <p:cNvSpPr>
            <a:spLocks xmlns:a="http://schemas.openxmlformats.org/drawingml/2006/main" noGrp="1"/>
          </p:cNvSpPr>
          <p:nvPr/>
        </p:nvSpPr>
        <p:spPr>
          <a:xfrm xmlns:a="http://schemas.openxmlformats.org/drawingml/2006/main">
            <a:off x="4619625" y="36004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2" name="">
            <a:extLst xmlns:a="http://schemas.openxmlformats.org/drawingml/2006/main">
              <a:ext uri="{FF2B5EF4-FFF2-40B4-BE49-F238E27FC236}">
                <a16:creationId xmlns:a16="http://schemas.microsoft.com/office/drawing/2014/main" id="{C6DA2455-6D0C-410A-AED7-9455FB535D21}"/>
              </a:ext>
            </a:extLst>
          </p:cNvPr>
          <p:cNvSpPr>
            <a:spLocks xmlns:a="http://schemas.openxmlformats.org/drawingml/2006/main" noGrp="1"/>
          </p:cNvSpPr>
          <p:nvPr/>
        </p:nvSpPr>
        <p:spPr>
          <a:xfrm xmlns:a="http://schemas.openxmlformats.org/drawingml/2006/main">
            <a:off x="4619625" y="36195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a:t>
            </a:r>
          </a:p>
        </p:txBody>
      </p:sp>
      <p:sp>
        <p:nvSpPr>
          <p:cNvPr id="33" name="">
            <a:extLst xmlns:a="http://schemas.openxmlformats.org/drawingml/2006/main">
              <a:ext uri="{FF2B5EF4-FFF2-40B4-BE49-F238E27FC236}">
                <a16:creationId xmlns:a16="http://schemas.microsoft.com/office/drawing/2014/main" id="{2C989F74-58CD-4848-AB68-D0EDAB83CDFD}"/>
              </a:ext>
            </a:extLst>
          </p:cNvPr>
          <p:cNvSpPr>
            <a:spLocks xmlns:a="http://schemas.openxmlformats.org/drawingml/2006/main" noGrp="1"/>
          </p:cNvSpPr>
          <p:nvPr/>
        </p:nvSpPr>
        <p:spPr>
          <a:xfrm xmlns:a="http://schemas.openxmlformats.org/drawingml/2006/main">
            <a:off x="4943475" y="3609975"/>
            <a:ext cx="676275"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ALLOW</a:t>
            </a:r>
          </a:p>
        </p:txBody>
      </p:sp>
      <p:sp>
        <p:nvSpPr>
          <p:cNvPr id="34" name="">
            <a:extLst xmlns:a="http://schemas.openxmlformats.org/drawingml/2006/main">
              <a:ext uri="{FF2B5EF4-FFF2-40B4-BE49-F238E27FC236}">
                <a16:creationId xmlns:a16="http://schemas.microsoft.com/office/drawing/2014/main" id="{FA56B260-7EF8-4A7C-B240-12E97B952528}"/>
              </a:ext>
            </a:extLst>
          </p:cNvPr>
          <p:cNvSpPr>
            <a:spLocks xmlns:a="http://schemas.openxmlformats.org/drawingml/2006/main" noGrp="1"/>
          </p:cNvSpPr>
          <p:nvPr/>
        </p:nvSpPr>
        <p:spPr>
          <a:xfrm xmlns:a="http://schemas.openxmlformats.org/drawingml/2006/main">
            <a:off x="7505700" y="36004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5" name="">
            <a:extLst xmlns:a="http://schemas.openxmlformats.org/drawingml/2006/main">
              <a:ext uri="{FF2B5EF4-FFF2-40B4-BE49-F238E27FC236}">
                <a16:creationId xmlns:a16="http://schemas.microsoft.com/office/drawing/2014/main" id="{B59FF573-84D5-4270-8A45-C9CBDB9F4A1C}"/>
              </a:ext>
            </a:extLst>
          </p:cNvPr>
          <p:cNvSpPr>
            <a:spLocks xmlns:a="http://schemas.openxmlformats.org/drawingml/2006/main" noGrp="1"/>
          </p:cNvSpPr>
          <p:nvPr/>
        </p:nvSpPr>
        <p:spPr>
          <a:xfrm xmlns:a="http://schemas.openxmlformats.org/drawingml/2006/main">
            <a:off x="7505700" y="36195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2B</a:t>
            </a:r>
          </a:p>
        </p:txBody>
      </p:sp>
      <p:sp>
        <p:nvSpPr>
          <p:cNvPr id="36" name="">
            <a:extLst xmlns:a="http://schemas.openxmlformats.org/drawingml/2006/main">
              <a:ext uri="{FF2B5EF4-FFF2-40B4-BE49-F238E27FC236}">
                <a16:creationId xmlns:a16="http://schemas.microsoft.com/office/drawing/2014/main" id="{08665040-76D9-43DA-8993-4E7DEB677316}"/>
              </a:ext>
            </a:extLst>
          </p:cNvPr>
          <p:cNvSpPr>
            <a:spLocks xmlns:a="http://schemas.openxmlformats.org/drawingml/2006/main" noGrp="1"/>
          </p:cNvSpPr>
          <p:nvPr/>
        </p:nvSpPr>
        <p:spPr>
          <a:xfrm xmlns:a="http://schemas.openxmlformats.org/drawingml/2006/main">
            <a:off x="7829550" y="3609975"/>
            <a:ext cx="771525"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REVISE</a:t>
            </a:r>
          </a:p>
        </p:txBody>
      </p:sp>
      <p:sp>
        <p:nvSpPr>
          <p:cNvPr id="37" name="">
            <a:extLst xmlns:a="http://schemas.openxmlformats.org/drawingml/2006/main">
              <a:ext uri="{FF2B5EF4-FFF2-40B4-BE49-F238E27FC236}">
                <a16:creationId xmlns:a16="http://schemas.microsoft.com/office/drawing/2014/main" id="{1FB93BB9-A954-4891-BF0E-B83A2D57DBD0}"/>
              </a:ext>
            </a:extLst>
          </p:cNvPr>
          <p:cNvSpPr>
            <a:spLocks xmlns:a="http://schemas.openxmlformats.org/drawingml/2006/main" noGrp="1"/>
          </p:cNvSpPr>
          <p:nvPr/>
        </p:nvSpPr>
        <p:spPr>
          <a:xfrm xmlns:a="http://schemas.openxmlformats.org/drawingml/2006/main">
            <a:off x="10239375" y="3600450"/>
            <a:ext cx="266700" cy="266700"/>
          </a:xfrm>
          <a:prstGeom xmlns:a="http://schemas.openxmlformats.org/drawingml/2006/main" prst="ellipse">
            <a:avLst/>
          </a:prstGeom>
          <a:solidFill xmlns:a="http://schemas.openxmlformats.org/drawingml/2006/main">
            <a:srgbClr val="009B96"/>
          </a:solidFill>
          <a:ln xmlns:a="http://schemas.openxmlformats.org/drawingml/2006/main" w="0">
            <a:solidFill>
              <a:srgbClr val="009B96"/>
            </a:solidFill>
            <a:prstDash val="solid"/>
          </a:ln>
        </p:spPr>
      </p:sp>
      <p:sp>
        <p:nvSpPr>
          <p:cNvPr id="38" name="">
            <a:extLst xmlns:a="http://schemas.openxmlformats.org/drawingml/2006/main">
              <a:ext uri="{FF2B5EF4-FFF2-40B4-BE49-F238E27FC236}">
                <a16:creationId xmlns:a16="http://schemas.microsoft.com/office/drawing/2014/main" id="{08F7D83E-C499-492D-912B-EC85AADE266D}"/>
              </a:ext>
            </a:extLst>
          </p:cNvPr>
          <p:cNvSpPr>
            <a:spLocks xmlns:a="http://schemas.openxmlformats.org/drawingml/2006/main" noGrp="1"/>
          </p:cNvSpPr>
          <p:nvPr/>
        </p:nvSpPr>
        <p:spPr>
          <a:xfrm xmlns:a="http://schemas.openxmlformats.org/drawingml/2006/main">
            <a:off x="10239375" y="3619500"/>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ctr">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2C</a:t>
            </a:r>
          </a:p>
        </p:txBody>
      </p:sp>
      <p:sp>
        <p:nvSpPr>
          <p:cNvPr id="39" name="">
            <a:extLst xmlns:a="http://schemas.openxmlformats.org/drawingml/2006/main">
              <a:ext uri="{FF2B5EF4-FFF2-40B4-BE49-F238E27FC236}">
                <a16:creationId xmlns:a16="http://schemas.microsoft.com/office/drawing/2014/main" id="{284CD80D-472B-43A8-A24C-AB2873F9A0B3}"/>
              </a:ext>
            </a:extLst>
          </p:cNvPr>
          <p:cNvSpPr>
            <a:spLocks xmlns:a="http://schemas.openxmlformats.org/drawingml/2006/main" noGrp="1"/>
          </p:cNvSpPr>
          <p:nvPr/>
        </p:nvSpPr>
        <p:spPr>
          <a:xfrm xmlns:a="http://schemas.openxmlformats.org/drawingml/2006/main">
            <a:off x="10563225" y="3609975"/>
            <a:ext cx="723900" cy="238125"/>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13" b="1">
                <a:solidFill>
                  <a:srgbClr val="009B96"/>
                </a:solidFill>
                <a:latin typeface="Arial"/>
                <a:ea typeface="Arial"/>
                <a:cs typeface="Arial"/>
              </a:defRPr>
            </a:pPr>
            <a:r>
              <a:rPr sz="1013" b="1">
                <a:solidFill>
                  <a:srgbClr val="009B96"/>
                </a:solidFill>
                <a:latin typeface="Arial"/>
                <a:ea typeface="Arial"/>
                <a:cs typeface="Arial"/>
              </a:rPr>
              <a:t>BLOCK</a:t>
            </a:r>
          </a:p>
        </p:txBody>
      </p:sp>
      <p:sp>
        <p:nvSpPr>
          <p:cNvPr id="40" name="">
            <a:extLst xmlns:a="http://schemas.openxmlformats.org/drawingml/2006/main">
              <a:ext uri="{FF2B5EF4-FFF2-40B4-BE49-F238E27FC236}">
                <a16:creationId xmlns:a16="http://schemas.microsoft.com/office/drawing/2014/main" id="{E2F5EECD-579C-40FD-85DF-6FCBBD3B7E09}"/>
              </a:ext>
            </a:extLst>
          </p:cNvPr>
          <p:cNvSpPr>
            <a:spLocks xmlns:a="http://schemas.openxmlformats.org/drawingml/2006/main" noGrp="1"/>
          </p:cNvSpPr>
          <p:nvPr/>
        </p:nvSpPr>
        <p:spPr>
          <a:xfrm xmlns:a="http://schemas.openxmlformats.org/drawingml/2006/main">
            <a:off x="4095750" y="5695950"/>
            <a:ext cx="7524750" cy="476250"/>
          </a:xfrm>
          <a:prstGeom xmlns:a="http://schemas.openxmlformats.org/drawingml/2006/main" prst="roundRect">
            <a:avLst>
              <a:gd name="adj" fmla="val 16000"/>
            </a:avLst>
          </a:prstGeom>
          <a:solidFill xmlns:a="http://schemas.openxmlformats.org/drawingml/2006/main">
            <a:srgbClr val="E6F6F4"/>
          </a:solidFill>
          <a:ln xmlns:a="http://schemas.openxmlformats.org/drawingml/2006/main" w="0">
            <a:solidFill>
              <a:srgbClr val="009B96"/>
            </a:solidFill>
            <a:prstDash val="solid"/>
          </a:ln>
        </p:spPr>
      </p:sp>
      <p:sp>
        <p:nvSpPr>
          <p:cNvPr id="41" name="">
            <a:extLst xmlns:a="http://schemas.openxmlformats.org/drawingml/2006/main">
              <a:ext uri="{FF2B5EF4-FFF2-40B4-BE49-F238E27FC236}">
                <a16:creationId xmlns:a16="http://schemas.microsoft.com/office/drawing/2014/main" id="{8DD1473D-58F0-4E42-9374-1BB2102F9B00}"/>
              </a:ext>
            </a:extLst>
          </p:cNvPr>
          <p:cNvSpPr>
            <a:spLocks xmlns:a="http://schemas.openxmlformats.org/drawingml/2006/main" noGrp="1"/>
          </p:cNvSpPr>
          <p:nvPr/>
        </p:nvSpPr>
        <p:spPr>
          <a:xfrm xmlns:a="http://schemas.openxmlformats.org/drawingml/2006/main">
            <a:off x="4286250" y="5791200"/>
            <a:ext cx="7143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78523"/>
          </a:bodyPr>
          <a:lstStyle xmlns:a="http://schemas.openxmlformats.org/drawingml/2006/main"/>
          <a:p xmlns:a="http://schemas.openxmlformats.org/drawingml/2006/main">
            <a:pPr algn="ctr">
              <a:buNone/>
              <a:defRPr sz="1238" b="1">
                <a:solidFill>
                  <a:srgbClr val="103A5C"/>
                </a:solidFill>
                <a:latin typeface="Arial"/>
                <a:ea typeface="Arial"/>
                <a:cs typeface="Arial"/>
              </a:defRPr>
            </a:pPr>
            <a:r>
              <a:rPr sz="1238" b="1">
                <a:solidFill>
                  <a:srgbClr val="103A5C"/>
                </a:solidFill>
                <a:latin typeface="Arial"/>
                <a:ea typeface="Arial"/>
                <a:cs typeface="Arial"/>
              </a:rPr>
              <a:t>The checkpointer resumes the saved run. A revision does not restart the report, and finalization cannot override a block.</a:t>
            </a:r>
          </a:p>
        </p:txBody>
      </p:sp>
    </p:spTree>
    <p:extLst>
      <p:ext uri="{BB962C8B-B14F-4D97-AF65-F5344CB8AC3E}">
        <p14:creationId xmlns:p14="http://schemas.microsoft.com/office/powerpoint/2010/main" val="1388148832"/>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1E95D5F0-142D-47BE-842F-E242FA46381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6F947A47-24E4-48C0-A280-FD9F70925B8D}"/>
              </a:ext>
            </a:extLst>
          </p:cNvPr>
          <p:cNvSpPr>
            <a:spLocks xmlns:a="http://schemas.openxmlformats.org/drawingml/2006/main" noGrp="1"/>
          </p:cNvSpPr>
          <p:nvPr/>
        </p:nvSpPr>
        <p:spPr>
          <a:xfrm xmlns:a="http://schemas.openxmlformats.org/drawingml/2006/main">
            <a:off x="590550" y="323850"/>
            <a:ext cx="1095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2550" b="1">
                <a:solidFill>
                  <a:srgbClr val="103A5C"/>
                </a:solidFill>
                <a:latin typeface="Arial"/>
                <a:ea typeface="Arial"/>
                <a:cs typeface="Arial"/>
              </a:defRPr>
            </a:pPr>
            <a:r>
              <a:rPr sz="2550" b="1">
                <a:solidFill>
                  <a:srgbClr val="103A5C"/>
                </a:solidFill>
                <a:latin typeface="Arial"/>
                <a:ea typeface="Arial"/>
                <a:cs typeface="Arial"/>
              </a:rPr>
              <a:t>Current limitations and next steps</a:t>
            </a:r>
          </a:p>
        </p:txBody>
      </p:sp>
      <p:sp>
        <p:nvSpPr>
          <p:cNvPr id="3" name="">
            <a:extLst xmlns:a="http://schemas.openxmlformats.org/drawingml/2006/main">
              <a:ext uri="{FF2B5EF4-FFF2-40B4-BE49-F238E27FC236}">
                <a16:creationId xmlns:a16="http://schemas.microsoft.com/office/drawing/2014/main" id="{7EB57378-598E-4AB8-96F3-84B8FD4E83EB}"/>
              </a:ext>
            </a:extLst>
          </p:cNvPr>
          <p:cNvSpPr>
            <a:spLocks xmlns:a="http://schemas.openxmlformats.org/drawingml/2006/main" noGrp="1"/>
          </p:cNvSpPr>
          <p:nvPr/>
        </p:nvSpPr>
        <p:spPr>
          <a:xfrm xmlns:a="http://schemas.openxmlformats.org/drawingml/2006/main">
            <a:off x="609600" y="838200"/>
            <a:ext cx="10906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275" b="0">
                <a:solidFill>
                  <a:srgbClr val="5E748A"/>
                </a:solidFill>
                <a:latin typeface="Arial"/>
                <a:ea typeface="Arial"/>
                <a:cs typeface="Arial"/>
              </a:defRPr>
            </a:pPr>
            <a:r>
              <a:rPr sz="1275" b="0">
                <a:solidFill>
                  <a:srgbClr val="5E748A"/>
                </a:solidFill>
                <a:latin typeface="Arial"/>
                <a:ea typeface="Arial"/>
                <a:cs typeface="Arial"/>
              </a:rPr>
              <a:t>The system is a research-assistance prototype with explicit boundaries and a practical improvement path.</a:t>
            </a:r>
          </a:p>
        </p:txBody>
      </p:sp>
      <p:sp>
        <p:nvSpPr>
          <p:cNvPr id="4" name="">
            <a:extLst xmlns:a="http://schemas.openxmlformats.org/drawingml/2006/main">
              <a:ext uri="{FF2B5EF4-FFF2-40B4-BE49-F238E27FC236}">
                <a16:creationId xmlns:a16="http://schemas.microsoft.com/office/drawing/2014/main" id="{3853B3D8-5751-4454-8B2C-76A0C66E1D2C}"/>
              </a:ext>
            </a:extLst>
          </p:cNvPr>
          <p:cNvSpPr>
            <a:spLocks xmlns:a="http://schemas.openxmlformats.org/drawingml/2006/main" noGrp="1"/>
          </p:cNvSpPr>
          <p:nvPr/>
        </p:nvSpPr>
        <p:spPr>
          <a:xfrm xmlns:a="http://schemas.openxmlformats.org/drawingml/2006/main">
            <a:off x="590550" y="6429375"/>
            <a:ext cx="11001375" cy="0"/>
          </a:xfrm>
          <a:prstGeom xmlns:a="http://schemas.openxmlformats.org/drawingml/2006/main" prst="line">
            <a:avLst/>
          </a:prstGeom>
          <a:noFill xmlns:a="http://schemas.openxmlformats.org/drawingml/2006/main"/>
          <a:ln xmlns:a="http://schemas.openxmlformats.org/drawingml/2006/main" w="9525">
            <a:solidFill>
              <a:srgbClr val="D5E0EA"/>
            </a:solidFill>
            <a:prstDash val="solid"/>
          </a:ln>
        </p:spPr>
      </p:sp>
      <p:sp>
        <p:nvSpPr>
          <p:cNvPr id="5" name="">
            <a:extLst xmlns:a="http://schemas.openxmlformats.org/drawingml/2006/main">
              <a:ext uri="{FF2B5EF4-FFF2-40B4-BE49-F238E27FC236}">
                <a16:creationId xmlns:a16="http://schemas.microsoft.com/office/drawing/2014/main" id="{9EEB1E45-FBEE-4958-AACF-32427AF772A9}"/>
              </a:ext>
            </a:extLst>
          </p:cNvPr>
          <p:cNvSpPr>
            <a:spLocks xmlns:a="http://schemas.openxmlformats.org/drawingml/2006/main" noGrp="1"/>
          </p:cNvSpPr>
          <p:nvPr/>
        </p:nvSpPr>
        <p:spPr>
          <a:xfrm xmlns:a="http://schemas.openxmlformats.org/drawingml/2006/main">
            <a:off x="609600" y="65151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788" b="0">
                <a:solidFill>
                  <a:srgbClr val="5E748A"/>
                </a:solidFill>
                <a:latin typeface="Arial"/>
                <a:ea typeface="Arial"/>
                <a:cs typeface="Arial"/>
              </a:defRPr>
            </a:pPr>
            <a:r>
              <a:rPr sz="788" b="0">
                <a:solidFill>
                  <a:srgbClr val="5E748A"/>
                </a:solidFill>
                <a:latin typeface="Arial"/>
                <a:ea typeface="Arial"/>
                <a:cs typeface="Arial"/>
              </a:rPr>
              <a:t>CMU Agentic AI Program  Final Project</a:t>
            </a:r>
          </a:p>
        </p:txBody>
      </p:sp>
      <p:sp>
        <p:nvSpPr>
          <p:cNvPr id="6" name="">
            <a:extLst xmlns:a="http://schemas.openxmlformats.org/drawingml/2006/main">
              <a:ext uri="{FF2B5EF4-FFF2-40B4-BE49-F238E27FC236}">
                <a16:creationId xmlns:a16="http://schemas.microsoft.com/office/drawing/2014/main" id="{530B24CF-5DC4-4926-A751-EB9818979955}"/>
              </a:ext>
            </a:extLst>
          </p:cNvPr>
          <p:cNvSpPr>
            <a:spLocks xmlns:a="http://schemas.openxmlformats.org/drawingml/2006/main" noGrp="1"/>
          </p:cNvSpPr>
          <p:nvPr/>
        </p:nvSpPr>
        <p:spPr>
          <a:xfrm xmlns:a="http://schemas.openxmlformats.org/drawingml/2006/main">
            <a:off x="11049000" y="651510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r">
              <a:buNone/>
              <a:defRPr sz="788" b="0">
                <a:solidFill>
                  <a:srgbClr val="5E748A"/>
                </a:solidFill>
                <a:latin typeface="Arial"/>
                <a:ea typeface="Arial"/>
                <a:cs typeface="Arial"/>
              </a:defRPr>
            </a:pPr>
            <a:r>
              <a:rPr sz="788" b="0">
                <a:solidFill>
                  <a:srgbClr val="5E748A"/>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2AB5A531-0ACD-4798-BBF2-60D42B0B4237}"/>
              </a:ext>
            </a:extLst>
          </p:cNvPr>
          <p:cNvSpPr>
            <a:spLocks xmlns:a="http://schemas.openxmlformats.org/drawingml/2006/main" noGrp="1"/>
          </p:cNvSpPr>
          <p:nvPr/>
        </p:nvSpPr>
        <p:spPr>
          <a:xfrm xmlns:a="http://schemas.openxmlformats.org/drawingml/2006/main">
            <a:off x="685800" y="1409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800" b="1">
                <a:solidFill>
                  <a:srgbClr val="C94A4A"/>
                </a:solidFill>
                <a:latin typeface="Arial"/>
                <a:ea typeface="Arial"/>
                <a:cs typeface="Arial"/>
              </a:defRPr>
            </a:pPr>
            <a:r>
              <a:rPr sz="1800" b="1">
                <a:solidFill>
                  <a:srgbClr val="C94A4A"/>
                </a:solidFill>
                <a:latin typeface="Arial"/>
                <a:ea typeface="Arial"/>
                <a:cs typeface="Arial"/>
              </a:rPr>
              <a:t>Current limitations</a:t>
            </a:r>
          </a:p>
        </p:txBody>
      </p:sp>
      <p:sp>
        <p:nvSpPr>
          <p:cNvPr id="8" name="">
            <a:extLst xmlns:a="http://schemas.openxmlformats.org/drawingml/2006/main">
              <a:ext uri="{FF2B5EF4-FFF2-40B4-BE49-F238E27FC236}">
                <a16:creationId xmlns:a16="http://schemas.microsoft.com/office/drawing/2014/main" id="{F4766287-3F3F-4154-933C-05BAE2C3F70D}"/>
              </a:ext>
            </a:extLst>
          </p:cNvPr>
          <p:cNvSpPr>
            <a:spLocks xmlns:a="http://schemas.openxmlformats.org/drawingml/2006/main" noGrp="1"/>
          </p:cNvSpPr>
          <p:nvPr/>
        </p:nvSpPr>
        <p:spPr>
          <a:xfrm xmlns:a="http://schemas.openxmlformats.org/drawingml/2006/main">
            <a:off x="685800" y="1971675"/>
            <a:ext cx="66675" cy="819150"/>
          </a:xfrm>
          <a:prstGeom xmlns:a="http://schemas.openxmlformats.org/drawingml/2006/main" prst="roundRect">
            <a:avLst>
              <a:gd name="adj" fmla="val 42857"/>
            </a:avLst>
          </a:prstGeom>
          <a:solidFill xmlns:a="http://schemas.openxmlformats.org/drawingml/2006/main">
            <a:srgbClr val="C94A4A"/>
          </a:solidFill>
          <a:ln xmlns:a="http://schemas.openxmlformats.org/drawingml/2006/main" w="0">
            <a:solidFill>
              <a:srgbClr val="C94A4A"/>
            </a:solidFill>
            <a:prstDash val="solid"/>
          </a:ln>
        </p:spPr>
      </p:sp>
      <p:sp>
        <p:nvSpPr>
          <p:cNvPr id="9" name="">
            <a:extLst xmlns:a="http://schemas.openxmlformats.org/drawingml/2006/main">
              <a:ext uri="{FF2B5EF4-FFF2-40B4-BE49-F238E27FC236}">
                <a16:creationId xmlns:a16="http://schemas.microsoft.com/office/drawing/2014/main" id="{14E948DF-D768-4CA8-92AA-4E20A160337D}"/>
              </a:ext>
            </a:extLst>
          </p:cNvPr>
          <p:cNvSpPr>
            <a:spLocks xmlns:a="http://schemas.openxmlformats.org/drawingml/2006/main" noGrp="1"/>
          </p:cNvSpPr>
          <p:nvPr/>
        </p:nvSpPr>
        <p:spPr>
          <a:xfrm xmlns:a="http://schemas.openxmlformats.org/drawingml/2006/main">
            <a:off x="876300" y="195262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C94A4A"/>
                </a:solidFill>
                <a:latin typeface="Arial"/>
                <a:ea typeface="Arial"/>
                <a:cs typeface="Arial"/>
              </a:defRPr>
            </a:pPr>
            <a:r>
              <a:rPr sz="1050" b="1">
                <a:solidFill>
                  <a:srgbClr val="C94A4A"/>
                </a:solidFill>
                <a:latin typeface="Arial"/>
                <a:ea typeface="Arial"/>
                <a:cs typeface="Arial"/>
              </a:rPr>
              <a:t>Evaluation scale</a:t>
            </a:r>
          </a:p>
        </p:txBody>
      </p:sp>
      <p:sp>
        <p:nvSpPr>
          <p:cNvPr id="10" name="">
            <a:extLst xmlns:a="http://schemas.openxmlformats.org/drawingml/2006/main">
              <a:ext uri="{FF2B5EF4-FFF2-40B4-BE49-F238E27FC236}">
                <a16:creationId xmlns:a16="http://schemas.microsoft.com/office/drawing/2014/main" id="{6309D912-EA33-4A6C-AF0F-30E055E6D950}"/>
              </a:ext>
            </a:extLst>
          </p:cNvPr>
          <p:cNvSpPr>
            <a:spLocks xmlns:a="http://schemas.openxmlformats.org/drawingml/2006/main" noGrp="1"/>
          </p:cNvSpPr>
          <p:nvPr/>
        </p:nvSpPr>
        <p:spPr>
          <a:xfrm xmlns:a="http://schemas.openxmlformats.org/drawingml/2006/main">
            <a:off x="876300" y="221932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5725"/>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Four synthetic behavioral cases and nine monitor labels cannot represent all sectors, filings, and adversarial source text.</a:t>
            </a:r>
          </a:p>
        </p:txBody>
      </p:sp>
      <p:sp>
        <p:nvSpPr>
          <p:cNvPr id="11" name="">
            <a:extLst xmlns:a="http://schemas.openxmlformats.org/drawingml/2006/main">
              <a:ext uri="{FF2B5EF4-FFF2-40B4-BE49-F238E27FC236}">
                <a16:creationId xmlns:a16="http://schemas.microsoft.com/office/drawing/2014/main" id="{72FF9E08-5D13-461C-9C6A-2363ECD8E7EA}"/>
              </a:ext>
            </a:extLst>
          </p:cNvPr>
          <p:cNvSpPr>
            <a:spLocks xmlns:a="http://schemas.openxmlformats.org/drawingml/2006/main" noGrp="1"/>
          </p:cNvSpPr>
          <p:nvPr/>
        </p:nvSpPr>
        <p:spPr>
          <a:xfrm xmlns:a="http://schemas.openxmlformats.org/drawingml/2006/main">
            <a:off x="685800" y="3019425"/>
            <a:ext cx="66675" cy="819150"/>
          </a:xfrm>
          <a:prstGeom xmlns:a="http://schemas.openxmlformats.org/drawingml/2006/main" prst="roundRect">
            <a:avLst>
              <a:gd name="adj" fmla="val 42857"/>
            </a:avLst>
          </a:prstGeom>
          <a:solidFill xmlns:a="http://schemas.openxmlformats.org/drawingml/2006/main">
            <a:srgbClr val="C94A4A"/>
          </a:solidFill>
          <a:ln xmlns:a="http://schemas.openxmlformats.org/drawingml/2006/main" w="0">
            <a:solidFill>
              <a:srgbClr val="C94A4A"/>
            </a:solidFill>
            <a:prstDash val="solid"/>
          </a:ln>
        </p:spPr>
      </p:sp>
      <p:sp>
        <p:nvSpPr>
          <p:cNvPr id="12" name="">
            <a:extLst xmlns:a="http://schemas.openxmlformats.org/drawingml/2006/main">
              <a:ext uri="{FF2B5EF4-FFF2-40B4-BE49-F238E27FC236}">
                <a16:creationId xmlns:a16="http://schemas.microsoft.com/office/drawing/2014/main" id="{9AC2F8CF-302C-4227-BBCB-54D169576F8D}"/>
              </a:ext>
            </a:extLst>
          </p:cNvPr>
          <p:cNvSpPr>
            <a:spLocks xmlns:a="http://schemas.openxmlformats.org/drawingml/2006/main" noGrp="1"/>
          </p:cNvSpPr>
          <p:nvPr/>
        </p:nvSpPr>
        <p:spPr>
          <a:xfrm xmlns:a="http://schemas.openxmlformats.org/drawingml/2006/main">
            <a:off x="876300" y="300037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C94A4A"/>
                </a:solidFill>
                <a:latin typeface="Arial"/>
                <a:ea typeface="Arial"/>
                <a:cs typeface="Arial"/>
              </a:defRPr>
            </a:pPr>
            <a:r>
              <a:rPr sz="1050" b="1">
                <a:solidFill>
                  <a:srgbClr val="C94A4A"/>
                </a:solidFill>
                <a:latin typeface="Arial"/>
                <a:ea typeface="Arial"/>
                <a:cs typeface="Arial"/>
              </a:rPr>
              <a:t>External dependencies</a:t>
            </a:r>
          </a:p>
        </p:txBody>
      </p:sp>
      <p:sp>
        <p:nvSpPr>
          <p:cNvPr id="13" name="">
            <a:extLst xmlns:a="http://schemas.openxmlformats.org/drawingml/2006/main">
              <a:ext uri="{FF2B5EF4-FFF2-40B4-BE49-F238E27FC236}">
                <a16:creationId xmlns:a16="http://schemas.microsoft.com/office/drawing/2014/main" id="{623BA98E-838A-4A5D-98DB-3D29A0AE5CE0}"/>
              </a:ext>
            </a:extLst>
          </p:cNvPr>
          <p:cNvSpPr>
            <a:spLocks xmlns:a="http://schemas.openxmlformats.org/drawingml/2006/main" noGrp="1"/>
          </p:cNvSpPr>
          <p:nvPr/>
        </p:nvSpPr>
        <p:spPr>
          <a:xfrm xmlns:a="http://schemas.openxmlformats.org/drawingml/2006/main">
            <a:off x="876300" y="326707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9019"/>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Model and data provider latency dominates runtime, and source availability or provider corrections can change results.</a:t>
            </a:r>
          </a:p>
        </p:txBody>
      </p:sp>
      <p:sp>
        <p:nvSpPr>
          <p:cNvPr id="14" name="">
            <a:extLst xmlns:a="http://schemas.openxmlformats.org/drawingml/2006/main">
              <a:ext uri="{FF2B5EF4-FFF2-40B4-BE49-F238E27FC236}">
                <a16:creationId xmlns:a16="http://schemas.microsoft.com/office/drawing/2014/main" id="{435ED282-9C31-44C8-900F-C338BB397897}"/>
              </a:ext>
            </a:extLst>
          </p:cNvPr>
          <p:cNvSpPr>
            <a:spLocks xmlns:a="http://schemas.openxmlformats.org/drawingml/2006/main" noGrp="1"/>
          </p:cNvSpPr>
          <p:nvPr/>
        </p:nvSpPr>
        <p:spPr>
          <a:xfrm xmlns:a="http://schemas.openxmlformats.org/drawingml/2006/main">
            <a:off x="685800" y="4067175"/>
            <a:ext cx="66675" cy="819150"/>
          </a:xfrm>
          <a:prstGeom xmlns:a="http://schemas.openxmlformats.org/drawingml/2006/main" prst="roundRect">
            <a:avLst>
              <a:gd name="adj" fmla="val 42857"/>
            </a:avLst>
          </a:prstGeom>
          <a:solidFill xmlns:a="http://schemas.openxmlformats.org/drawingml/2006/main">
            <a:srgbClr val="C94A4A"/>
          </a:solidFill>
          <a:ln xmlns:a="http://schemas.openxmlformats.org/drawingml/2006/main" w="0">
            <a:solidFill>
              <a:srgbClr val="C94A4A"/>
            </a:solidFill>
            <a:prstDash val="solid"/>
          </a:ln>
        </p:spPr>
      </p:sp>
      <p:sp>
        <p:nvSpPr>
          <p:cNvPr id="15" name="">
            <a:extLst xmlns:a="http://schemas.openxmlformats.org/drawingml/2006/main">
              <a:ext uri="{FF2B5EF4-FFF2-40B4-BE49-F238E27FC236}">
                <a16:creationId xmlns:a16="http://schemas.microsoft.com/office/drawing/2014/main" id="{725CB945-33E6-4136-B5C6-401A5CE0E0AF}"/>
              </a:ext>
            </a:extLst>
          </p:cNvPr>
          <p:cNvSpPr>
            <a:spLocks xmlns:a="http://schemas.openxmlformats.org/drawingml/2006/main" noGrp="1"/>
          </p:cNvSpPr>
          <p:nvPr/>
        </p:nvSpPr>
        <p:spPr>
          <a:xfrm xmlns:a="http://schemas.openxmlformats.org/drawingml/2006/main">
            <a:off x="876300" y="404812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C94A4A"/>
                </a:solidFill>
                <a:latin typeface="Arial"/>
                <a:ea typeface="Arial"/>
                <a:cs typeface="Arial"/>
              </a:defRPr>
            </a:pPr>
            <a:r>
              <a:rPr sz="1050" b="1">
                <a:solidFill>
                  <a:srgbClr val="C94A4A"/>
                </a:solidFill>
                <a:latin typeface="Arial"/>
                <a:ea typeface="Arial"/>
                <a:cs typeface="Arial"/>
              </a:rPr>
              <a:t>Caching boundary</a:t>
            </a:r>
          </a:p>
        </p:txBody>
      </p:sp>
      <p:sp>
        <p:nvSpPr>
          <p:cNvPr id="16" name="">
            <a:extLst xmlns:a="http://schemas.openxmlformats.org/drawingml/2006/main">
              <a:ext uri="{FF2B5EF4-FFF2-40B4-BE49-F238E27FC236}">
                <a16:creationId xmlns:a16="http://schemas.microsoft.com/office/drawing/2014/main" id="{9F2975DE-575A-4560-82F8-6E6C4E2EE5A4}"/>
              </a:ext>
            </a:extLst>
          </p:cNvPr>
          <p:cNvSpPr>
            <a:spLocks xmlns:a="http://schemas.openxmlformats.org/drawingml/2006/main" noGrp="1"/>
          </p:cNvSpPr>
          <p:nvPr/>
        </p:nvSpPr>
        <p:spPr>
          <a:xfrm xmlns:a="http://schemas.openxmlformats.org/drawingml/2006/main">
            <a:off x="876300" y="431482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Chroma reuses source passages, but exact final-report reuse is not implemented.</a:t>
            </a:r>
          </a:p>
        </p:txBody>
      </p:sp>
      <p:sp>
        <p:nvSpPr>
          <p:cNvPr id="17" name="">
            <a:extLst xmlns:a="http://schemas.openxmlformats.org/drawingml/2006/main">
              <a:ext uri="{FF2B5EF4-FFF2-40B4-BE49-F238E27FC236}">
                <a16:creationId xmlns:a16="http://schemas.microsoft.com/office/drawing/2014/main" id="{2BB8BA1A-0EA5-4425-AF96-CF8FEF620698}"/>
              </a:ext>
            </a:extLst>
          </p:cNvPr>
          <p:cNvSpPr>
            <a:spLocks xmlns:a="http://schemas.openxmlformats.org/drawingml/2006/main" noGrp="1"/>
          </p:cNvSpPr>
          <p:nvPr/>
        </p:nvSpPr>
        <p:spPr>
          <a:xfrm xmlns:a="http://schemas.openxmlformats.org/drawingml/2006/main">
            <a:off x="685800" y="5114925"/>
            <a:ext cx="66675" cy="819150"/>
          </a:xfrm>
          <a:prstGeom xmlns:a="http://schemas.openxmlformats.org/drawingml/2006/main" prst="roundRect">
            <a:avLst>
              <a:gd name="adj" fmla="val 42857"/>
            </a:avLst>
          </a:prstGeom>
          <a:solidFill xmlns:a="http://schemas.openxmlformats.org/drawingml/2006/main">
            <a:srgbClr val="C94A4A"/>
          </a:solidFill>
          <a:ln xmlns:a="http://schemas.openxmlformats.org/drawingml/2006/main" w="0">
            <a:solidFill>
              <a:srgbClr val="C94A4A"/>
            </a:solidFill>
            <a:prstDash val="solid"/>
          </a:ln>
        </p:spPr>
      </p:sp>
      <p:sp>
        <p:nvSpPr>
          <p:cNvPr id="18" name="">
            <a:extLst xmlns:a="http://schemas.openxmlformats.org/drawingml/2006/main">
              <a:ext uri="{FF2B5EF4-FFF2-40B4-BE49-F238E27FC236}">
                <a16:creationId xmlns:a16="http://schemas.microsoft.com/office/drawing/2014/main" id="{F125F013-0E65-4ABA-B732-E3D2DF64B5DD}"/>
              </a:ext>
            </a:extLst>
          </p:cNvPr>
          <p:cNvSpPr>
            <a:spLocks xmlns:a="http://schemas.openxmlformats.org/drawingml/2006/main" noGrp="1"/>
          </p:cNvSpPr>
          <p:nvPr/>
        </p:nvSpPr>
        <p:spPr>
          <a:xfrm xmlns:a="http://schemas.openxmlformats.org/drawingml/2006/main">
            <a:off x="876300" y="509587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C94A4A"/>
                </a:solidFill>
                <a:latin typeface="Arial"/>
                <a:ea typeface="Arial"/>
                <a:cs typeface="Arial"/>
              </a:defRPr>
            </a:pPr>
            <a:r>
              <a:rPr sz="1050" b="1">
                <a:solidFill>
                  <a:srgbClr val="C94A4A"/>
                </a:solidFill>
                <a:latin typeface="Arial"/>
                <a:ea typeface="Arial"/>
                <a:cs typeface="Arial"/>
              </a:rPr>
              <a:t>Deployment boundary</a:t>
            </a:r>
          </a:p>
        </p:txBody>
      </p:sp>
      <p:sp>
        <p:nvSpPr>
          <p:cNvPr id="19" name="">
            <a:extLst xmlns:a="http://schemas.openxmlformats.org/drawingml/2006/main">
              <a:ext uri="{FF2B5EF4-FFF2-40B4-BE49-F238E27FC236}">
                <a16:creationId xmlns:a16="http://schemas.microsoft.com/office/drawing/2014/main" id="{7112D42F-29E9-46CD-9493-1CFEEABEA892}"/>
              </a:ext>
            </a:extLst>
          </p:cNvPr>
          <p:cNvSpPr>
            <a:spLocks xmlns:a="http://schemas.openxmlformats.org/drawingml/2006/main" noGrp="1"/>
          </p:cNvSpPr>
          <p:nvPr/>
        </p:nvSpPr>
        <p:spPr>
          <a:xfrm xmlns:a="http://schemas.openxmlformats.org/drawingml/2006/main">
            <a:off x="876300" y="536257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The current interface is a local Streamlit application without multi-user authentication or production incident operations.</a:t>
            </a:r>
          </a:p>
        </p:txBody>
      </p:sp>
      <p:sp>
        <p:nvSpPr>
          <p:cNvPr id="20" name="">
            <a:extLst xmlns:a="http://schemas.openxmlformats.org/drawingml/2006/main">
              <a:ext uri="{FF2B5EF4-FFF2-40B4-BE49-F238E27FC236}">
                <a16:creationId xmlns:a16="http://schemas.microsoft.com/office/drawing/2014/main" id="{F69B87FF-FB3C-4130-8FE7-5274AD7561AE}"/>
              </a:ext>
            </a:extLst>
          </p:cNvPr>
          <p:cNvSpPr>
            <a:spLocks xmlns:a="http://schemas.openxmlformats.org/drawingml/2006/main" noGrp="1"/>
          </p:cNvSpPr>
          <p:nvPr/>
        </p:nvSpPr>
        <p:spPr>
          <a:xfrm xmlns:a="http://schemas.openxmlformats.org/drawingml/2006/main">
            <a:off x="6334125" y="14097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800" b="1">
                <a:solidFill>
                  <a:srgbClr val="3976B9"/>
                </a:solidFill>
                <a:latin typeface="Arial"/>
                <a:ea typeface="Arial"/>
                <a:cs typeface="Arial"/>
              </a:defRPr>
            </a:pPr>
            <a:r>
              <a:rPr sz="1800" b="1">
                <a:solidFill>
                  <a:srgbClr val="3976B9"/>
                </a:solidFill>
                <a:latin typeface="Arial"/>
                <a:ea typeface="Arial"/>
                <a:cs typeface="Arial"/>
              </a:rPr>
              <a:t>Next steps</a:t>
            </a:r>
          </a:p>
        </p:txBody>
      </p:sp>
      <p:sp>
        <p:nvSpPr>
          <p:cNvPr id="21" name="">
            <a:extLst xmlns:a="http://schemas.openxmlformats.org/drawingml/2006/main">
              <a:ext uri="{FF2B5EF4-FFF2-40B4-BE49-F238E27FC236}">
                <a16:creationId xmlns:a16="http://schemas.microsoft.com/office/drawing/2014/main" id="{05212850-8CFE-4471-9D41-D7297C8E9A44}"/>
              </a:ext>
            </a:extLst>
          </p:cNvPr>
          <p:cNvSpPr>
            <a:spLocks xmlns:a="http://schemas.openxmlformats.org/drawingml/2006/main" noGrp="1"/>
          </p:cNvSpPr>
          <p:nvPr/>
        </p:nvSpPr>
        <p:spPr>
          <a:xfrm xmlns:a="http://schemas.openxmlformats.org/drawingml/2006/main">
            <a:off x="6334125" y="1971675"/>
            <a:ext cx="66675" cy="819150"/>
          </a:xfrm>
          <a:prstGeom xmlns:a="http://schemas.openxmlformats.org/drawingml/2006/main" prst="roundRect">
            <a:avLst>
              <a:gd name="adj" fmla="val 42857"/>
            </a:avLst>
          </a:prstGeom>
          <a:solidFill xmlns:a="http://schemas.openxmlformats.org/drawingml/2006/main">
            <a:srgbClr val="3976B9"/>
          </a:solidFill>
          <a:ln xmlns:a="http://schemas.openxmlformats.org/drawingml/2006/main" w="0">
            <a:solidFill>
              <a:srgbClr val="3976B9"/>
            </a:solidFill>
            <a:prstDash val="solid"/>
          </a:ln>
        </p:spPr>
      </p:sp>
      <p:sp>
        <p:nvSpPr>
          <p:cNvPr id="22" name="">
            <a:extLst xmlns:a="http://schemas.openxmlformats.org/drawingml/2006/main">
              <a:ext uri="{FF2B5EF4-FFF2-40B4-BE49-F238E27FC236}">
                <a16:creationId xmlns:a16="http://schemas.microsoft.com/office/drawing/2014/main" id="{D4A6D71B-B9ED-4949-A6B8-3AFB1AF4289D}"/>
              </a:ext>
            </a:extLst>
          </p:cNvPr>
          <p:cNvSpPr>
            <a:spLocks xmlns:a="http://schemas.openxmlformats.org/drawingml/2006/main" noGrp="1"/>
          </p:cNvSpPr>
          <p:nvPr/>
        </p:nvSpPr>
        <p:spPr>
          <a:xfrm xmlns:a="http://schemas.openxmlformats.org/drawingml/2006/main">
            <a:off x="6524625" y="195262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3976B9"/>
                </a:solidFill>
                <a:latin typeface="Arial"/>
                <a:ea typeface="Arial"/>
                <a:cs typeface="Arial"/>
              </a:defRPr>
            </a:pPr>
            <a:r>
              <a:rPr sz="1050" b="1">
                <a:solidFill>
                  <a:srgbClr val="3976B9"/>
                </a:solidFill>
                <a:latin typeface="Arial"/>
                <a:ea typeface="Arial"/>
                <a:cs typeface="Arial"/>
              </a:rPr>
              <a:t>Versioned report cache</a:t>
            </a:r>
          </a:p>
        </p:txBody>
      </p:sp>
      <p:sp>
        <p:nvSpPr>
          <p:cNvPr id="23" name="">
            <a:extLst xmlns:a="http://schemas.openxmlformats.org/drawingml/2006/main">
              <a:ext uri="{FF2B5EF4-FFF2-40B4-BE49-F238E27FC236}">
                <a16:creationId xmlns:a16="http://schemas.microsoft.com/office/drawing/2014/main" id="{711B3827-B1E5-46EC-AF27-A635EBF82642}"/>
              </a:ext>
            </a:extLst>
          </p:cNvPr>
          <p:cNvSpPr>
            <a:spLocks xmlns:a="http://schemas.openxmlformats.org/drawingml/2006/main" noGrp="1"/>
          </p:cNvSpPr>
          <p:nvPr/>
        </p:nvSpPr>
        <p:spPr>
          <a:xfrm xmlns:a="http://schemas.openxmlformats.org/drawingml/2006/main">
            <a:off x="6524625" y="221932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Add freshness and dependency validation so immutable exact repeats can return in seconds.</a:t>
            </a:r>
          </a:p>
        </p:txBody>
      </p:sp>
      <p:sp>
        <p:nvSpPr>
          <p:cNvPr id="24" name="">
            <a:extLst xmlns:a="http://schemas.openxmlformats.org/drawingml/2006/main">
              <a:ext uri="{FF2B5EF4-FFF2-40B4-BE49-F238E27FC236}">
                <a16:creationId xmlns:a16="http://schemas.microsoft.com/office/drawing/2014/main" id="{A1C9BE9E-557F-4C8A-9393-D8AD4C12F685}"/>
              </a:ext>
            </a:extLst>
          </p:cNvPr>
          <p:cNvSpPr>
            <a:spLocks xmlns:a="http://schemas.openxmlformats.org/drawingml/2006/main" noGrp="1"/>
          </p:cNvSpPr>
          <p:nvPr/>
        </p:nvSpPr>
        <p:spPr>
          <a:xfrm xmlns:a="http://schemas.openxmlformats.org/drawingml/2006/main">
            <a:off x="6334125" y="3019425"/>
            <a:ext cx="66675" cy="819150"/>
          </a:xfrm>
          <a:prstGeom xmlns:a="http://schemas.openxmlformats.org/drawingml/2006/main" prst="roundRect">
            <a:avLst>
              <a:gd name="adj" fmla="val 42857"/>
            </a:avLst>
          </a:prstGeom>
          <a:solidFill xmlns:a="http://schemas.openxmlformats.org/drawingml/2006/main">
            <a:srgbClr val="3976B9"/>
          </a:solidFill>
          <a:ln xmlns:a="http://schemas.openxmlformats.org/drawingml/2006/main" w="0">
            <a:solidFill>
              <a:srgbClr val="3976B9"/>
            </a:solidFill>
            <a:prstDash val="solid"/>
          </a:ln>
        </p:spPr>
      </p:sp>
      <p:sp>
        <p:nvSpPr>
          <p:cNvPr id="25" name="">
            <a:extLst xmlns:a="http://schemas.openxmlformats.org/drawingml/2006/main">
              <a:ext uri="{FF2B5EF4-FFF2-40B4-BE49-F238E27FC236}">
                <a16:creationId xmlns:a16="http://schemas.microsoft.com/office/drawing/2014/main" id="{A4A005D3-6213-41AF-873E-F8DDD6C17EC1}"/>
              </a:ext>
            </a:extLst>
          </p:cNvPr>
          <p:cNvSpPr>
            <a:spLocks xmlns:a="http://schemas.openxmlformats.org/drawingml/2006/main" noGrp="1"/>
          </p:cNvSpPr>
          <p:nvPr/>
        </p:nvSpPr>
        <p:spPr>
          <a:xfrm xmlns:a="http://schemas.openxmlformats.org/drawingml/2006/main">
            <a:off x="6524625" y="300037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3976B9"/>
                </a:solidFill>
                <a:latin typeface="Arial"/>
                <a:ea typeface="Arial"/>
                <a:cs typeface="Arial"/>
              </a:defRPr>
            </a:pPr>
            <a:r>
              <a:rPr sz="1050" b="1">
                <a:solidFill>
                  <a:srgbClr val="3976B9"/>
                </a:solidFill>
                <a:latin typeface="Arial"/>
                <a:ea typeface="Arial"/>
                <a:cs typeface="Arial"/>
              </a:rPr>
              <a:t>Larger benchmark</a:t>
            </a:r>
          </a:p>
        </p:txBody>
      </p:sp>
      <p:sp>
        <p:nvSpPr>
          <p:cNvPr id="26" name="">
            <a:extLst xmlns:a="http://schemas.openxmlformats.org/drawingml/2006/main">
              <a:ext uri="{FF2B5EF4-FFF2-40B4-BE49-F238E27FC236}">
                <a16:creationId xmlns:a16="http://schemas.microsoft.com/office/drawing/2014/main" id="{BB07CC18-5D97-4BF9-8CDC-ADC60C2970EE}"/>
              </a:ext>
            </a:extLst>
          </p:cNvPr>
          <p:cNvSpPr>
            <a:spLocks xmlns:a="http://schemas.openxmlformats.org/drawingml/2006/main" noGrp="1"/>
          </p:cNvSpPr>
          <p:nvPr/>
        </p:nvSpPr>
        <p:spPr>
          <a:xfrm xmlns:a="http://schemas.openxmlformats.org/drawingml/2006/main">
            <a:off x="6524625" y="326707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Build a multi-sector, time-split evaluation set with two human reviewers and retrieval context.</a:t>
            </a:r>
          </a:p>
        </p:txBody>
      </p:sp>
      <p:sp>
        <p:nvSpPr>
          <p:cNvPr id="27" name="">
            <a:extLst xmlns:a="http://schemas.openxmlformats.org/drawingml/2006/main">
              <a:ext uri="{FF2B5EF4-FFF2-40B4-BE49-F238E27FC236}">
                <a16:creationId xmlns:a16="http://schemas.microsoft.com/office/drawing/2014/main" id="{EB35D911-72A1-415E-8C4C-670675FB255C}"/>
              </a:ext>
            </a:extLst>
          </p:cNvPr>
          <p:cNvSpPr>
            <a:spLocks xmlns:a="http://schemas.openxmlformats.org/drawingml/2006/main" noGrp="1"/>
          </p:cNvSpPr>
          <p:nvPr/>
        </p:nvSpPr>
        <p:spPr>
          <a:xfrm xmlns:a="http://schemas.openxmlformats.org/drawingml/2006/main">
            <a:off x="6334125" y="4067175"/>
            <a:ext cx="66675" cy="819150"/>
          </a:xfrm>
          <a:prstGeom xmlns:a="http://schemas.openxmlformats.org/drawingml/2006/main" prst="roundRect">
            <a:avLst>
              <a:gd name="adj" fmla="val 42857"/>
            </a:avLst>
          </a:prstGeom>
          <a:solidFill xmlns:a="http://schemas.openxmlformats.org/drawingml/2006/main">
            <a:srgbClr val="3976B9"/>
          </a:solidFill>
          <a:ln xmlns:a="http://schemas.openxmlformats.org/drawingml/2006/main" w="0">
            <a:solidFill>
              <a:srgbClr val="3976B9"/>
            </a:solidFill>
            <a:prstDash val="solid"/>
          </a:ln>
        </p:spPr>
      </p:sp>
      <p:sp>
        <p:nvSpPr>
          <p:cNvPr id="28" name="">
            <a:extLst xmlns:a="http://schemas.openxmlformats.org/drawingml/2006/main">
              <a:ext uri="{FF2B5EF4-FFF2-40B4-BE49-F238E27FC236}">
                <a16:creationId xmlns:a16="http://schemas.microsoft.com/office/drawing/2014/main" id="{F3FFF217-82C0-4420-BEE4-49A6DBFB4E51}"/>
              </a:ext>
            </a:extLst>
          </p:cNvPr>
          <p:cNvSpPr>
            <a:spLocks xmlns:a="http://schemas.openxmlformats.org/drawingml/2006/main" noGrp="1"/>
          </p:cNvSpPr>
          <p:nvPr/>
        </p:nvSpPr>
        <p:spPr>
          <a:xfrm xmlns:a="http://schemas.openxmlformats.org/drawingml/2006/main">
            <a:off x="6524625" y="404812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3976B9"/>
                </a:solidFill>
                <a:latin typeface="Arial"/>
                <a:ea typeface="Arial"/>
                <a:cs typeface="Arial"/>
              </a:defRPr>
            </a:pPr>
            <a:r>
              <a:rPr sz="1050" b="1">
                <a:solidFill>
                  <a:srgbClr val="3976B9"/>
                </a:solidFill>
                <a:latin typeface="Arial"/>
                <a:ea typeface="Arial"/>
                <a:cs typeface="Arial"/>
              </a:rPr>
              <a:t>Model-path efficiency</a:t>
            </a:r>
          </a:p>
        </p:txBody>
      </p:sp>
      <p:sp>
        <p:nvSpPr>
          <p:cNvPr id="29" name="">
            <a:extLst xmlns:a="http://schemas.openxmlformats.org/drawingml/2006/main">
              <a:ext uri="{FF2B5EF4-FFF2-40B4-BE49-F238E27FC236}">
                <a16:creationId xmlns:a16="http://schemas.microsoft.com/office/drawing/2014/main" id="{B6400459-0397-4C4F-80F0-B957BCD4F650}"/>
              </a:ext>
            </a:extLst>
          </p:cNvPr>
          <p:cNvSpPr>
            <a:spLocks xmlns:a="http://schemas.openxmlformats.org/drawingml/2006/main" noGrp="1"/>
          </p:cNvSpPr>
          <p:nvPr/>
        </p:nvSpPr>
        <p:spPr>
          <a:xfrm xmlns:a="http://schemas.openxmlformats.org/drawingml/2006/main">
            <a:off x="6524625" y="431482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95775"/>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Reduce redundant evidence, reuse persistent clients, and track tokens with latency while retaining the independent Critic.</a:t>
            </a:r>
          </a:p>
        </p:txBody>
      </p:sp>
      <p:sp>
        <p:nvSpPr>
          <p:cNvPr id="30" name="">
            <a:extLst xmlns:a="http://schemas.openxmlformats.org/drawingml/2006/main">
              <a:ext uri="{FF2B5EF4-FFF2-40B4-BE49-F238E27FC236}">
                <a16:creationId xmlns:a16="http://schemas.microsoft.com/office/drawing/2014/main" id="{8F0DFC06-95E5-4B9D-8DF4-7601DE209AAB}"/>
              </a:ext>
            </a:extLst>
          </p:cNvPr>
          <p:cNvSpPr>
            <a:spLocks xmlns:a="http://schemas.openxmlformats.org/drawingml/2006/main" noGrp="1"/>
          </p:cNvSpPr>
          <p:nvPr/>
        </p:nvSpPr>
        <p:spPr>
          <a:xfrm xmlns:a="http://schemas.openxmlformats.org/drawingml/2006/main">
            <a:off x="6334125" y="5114925"/>
            <a:ext cx="66675" cy="819150"/>
          </a:xfrm>
          <a:prstGeom xmlns:a="http://schemas.openxmlformats.org/drawingml/2006/main" prst="roundRect">
            <a:avLst>
              <a:gd name="adj" fmla="val 42857"/>
            </a:avLst>
          </a:prstGeom>
          <a:solidFill xmlns:a="http://schemas.openxmlformats.org/drawingml/2006/main">
            <a:srgbClr val="3976B9"/>
          </a:solidFill>
          <a:ln xmlns:a="http://schemas.openxmlformats.org/drawingml/2006/main" w="0">
            <a:solidFill>
              <a:srgbClr val="3976B9"/>
            </a:solidFill>
            <a:prstDash val="solid"/>
          </a:ln>
        </p:spPr>
      </p:sp>
      <p:sp>
        <p:nvSpPr>
          <p:cNvPr id="31" name="">
            <a:extLst xmlns:a="http://schemas.openxmlformats.org/drawingml/2006/main">
              <a:ext uri="{FF2B5EF4-FFF2-40B4-BE49-F238E27FC236}">
                <a16:creationId xmlns:a16="http://schemas.microsoft.com/office/drawing/2014/main" id="{4417FDBF-7C02-4D5A-8931-2B454013C7EA}"/>
              </a:ext>
            </a:extLst>
          </p:cNvPr>
          <p:cNvSpPr>
            <a:spLocks xmlns:a="http://schemas.openxmlformats.org/drawingml/2006/main" noGrp="1"/>
          </p:cNvSpPr>
          <p:nvPr/>
        </p:nvSpPr>
        <p:spPr>
          <a:xfrm xmlns:a="http://schemas.openxmlformats.org/drawingml/2006/main">
            <a:off x="6524625" y="5095875"/>
            <a:ext cx="466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050" b="1">
                <a:solidFill>
                  <a:srgbClr val="3976B9"/>
                </a:solidFill>
                <a:latin typeface="Arial"/>
                <a:ea typeface="Arial"/>
                <a:cs typeface="Arial"/>
              </a:defRPr>
            </a:pPr>
            <a:r>
              <a:rPr sz="1050" b="1">
                <a:solidFill>
                  <a:srgbClr val="3976B9"/>
                </a:solidFill>
                <a:latin typeface="Arial"/>
                <a:ea typeface="Arial"/>
                <a:cs typeface="Arial"/>
              </a:rPr>
              <a:t>Reviewer experience</a:t>
            </a:r>
          </a:p>
        </p:txBody>
      </p:sp>
      <p:sp>
        <p:nvSpPr>
          <p:cNvPr id="32" name="">
            <a:extLst xmlns:a="http://schemas.openxmlformats.org/drawingml/2006/main">
              <a:ext uri="{FF2B5EF4-FFF2-40B4-BE49-F238E27FC236}">
                <a16:creationId xmlns:a16="http://schemas.microsoft.com/office/drawing/2014/main" id="{4551E5C1-E965-48D3-A4D6-15A83BCBE9E2}"/>
              </a:ext>
            </a:extLst>
          </p:cNvPr>
          <p:cNvSpPr>
            <a:spLocks xmlns:a="http://schemas.openxmlformats.org/drawingml/2006/main" noGrp="1"/>
          </p:cNvSpPr>
          <p:nvPr/>
        </p:nvSpPr>
        <p:spPr>
          <a:xfrm xmlns:a="http://schemas.openxmlformats.org/drawingml/2006/main">
            <a:off x="6524625" y="5362575"/>
            <a:ext cx="4648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lnSpc>
                <a:spcPct val="105000"/>
              </a:lnSpc>
              <a:buNone/>
              <a:defRPr sz="1350" b="0">
                <a:solidFill>
                  <a:srgbClr val="17324D"/>
                </a:solidFill>
                <a:latin typeface="Arial"/>
                <a:ea typeface="Arial"/>
                <a:cs typeface="Arial"/>
              </a:defRPr>
            </a:pPr>
            <a:r>
              <a:rPr sz="1350" b="0">
                <a:solidFill>
                  <a:srgbClr val="17324D"/>
                </a:solidFill>
                <a:latin typeface="Arial"/>
                <a:ea typeface="Arial"/>
                <a:cs typeface="Arial"/>
              </a:rPr>
              <a:t>Connect every thesis and chart point to its evidence and show source freshness beside the review reason.</a:t>
            </a:r>
          </a:p>
        </p:txBody>
      </p:sp>
    </p:spTree>
    <p:extLst>
      <p:ext uri="{BB962C8B-B14F-4D97-AF65-F5344CB8AC3E}">
        <p14:creationId xmlns:p14="http://schemas.microsoft.com/office/powerpoint/2010/main" val="200134131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F28210-EEB8-4B58-986E-671EEFB873F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9B96"/>
          </a:solidFill>
          <a:ln xmlns:a="http://schemas.openxmlformats.org/drawingml/2006/main" w="0">
            <a:solidFill>
              <a:srgbClr val="009B96"/>
            </a:solidFill>
            <a:prstDash val="solid"/>
          </a:ln>
        </p:spPr>
      </p:sp>
      <p:sp>
        <p:nvSpPr>
          <p:cNvPr id="2" name="">
            <a:extLst xmlns:a="http://schemas.openxmlformats.org/drawingml/2006/main">
              <a:ext uri="{FF2B5EF4-FFF2-40B4-BE49-F238E27FC236}">
                <a16:creationId xmlns:a16="http://schemas.microsoft.com/office/drawing/2014/main" id="{3BEC1825-7743-4ED0-8E6A-02A0146D8295}"/>
              </a:ext>
            </a:extLst>
          </p:cNvPr>
          <p:cNvSpPr>
            <a:spLocks xmlns:a="http://schemas.openxmlformats.org/drawingml/2006/main" noGrp="1"/>
          </p:cNvSpPr>
          <p:nvPr/>
        </p:nvSpPr>
        <p:spPr>
          <a:xfrm xmlns:a="http://schemas.openxmlformats.org/drawingml/2006/main">
            <a:off x="762000" y="68580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3150" b="1">
                <a:solidFill>
                  <a:srgbClr val="103A5C"/>
                </a:solidFill>
                <a:latin typeface="Arial"/>
                <a:ea typeface="Arial"/>
                <a:cs typeface="Arial"/>
              </a:defRPr>
            </a:pPr>
            <a:r>
              <a:rPr sz="3150" b="1">
                <a:solidFill>
                  <a:srgbClr val="103A5C"/>
                </a:solidFill>
                <a:latin typeface="Arial"/>
                <a:ea typeface="Arial"/>
                <a:cs typeface="Arial"/>
              </a:rPr>
              <a:t>Where the system stands</a:t>
            </a:r>
          </a:p>
        </p:txBody>
      </p:sp>
      <p:sp>
        <p:nvSpPr>
          <p:cNvPr id="3" name="">
            <a:extLst xmlns:a="http://schemas.openxmlformats.org/drawingml/2006/main">
              <a:ext uri="{FF2B5EF4-FFF2-40B4-BE49-F238E27FC236}">
                <a16:creationId xmlns:a16="http://schemas.microsoft.com/office/drawing/2014/main" id="{54504581-7A2F-403E-A74B-E8BF6F7EF1EF}"/>
              </a:ext>
            </a:extLst>
          </p:cNvPr>
          <p:cNvSpPr>
            <a:spLocks xmlns:a="http://schemas.openxmlformats.org/drawingml/2006/main" noGrp="1"/>
          </p:cNvSpPr>
          <p:nvPr/>
        </p:nvSpPr>
        <p:spPr>
          <a:xfrm xmlns:a="http://schemas.openxmlformats.org/drawingml/2006/main">
            <a:off x="781050" y="1524000"/>
            <a:ext cx="9715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875" b="0">
                <a:solidFill>
                  <a:srgbClr val="17324D"/>
                </a:solidFill>
                <a:latin typeface="Arial"/>
                <a:ea typeface="Arial"/>
                <a:cs typeface="Arial"/>
              </a:defRPr>
            </a:pPr>
            <a:r>
              <a:rPr sz="1875" b="0">
                <a:solidFill>
                  <a:srgbClr val="17324D"/>
                </a:solidFill>
                <a:latin typeface="Arial"/>
                <a:ea typeface="Arial"/>
                <a:cs typeface="Arial"/>
              </a:rPr>
              <a:t>The system coordinates evidence collection, model-assisted reasoning, deterministic validation, and exception-based human review in one traceable workflow.</a:t>
            </a:r>
          </a:p>
        </p:txBody>
      </p:sp>
      <p:sp>
        <p:nvSpPr>
          <p:cNvPr id="4" name="">
            <a:extLst xmlns:a="http://schemas.openxmlformats.org/drawingml/2006/main">
              <a:ext uri="{FF2B5EF4-FFF2-40B4-BE49-F238E27FC236}">
                <a16:creationId xmlns:a16="http://schemas.microsoft.com/office/drawing/2014/main" id="{948CBBD5-63FE-4A2B-8CCF-8106EF1AE4E8}"/>
              </a:ext>
            </a:extLst>
          </p:cNvPr>
          <p:cNvSpPr>
            <a:spLocks xmlns:a="http://schemas.openxmlformats.org/drawingml/2006/main" noGrp="1"/>
          </p:cNvSpPr>
          <p:nvPr/>
        </p:nvSpPr>
        <p:spPr>
          <a:xfrm xmlns:a="http://schemas.openxmlformats.org/drawingml/2006/main">
            <a:off x="781050" y="2724150"/>
            <a:ext cx="10287000" cy="0"/>
          </a:xfrm>
          <a:prstGeom xmlns:a="http://schemas.openxmlformats.org/drawingml/2006/main" prst="line">
            <a:avLst/>
          </a:prstGeom>
          <a:noFill xmlns:a="http://schemas.openxmlformats.org/drawingml/2006/main"/>
          <a:ln xmlns:a="http://schemas.openxmlformats.org/drawingml/2006/main" w="19050">
            <a:solidFill>
              <a:srgbClr val="D5E0EA"/>
            </a:solidFill>
            <a:prstDash val="solid"/>
          </a:ln>
        </p:spPr>
      </p:sp>
      <p:sp>
        <p:nvSpPr>
          <p:cNvPr id="5" name="">
            <a:extLst xmlns:a="http://schemas.openxmlformats.org/drawingml/2006/main">
              <a:ext uri="{FF2B5EF4-FFF2-40B4-BE49-F238E27FC236}">
                <a16:creationId xmlns:a16="http://schemas.microsoft.com/office/drawing/2014/main" id="{F118AF9F-8422-462D-BFD2-10A7EE42B51A}"/>
              </a:ext>
            </a:extLst>
          </p:cNvPr>
          <p:cNvSpPr>
            <a:spLocks xmlns:a="http://schemas.openxmlformats.org/drawingml/2006/main" noGrp="1"/>
          </p:cNvSpPr>
          <p:nvPr/>
        </p:nvSpPr>
        <p:spPr>
          <a:xfrm xmlns:a="http://schemas.openxmlformats.org/drawingml/2006/main">
            <a:off x="857250" y="310515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2F8B5B"/>
                </a:solidFill>
                <a:latin typeface="Arial"/>
                <a:ea typeface="Arial"/>
                <a:cs typeface="Arial"/>
              </a:defRPr>
            </a:pPr>
            <a:r>
              <a:rPr sz="1350" b="1">
                <a:solidFill>
                  <a:srgbClr val="2F8B5B"/>
                </a:solidFill>
                <a:latin typeface="Arial"/>
                <a:ea typeface="Arial"/>
                <a:cs typeface="Arial"/>
              </a:rPr>
              <a:t>When evidence is sufficient</a:t>
            </a:r>
          </a:p>
        </p:txBody>
      </p:sp>
      <p:sp>
        <p:nvSpPr>
          <p:cNvPr id="6" name="">
            <a:extLst xmlns:a="http://schemas.openxmlformats.org/drawingml/2006/main">
              <a:ext uri="{FF2B5EF4-FFF2-40B4-BE49-F238E27FC236}">
                <a16:creationId xmlns:a16="http://schemas.microsoft.com/office/drawing/2014/main" id="{E665B3CA-87BC-4542-8DFB-0BD6C7BE17CC}"/>
              </a:ext>
            </a:extLst>
          </p:cNvPr>
          <p:cNvSpPr>
            <a:spLocks xmlns:a="http://schemas.openxmlformats.org/drawingml/2006/main" noGrp="1"/>
          </p:cNvSpPr>
          <p:nvPr/>
        </p:nvSpPr>
        <p:spPr>
          <a:xfrm xmlns:a="http://schemas.openxmlformats.org/drawingml/2006/main">
            <a:off x="857250" y="35052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00" b="0">
                <a:solidFill>
                  <a:srgbClr val="17324D"/>
                </a:solidFill>
                <a:latin typeface="Arial"/>
                <a:ea typeface="Arial"/>
                <a:cs typeface="Arial"/>
              </a:defRPr>
            </a:pPr>
            <a:r>
              <a:rPr sz="1500" b="0">
                <a:solidFill>
                  <a:srgbClr val="17324D"/>
                </a:solidFill>
                <a:latin typeface="Arial"/>
                <a:ea typeface="Arial"/>
                <a:cs typeface="Arial"/>
              </a:rPr>
              <a:t>The graph publishes a balanced, cited report.</a:t>
            </a:r>
          </a:p>
        </p:txBody>
      </p:sp>
      <p:sp>
        <p:nvSpPr>
          <p:cNvPr id="7" name="">
            <a:extLst xmlns:a="http://schemas.openxmlformats.org/drawingml/2006/main">
              <a:ext uri="{FF2B5EF4-FFF2-40B4-BE49-F238E27FC236}">
                <a16:creationId xmlns:a16="http://schemas.microsoft.com/office/drawing/2014/main" id="{6475D44D-3D5A-404D-8AF6-A92ABFF3E3DA}"/>
              </a:ext>
            </a:extLst>
          </p:cNvPr>
          <p:cNvSpPr>
            <a:spLocks xmlns:a="http://schemas.openxmlformats.org/drawingml/2006/main" noGrp="1"/>
          </p:cNvSpPr>
          <p:nvPr/>
        </p:nvSpPr>
        <p:spPr>
          <a:xfrm xmlns:a="http://schemas.openxmlformats.org/drawingml/2006/main">
            <a:off x="4524375" y="310515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3976B9"/>
                </a:solidFill>
                <a:latin typeface="Arial"/>
                <a:ea typeface="Arial"/>
                <a:cs typeface="Arial"/>
              </a:defRPr>
            </a:pPr>
            <a:r>
              <a:rPr sz="1350" b="1">
                <a:solidFill>
                  <a:srgbClr val="3976B9"/>
                </a:solidFill>
                <a:latin typeface="Arial"/>
                <a:ea typeface="Arial"/>
                <a:cs typeface="Arial"/>
              </a:rPr>
              <a:t>When a gap is repairable</a:t>
            </a:r>
          </a:p>
        </p:txBody>
      </p:sp>
      <p:sp>
        <p:nvSpPr>
          <p:cNvPr id="8" name="">
            <a:extLst xmlns:a="http://schemas.openxmlformats.org/drawingml/2006/main">
              <a:ext uri="{FF2B5EF4-FFF2-40B4-BE49-F238E27FC236}">
                <a16:creationId xmlns:a16="http://schemas.microsoft.com/office/drawing/2014/main" id="{D4D8D2B2-F024-45CC-9DCE-1B9F52DCA5F6}"/>
              </a:ext>
            </a:extLst>
          </p:cNvPr>
          <p:cNvSpPr>
            <a:spLocks xmlns:a="http://schemas.openxmlformats.org/drawingml/2006/main" noGrp="1"/>
          </p:cNvSpPr>
          <p:nvPr/>
        </p:nvSpPr>
        <p:spPr>
          <a:xfrm xmlns:a="http://schemas.openxmlformats.org/drawingml/2006/main">
            <a:off x="4524375" y="3505200"/>
            <a:ext cx="285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00" b="0">
                <a:solidFill>
                  <a:srgbClr val="17324D"/>
                </a:solidFill>
                <a:latin typeface="Arial"/>
                <a:ea typeface="Arial"/>
                <a:cs typeface="Arial"/>
              </a:defRPr>
            </a:pPr>
            <a:r>
              <a:rPr sz="1500" b="0">
                <a:solidFill>
                  <a:srgbClr val="17324D"/>
                </a:solidFill>
                <a:latin typeface="Arial"/>
                <a:ea typeface="Arial"/>
                <a:cs typeface="Arial"/>
              </a:rPr>
              <a:t>The graph returns to a targeted evidence task and checks the report again.</a:t>
            </a:r>
          </a:p>
        </p:txBody>
      </p:sp>
      <p:sp>
        <p:nvSpPr>
          <p:cNvPr id="9" name="">
            <a:extLst xmlns:a="http://schemas.openxmlformats.org/drawingml/2006/main">
              <a:ext uri="{FF2B5EF4-FFF2-40B4-BE49-F238E27FC236}">
                <a16:creationId xmlns:a16="http://schemas.microsoft.com/office/drawing/2014/main" id="{2CF7880B-78B7-435A-A2F9-36536A1FEEA1}"/>
              </a:ext>
            </a:extLst>
          </p:cNvPr>
          <p:cNvSpPr>
            <a:spLocks xmlns:a="http://schemas.openxmlformats.org/drawingml/2006/main" noGrp="1"/>
          </p:cNvSpPr>
          <p:nvPr/>
        </p:nvSpPr>
        <p:spPr>
          <a:xfrm xmlns:a="http://schemas.openxmlformats.org/drawingml/2006/main">
            <a:off x="8191500" y="31051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350" b="1">
                <a:solidFill>
                  <a:srgbClr val="D28A1D"/>
                </a:solidFill>
                <a:latin typeface="Arial"/>
                <a:ea typeface="Arial"/>
                <a:cs typeface="Arial"/>
              </a:defRPr>
            </a:pPr>
            <a:r>
              <a:rPr sz="1350" b="1">
                <a:solidFill>
                  <a:srgbClr val="D28A1D"/>
                </a:solidFill>
                <a:latin typeface="Arial"/>
                <a:ea typeface="Arial"/>
                <a:cs typeface="Arial"/>
              </a:rPr>
              <a:t>When judgment is required</a:t>
            </a:r>
          </a:p>
        </p:txBody>
      </p:sp>
      <p:sp>
        <p:nvSpPr>
          <p:cNvPr id="10" name="">
            <a:extLst xmlns:a="http://schemas.openxmlformats.org/drawingml/2006/main">
              <a:ext uri="{FF2B5EF4-FFF2-40B4-BE49-F238E27FC236}">
                <a16:creationId xmlns:a16="http://schemas.microsoft.com/office/drawing/2014/main" id="{FC275E8D-14D6-4C82-8A16-CABC51928E29}"/>
              </a:ext>
            </a:extLst>
          </p:cNvPr>
          <p:cNvSpPr>
            <a:spLocks xmlns:a="http://schemas.openxmlformats.org/drawingml/2006/main" noGrp="1"/>
          </p:cNvSpPr>
          <p:nvPr/>
        </p:nvSpPr>
        <p:spPr>
          <a:xfrm xmlns:a="http://schemas.openxmlformats.org/drawingml/2006/main">
            <a:off x="8191500" y="3505200"/>
            <a:ext cx="285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1500" b="0">
                <a:solidFill>
                  <a:srgbClr val="17324D"/>
                </a:solidFill>
                <a:latin typeface="Arial"/>
                <a:ea typeface="Arial"/>
                <a:cs typeface="Arial"/>
              </a:defRPr>
            </a:pPr>
            <a:r>
              <a:rPr sz="1500" b="0">
                <a:solidFill>
                  <a:srgbClr val="17324D"/>
                </a:solidFill>
                <a:latin typeface="Arial"/>
                <a:ea typeface="Arial"/>
                <a:cs typeface="Arial"/>
              </a:rPr>
              <a:t>The graph checkpoints its state and waits for a reviewer to allow, revise, or block release.</a:t>
            </a:r>
          </a:p>
        </p:txBody>
      </p:sp>
      <p:sp>
        <p:nvSpPr>
          <p:cNvPr id="11" name="">
            <a:extLst xmlns:a="http://schemas.openxmlformats.org/drawingml/2006/main">
              <a:ext uri="{FF2B5EF4-FFF2-40B4-BE49-F238E27FC236}">
                <a16:creationId xmlns:a16="http://schemas.microsoft.com/office/drawing/2014/main" id="{867AA49F-137D-4479-8635-222D43228F7F}"/>
              </a:ext>
            </a:extLst>
          </p:cNvPr>
          <p:cNvSpPr>
            <a:spLocks xmlns:a="http://schemas.openxmlformats.org/drawingml/2006/main" noGrp="1"/>
          </p:cNvSpPr>
          <p:nvPr/>
        </p:nvSpPr>
        <p:spPr>
          <a:xfrm xmlns:a="http://schemas.openxmlformats.org/drawingml/2006/main">
            <a:off x="781050" y="5143500"/>
            <a:ext cx="10287000" cy="876300"/>
          </a:xfrm>
          <a:prstGeom xmlns:a="http://schemas.openxmlformats.org/drawingml/2006/main" prst="roundRect">
            <a:avLst>
              <a:gd name="adj" fmla="val 13043"/>
            </a:avLst>
          </a:prstGeom>
          <a:solidFill xmlns:a="http://schemas.openxmlformats.org/drawingml/2006/main">
            <a:srgbClr val="E6F6F4"/>
          </a:solidFill>
          <a:ln xmlns:a="http://schemas.openxmlformats.org/drawingml/2006/main" w="0">
            <a:solidFill>
              <a:srgbClr val="009B96"/>
            </a:solidFill>
            <a:prstDash val="solid"/>
          </a:ln>
        </p:spPr>
      </p:sp>
      <p:sp>
        <p:nvSpPr>
          <p:cNvPr id="12" name="">
            <a:extLst xmlns:a="http://schemas.openxmlformats.org/drawingml/2006/main">
              <a:ext uri="{FF2B5EF4-FFF2-40B4-BE49-F238E27FC236}">
                <a16:creationId xmlns:a16="http://schemas.microsoft.com/office/drawing/2014/main" id="{3E4F99E2-7DFA-4D05-A484-EC9DF6EA53C4}"/>
              </a:ext>
            </a:extLst>
          </p:cNvPr>
          <p:cNvSpPr>
            <a:spLocks xmlns:a="http://schemas.openxmlformats.org/drawingml/2006/main" noGrp="1"/>
          </p:cNvSpPr>
          <p:nvPr/>
        </p:nvSpPr>
        <p:spPr>
          <a:xfrm xmlns:a="http://schemas.openxmlformats.org/drawingml/2006/main">
            <a:off x="1143000" y="5362575"/>
            <a:ext cx="9572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83333"/>
          </a:bodyPr>
          <a:lstStyle xmlns:a="http://schemas.openxmlformats.org/drawingml/2006/main"/>
          <a:p xmlns:a="http://schemas.openxmlformats.org/drawingml/2006/main">
            <a:pPr algn="ctr">
              <a:buNone/>
              <a:defRPr sz="1650" b="1">
                <a:solidFill>
                  <a:srgbClr val="103A5C"/>
                </a:solidFill>
                <a:latin typeface="Arial"/>
                <a:ea typeface="Arial"/>
                <a:cs typeface="Arial"/>
              </a:defRPr>
            </a:pPr>
            <a:r>
              <a:rPr sz="1650" b="1">
                <a:solidFill>
                  <a:srgbClr val="103A5C"/>
                </a:solidFill>
                <a:latin typeface="Arial"/>
                <a:ea typeface="Arial"/>
                <a:cs typeface="Arial"/>
              </a:rPr>
              <a:t>The project demonstrates a well-tested research assistant. It does not act as an autonomous investment decision-maker.</a:t>
            </a:r>
          </a:p>
        </p:txBody>
      </p:sp>
      <p:sp>
        <p:nvSpPr>
          <p:cNvPr id="13" name="">
            <a:extLst xmlns:a="http://schemas.openxmlformats.org/drawingml/2006/main">
              <a:ext uri="{FF2B5EF4-FFF2-40B4-BE49-F238E27FC236}">
                <a16:creationId xmlns:a16="http://schemas.microsoft.com/office/drawing/2014/main" id="{0FD598FF-056E-4950-819F-E189B779F64B}"/>
              </a:ext>
            </a:extLst>
          </p:cNvPr>
          <p:cNvSpPr>
            <a:spLocks xmlns:a="http://schemas.openxmlformats.org/drawingml/2006/main" noGrp="1"/>
          </p:cNvSpPr>
          <p:nvPr/>
        </p:nvSpPr>
        <p:spPr>
          <a:xfrm xmlns:a="http://schemas.openxmlformats.org/drawingml/2006/main">
            <a:off x="781050" y="63817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t">
            <a:normAutofit fontScale="100000"/>
          </a:bodyPr>
          <a:lstStyle xmlns:a="http://schemas.openxmlformats.org/drawingml/2006/main"/>
          <a:p xmlns:a="http://schemas.openxmlformats.org/drawingml/2006/main">
            <a:pPr algn="l">
              <a:buNone/>
              <a:defRPr sz="825" b="0">
                <a:solidFill>
                  <a:srgbClr val="5E748A"/>
                </a:solidFill>
                <a:latin typeface="Arial"/>
                <a:ea typeface="Arial"/>
                <a:cs typeface="Arial"/>
              </a:defRPr>
            </a:pPr>
            <a:r>
              <a:rPr sz="825" b="0">
                <a:solidFill>
                  <a:srgbClr val="5E748A"/>
                </a:solidFill>
                <a:latin typeface="Arial"/>
                <a:ea typeface="Arial"/>
                <a:cs typeface="Arial"/>
              </a:rPr>
              <a:t>CMU Agentic AI Program  Final Project</a:t>
            </a:r>
          </a:p>
        </p:txBody>
      </p:sp>
    </p:spTree>
    <p:extLst>
      <p:ext uri="{BB962C8B-B14F-4D97-AF65-F5344CB8AC3E}">
        <p14:creationId xmlns:p14="http://schemas.microsoft.com/office/powerpoint/2010/main" val="604466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2026-09-08T05:20:34.2750000Z</dcterms:created>
  <dcterms:modified xsi:type="dcterms:W3CDTF">2026-09-08T05:20:34.2750000Z</dcterms:modified>
</coreProperties>
</file>